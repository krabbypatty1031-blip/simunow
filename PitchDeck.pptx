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2"/>
    <p:sldMasterId id="2147483674" r:id="rId3"/>
    <p:sldMasterId id="2147483681" r:id="rId4"/>
    <p:sldMasterId id="2147483688" r:id="rId5"/>
  </p:sldMasterIdLst>
  <p:notesMasterIdLst>
    <p:notesMasterId r:id="rId15"/>
  </p:notesMasterIdLst>
  <p:sldIdLst>
    <p:sldId id="256" r:id="rId6"/>
    <p:sldId id="268" r:id="rId7"/>
    <p:sldId id="257" r:id="rId8"/>
    <p:sldId id="258" r:id="rId9"/>
    <p:sldId id="259" r:id="rId10"/>
    <p:sldId id="260" r:id="rId11"/>
    <p:sldId id="261" r:id="rId12"/>
    <p:sldId id="267"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Air Conditioning share</c:v>
          </c:tx>
          <c:spPr>
            <a:solidFill>
              <a:srgbClr val="277F89"/>
            </a:solidFill>
          </c:spPr>
          <c:invertIfNegative val="1"/>
          <c:dPt>
            <c:idx val="0"/>
            <c:invertIfNegative val="0"/>
            <c:bubble3D val="0"/>
            <c:spPr>
              <a:solidFill>
                <a:srgbClr val="57BCC7"/>
              </a:solidFill>
            </c:spPr>
            <c:extLst>
              <c:ext xmlns:c16="http://schemas.microsoft.com/office/drawing/2014/chart" uri="{C3380CC4-5D6E-409C-BE32-E72D297353CC}">
                <c16:uniqueId val="{00000001-6060-274F-B36F-1602DD36478E}"/>
              </c:ext>
            </c:extLst>
          </c:dPt>
          <c:dPt>
            <c:idx val="1"/>
            <c:invertIfNegative val="0"/>
            <c:bubble3D val="0"/>
            <c:extLst>
              <c:ext xmlns:c16="http://schemas.microsoft.com/office/drawing/2014/chart" uri="{C3380CC4-5D6E-409C-BE32-E72D297353CC}">
                <c16:uniqueId val="{00000003-6060-274F-B36F-1602DD36478E}"/>
              </c:ext>
            </c:extLst>
          </c:dPt>
          <c:dLbls>
            <c:spPr>
              <a:noFill/>
              <a:ln>
                <a:noFill/>
              </a:ln>
              <a:effectLst/>
            </c:spPr>
            <c:txPr>
              <a:bodyPr anchorCtr="1"/>
              <a:lstStyle/>
              <a:p>
                <a:pPr>
                  <a:defRPr sz="1725" b="1">
                    <a:solidFill>
                      <a:srgbClr val="20282C"/>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All Hong Kong</c:v>
                </c:pt>
                <c:pt idx="1">
                  <c:v>Offices</c:v>
                </c:pt>
              </c:strCache>
            </c:strRef>
          </c:cat>
          <c:val>
            <c:numRef>
              <c:f>'Chart Data'!$B$2:$B$3</c:f>
              <c:numCache>
                <c:formatCode>0.0%</c:formatCode>
                <c:ptCount val="2"/>
                <c:pt idx="0">
                  <c:v>0.30099999999999999</c:v>
                </c:pt>
                <c:pt idx="1">
                  <c:v>0.45600000000000002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6060-274F-B36F-1602DD36478E}"/>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l"/>
        <c:majorGridlines>
          <c:spPr>
            <a:ln w="6668">
              <a:solidFill>
                <a:srgbClr val="D7DFE3"/>
              </a:solidFill>
            </a:ln>
          </c:spPr>
        </c:majorGridlines>
        <c:numFmt formatCode="General" sourceLinked="1"/>
        <c:majorTickMark val="none"/>
        <c:minorTickMark val="none"/>
        <c:tickLblPos val="nextTo"/>
        <c:spPr>
          <a:ln w="6668">
            <a:solidFill>
              <a:srgbClr val="D7DFE3"/>
            </a:solidFill>
          </a:ln>
        </c:spPr>
        <c:txPr>
          <a:bodyPr anchorCtr="1"/>
          <a:lstStyle/>
          <a:p>
            <a:pPr>
              <a:defRPr sz="1200">
                <a:solidFill>
                  <a:srgbClr val="6472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0">
            <a:noFill/>
          </a:ln>
        </c:spPr>
        <c:txPr>
          <a:bodyPr anchorCtr="1"/>
          <a:lstStyle/>
          <a:p>
            <a:pPr>
              <a:defRPr sz="1500">
                <a:solidFill>
                  <a:srgbClr val="20282C"/>
                </a:solidFill>
                <a:latin typeface="Arial"/>
                <a:ea typeface="Arial"/>
                <a:cs typeface="Arial"/>
              </a:defRPr>
            </a:pPr>
            <a:endParaRPr lang="en-US"/>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Cooling share</c:v>
          </c:tx>
          <c:spPr>
            <a:solidFill>
              <a:srgbClr val="277F89"/>
            </a:solidFill>
          </c:spPr>
          <c:invertIfNegative val="1"/>
          <c:dPt>
            <c:idx val="0"/>
            <c:invertIfNegative val="0"/>
            <c:bubble3D val="0"/>
            <c:spPr>
              <a:solidFill>
                <a:srgbClr val="57BCC7"/>
              </a:solidFill>
            </c:spPr>
            <c:extLst>
              <c:ext xmlns:c16="http://schemas.microsoft.com/office/drawing/2014/chart" uri="{C3380CC4-5D6E-409C-BE32-E72D297353CC}">
                <c16:uniqueId val="{00000001-53A4-5A40-8B18-639A296AD431}"/>
              </c:ext>
            </c:extLst>
          </c:dPt>
          <c:dPt>
            <c:idx val="1"/>
            <c:invertIfNegative val="0"/>
            <c:bubble3D val="0"/>
            <c:extLst>
              <c:ext xmlns:c16="http://schemas.microsoft.com/office/drawing/2014/chart" uri="{C3380CC4-5D6E-409C-BE32-E72D297353CC}">
                <c16:uniqueId val="{00000003-53A4-5A40-8B18-639A296AD431}"/>
              </c:ext>
            </c:extLst>
          </c:dPt>
          <c:dLbls>
            <c:spPr>
              <a:noFill/>
              <a:ln>
                <a:noFill/>
              </a:ln>
              <a:effectLst/>
            </c:spPr>
            <c:txPr>
              <a:bodyPr anchorCtr="1"/>
              <a:lstStyle/>
              <a:p>
                <a:pPr>
                  <a:defRPr sz="1725" b="1">
                    <a:solidFill>
                      <a:srgbClr val="20282C"/>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Annual electricity</c:v>
                </c:pt>
                <c:pt idx="1">
                  <c:v>Peak power</c:v>
                </c:pt>
              </c:strCache>
            </c:strRef>
          </c:cat>
          <c:val>
            <c:numRef>
              <c:f>'Chart Data'!$B$2:$B$3</c:f>
              <c:numCache>
                <c:formatCode>0%</c:formatCode>
                <c:ptCount val="2"/>
                <c:pt idx="0">
                  <c:v>0.1</c:v>
                </c:pt>
                <c:pt idx="1">
                  <c:v>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53A4-5A40-8B18-639A296AD431}"/>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l"/>
        <c:majorGridlines>
          <c:spPr>
            <a:ln w="6668">
              <a:solidFill>
                <a:srgbClr val="D7DFE3"/>
              </a:solidFill>
            </a:ln>
          </c:spPr>
        </c:majorGridlines>
        <c:numFmt formatCode="General" sourceLinked="1"/>
        <c:majorTickMark val="none"/>
        <c:minorTickMark val="none"/>
        <c:tickLblPos val="nextTo"/>
        <c:spPr>
          <a:ln w="6668">
            <a:solidFill>
              <a:srgbClr val="D7DFE3"/>
            </a:solidFill>
          </a:ln>
        </c:spPr>
        <c:txPr>
          <a:bodyPr anchorCtr="1"/>
          <a:lstStyle/>
          <a:p>
            <a:pPr>
              <a:defRPr sz="1200">
                <a:solidFill>
                  <a:srgbClr val="64727A"/>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0%" sourceLinked="1"/>
        <c:majorTickMark val="none"/>
        <c:minorTickMark val="none"/>
        <c:tickLblPos val="nextTo"/>
        <c:spPr>
          <a:ln w="0">
            <a:noFill/>
          </a:ln>
        </c:spPr>
        <c:txPr>
          <a:bodyPr anchorCtr="1"/>
          <a:lstStyle/>
          <a:p>
            <a:pPr>
              <a:defRPr sz="1500">
                <a:solidFill>
                  <a:srgbClr val="20282C"/>
                </a:solidFill>
                <a:latin typeface="Arial"/>
                <a:ea typeface="Arial"/>
                <a:cs typeface="Arial"/>
              </a:defRPr>
            </a:pPr>
            <a:endParaRPr lang="en-US"/>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visual generated with the built-in imagegen tool. Asset: PitchAssets/cover-architecture-airflow.png. Image shows artistic airflow trajectories, not CFD or measured results. Headline and subtitle express the planned product vision: compare HVAC decisions through a common spatial model connecting airflow, energy and seat-level comfort. Numerical engine integration and comfort evaluation are not yet implemented. Sources: README.md; Plans/References/01-product-scope.md; Plans/References/02-architecture.md; Plans/Delivery/status.md.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statement. These statistics establish the scale of electricity use, not SimuNow savings or validated performance.</a:t>
            </a:r>
          </a:p>
          <a:p>
            <a:endParaRPr/>
          </a:p>
          <a:p>
            <a:r>
              <a:t>[1] Electrical and Mechanical Services Department (2026). Hong Kong Energy End-use Data 2026. https://www.emsd.gov.hk/filemanager/en/content_762/HKEEUD2026.pdf</a:t>
            </a:r>
          </a:p>
          <a:p>
            <a:r>
              <a:t>Data year: 2024, not 2026. Table 12, printed p. 27 (PDF p. 28): Air Conditioning 50,193 TJ, total electricity 166,931 TJ. Calculation: 50,193 / 3,600 = 13.9425 TWh, displayed 13.9 TWh. 50,193 / 166,931 = 0.3006811197440859, displayed 30.1%. Table 39, printed p. 54 (PDF p. 55): office Air Conditioning 7,837 TJ, office total 17,179 TJ. Ratio 0.45619651900576286, displayed 45.6%. Values are official estimated end-use statistics, not individual-building meter observations. The EMSD category includes air-conditioning units and heaters plus fans, air cleaners/purifiers and dehumidifiers (Chronology item 21, printed p. 78 / PDF p. 79).</a:t>
            </a:r>
          </a:p>
          <a:p>
            <a:endParaRPr/>
          </a:p>
          <a:p>
            <a:r>
              <a:t>[2] International Energy Agency (2026). Cooling a hotter world: El Niño meets strong growth in global electricity demand. Commentary, 10 July 2026. https://www.iea.org/commentaries/cooling-a-hotter-world-el-nino-meets-strong-growth-in-global-electricity-demand</a:t>
            </a:r>
          </a:p>
          <a:p>
            <a:r>
              <a:t>IEA reports around 2,900 TWh of global building space-cooling electricity, 50% growth since 2015, approximately 10% of annual electricity consumption and 30% of peak demand. This commentary excludes cooling in data centres. The slide labels the source vintage because the paragraph does not explicitly assign a year to the 2,900 TWh estimate. Annual electricity is energy and peak power is demand. These shares have different denominators. Hong Kong and IEA categories are not harmonised and should not be used to calculate a direct local/global efficiency ratio.</a:t>
            </a:r>
          </a:p>
          <a:p>
            <a:endParaRPr/>
          </a:p>
          <a:p>
            <a:r>
              <a:t>The room-level decision need is the SimuNow product problem framing, based on Plans/References/01-product-scope.md and 03-experience-design.md. No measured waste fraction, savings percentage or comfort improvement is claimed. Supporting illustration generated with the built-in imagegen tool. Asset: PitchAssets/problem-hong-kong-office.png. Concept art only, without computed airflow, temperatures or measured comfort. Retrieved 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translate the macro electricity problem on slide 2 into a bounded room-level decision, before the room-model architecture on slide 4. This is a proposed evaluation framework, not an implemented or validated optimization result.</a:t>
            </a:r>
          </a:p>
          <a:p>
            <a:endParaRPr/>
          </a:p>
          <a:p>
            <a:r>
              <a:t>Adjustable variables: indoor-unit placement is a position in metres; direction is an orientation in degrees; airflow is volumetric flow in m³/s; setpoint is the thermostat setting in °C. Setpoint is not supply-air temperature. Equipment cooling capacity, electric input power and supply temperature require separate model inputs.</a:t>
            </a:r>
          </a:p>
          <a:p>
            <a:endParaRPr/>
          </a:p>
          <a:p>
            <a:r>
              <a:t>Room electricity is a representative-day quantity in kWh/day. Its weather, solar, internal loads, operating schedule and HVAC performance must be stated. A day is not an annual energy or savings estimate.</a:t>
            </a:r>
          </a:p>
          <a:p>
            <a:endParaRPr/>
          </a:p>
          <a:p>
            <a:r>
              <a:t>Seat comfort requires local air temperature, a radiant-temperature basis, air speed and humidity, with stated clothing and activity. Local draft and other discomfort checks require appropriate model coverage and valid samples. The six basic thermal-comfort factors are cited to [6]; this page does not claim Standard 55 compliance, measured satisfaction, or that every local-discomfort criterion is implemented.</a:t>
            </a:r>
          </a:p>
          <a:p>
            <a:endParaRPr/>
          </a:p>
          <a:p>
            <a:r>
              <a:t>The energy run and representative steady-state airflow/comfort condition are distinct evaluation scopes. Compare baseline and candidates with the same room geometry except the intended configuration change, weather, occupancy, loads and evaluation period. Use only successful, quality-passed, current runs with valid seat samples. Do not infer cooldown time from a steady field. See [3,4] project sources.</a:t>
            </a:r>
          </a:p>
          <a:p>
            <a:endParaRPr/>
          </a:p>
          <a:p>
            <a:r>
              <a:t>[6] ASHRAE (2023). ANSI/ASHRAE Standard 55-2023, Thermal Environmental Conditions for Human Occupancy. Official public overview: https://www.ashrae.org/technical-resources/bookstore/standard-55-thermal-environmental-conditions-for-human-occupancy . Supports the factors temperature, thermal radiation, humidity and air speed, together with activity and clothing. The standard overview also describes local discomfort from vertical gradients. Accessed 3 October 2026.</a:t>
            </a:r>
          </a:p>
          <a:p>
            <a:endParaRPr/>
          </a:p>
          <a:p>
            <a:r>
              <a:t>[7] EnergyPlus (n.d.). Engineering Reference, Zone Internal Gains, Sources and Types of Gains. https://energyplus.readthedocs.io/en/latest/guides/engineering-reference/17.1-zone-internal-gains.html . Supports inclusion of people, lights and equipment in the zone heat balance, and separation of convective, radiant and latent gains. Accessed 3 October 2026. This citation does not establish a savings percentage or a universal relation between placement and electrical efficiency.</a:t>
            </a:r>
          </a:p>
          <a:p>
            <a:endParaRPr/>
          </a:p>
          <a:p>
            <a:r>
              <a:t>[3] Plans/References/01-product-scope.md and 03-experience-design.md. [4] Plans/References/02-architecture.md, 04-data-contracts.md, 05-computation-and-decision.md and AGENTS.md.</a:t>
            </a:r>
          </a:p>
          <a:p>
            <a:endParaRPr/>
          </a:p>
          <a:p>
            <a:r>
              <a:t>Room art generated with the built-in imagegen tool on 3 October 2026. Asset: PitchAssets/room-decision-office.png; full prompt: PitchAssets/room-decision-imagegen-prompt.json. The illustration contains no computed flow or temperature field. All text and the evaluation matrix are native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definition [4]: SimuNow (2026), AGENTS.md. Sections: Project and priorities; Swift and interface guidelines; Physical and result constraints; Data and task conventions. Source snapshot dated 3 October 2026, SHA-256 16e3fd5e2a75c14cb6e7abe5398f4422e370a9bd34879836ebab760fd28d74b4.</a:t>
            </a:r>
          </a:p>
          <a:p>
            <a:endParaRPr/>
          </a:p>
          <a:p>
            <a:r>
              <a:t>SimuNow is a Mac-first tool for indoor air-conditioner configuration and operation analysis, with compatibility goals for iOS and iPadOS. Its stated product vision connects EnergyPlus energy modelling and OpenFOAM airflow through one room model and evaluates comfort at occupied positions, electricity and cost. The initial scene is one office or classroom.</a:t>
            </a:r>
          </a:p>
          <a:p>
            <a:endParaRPr/>
          </a:p>
          <a:p>
            <a:r>
              <a:t>The room model describes geometry, furniture, occupied seats and heat sources, along with AC placement and operating inputs. Setpoint, supply temperature, cooling capacity, electrical input, airflow and air speed remain distinct quantities with units. The depicted inspector is conceptual and contains no numerical values.</a:t>
            </a:r>
          </a:p>
          <a:p>
            <a:endParaRPr/>
          </a:p>
          <a:p>
            <a:r>
              <a:t>EnergyPlus and OpenFOAM are planned analyses. They do not currently form an implemented or validated product pipeline. Spatial comfort requires appropriate temperature, radiation, velocity, humidity, clothing and activity inputs. Cost needs a cited tariff. No savings percentage, measured satisfaction, PMV result, annual extrapolation or cooldown time is claimed.</a:t>
            </a:r>
          </a:p>
          <a:p>
            <a:endParaRPr/>
          </a:p>
          <a:p>
            <a:r>
              <a:t>Traceable evidence follows AGENTS.md: immutable input snapshots, run and scenario identities, input hash, engine versions, solver settings, mesh and quality records. Completion, quality and current inputs are separate conditions. Invalid, unconverged or unsampled results cannot support a valid report or recommendation. These describe planned numerical evidence requirements, not a claim of completed numerical functions.</a:t>
            </a:r>
          </a:p>
          <a:p>
            <a:endParaRPr/>
          </a:p>
          <a:p>
            <a:r>
              <a:t>The planned Mac interface uses a workspace and inspector. iPad uses adaptive panes and iPhone retains accessible navigation. The page introduces this product direction rather than claiming that every platform interface is finished. The native application foundation exists; numerical engines are not connected.</a:t>
            </a:r>
          </a:p>
          <a:p>
            <a:endParaRPr/>
          </a:p>
          <a:p>
            <a:r>
              <a:t>Illustration: PitchAssets/product-workspace-concept.png, generated by the built-in imagegen tool on 3 October 2026. Full prompt in PitchAssets/product-imagegen-prompt.json. Planned interface concept, not an actual application screenshot, measured data or computed simulation output. All slide headings, capability descriptions and disclosures are editable PowerPoint text objects.</a:t>
            </a:r>
          </a:p>
          <a:p>
            <a:r>
              <a:t>Functional schematic: shared room/HVAC inputs feed the two planned analyses. A common evidence check precedes comparison of comfort at occupied seats, representative-day electricity and tariff-based operating cost. Lines indicate information relationships, not an implemented transient coupling or a measured performance result. Source [4] remains the AGENTS.md snapshot cited above. Other necessary comfort inputs are described in the preceding notes. The diagram labels, nodes and attached connectors are native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follow Introducing SimuNow with a concrete office configuration comparison. This page is a planned application scenario, not a live product screenshot, a measured office, or a computed result.</a:t>
            </a:r>
          </a:p>
          <a:p>
            <a:endParaRPr/>
          </a:p>
          <a:p>
            <a:r>
              <a:t>Internal hypothetical inputs: 6 by 4 by 2.8 metre room, four occupied seats, 26 °C thermostat setpoint, 0.18 m³/s supply airflow and 09:00–17:00 operation. These are illustrative design assumptions chosen for the scenario. They are not measured data, recommended universal settings, a calibrated benchmark or complete solver input. Setpoint is distinct from supply-air temperature; supply airflow is distinct from air speed, cooling capacity and electrical input.</a:t>
            </a:r>
          </a:p>
          <a:p>
            <a:endParaRPr/>
          </a:p>
          <a:p>
            <a:r>
              <a:t>A is the side-wall baseline; B moves one identical AC unit to the rear wall. The illustration preserves the same room, desks, chairs, window and door. Room construction, weather, solar inputs, people/equipment loads, schedule, device performance and other physical inputs should be shared between cases. Placement is the intended changed configuration variable; supply direction relative to the unit and geometry must be documented so incidental differences are not misattributed. All geometries and positions must be defined in the actual model before running an evaluation. The picture is not a dimensioned model.</a:t>
            </a:r>
          </a:p>
          <a:p>
            <a:endParaRPr/>
          </a:p>
          <a:p>
            <a:r>
              <a:t>Proposed comparison: evaluate thermal conditions separately at each occupied seat, representative-day electricity in kWh/day and operating cost using sourced tariffs with matched currency/billing assumptions. No computed values, preferred candidate, savings, measured satisfaction or Standard 55 compliance are shown. A steady field cannot establish cooldown time and a representative day cannot establish annual savings. Evidence requires complete inputs, successful quality-passed current runs and valid samples as described by source [4].</a:t>
            </a:r>
          </a:p>
          <a:p>
            <a:endParaRPr/>
          </a:p>
          <a:p>
            <a:r>
              <a:t>[4] SimuNow (2026). AGENTS.md user-approved product-vision snapshot, SHA-256 16e3fd5e2a75c14cb6e7abe5398f4422e370a9bd34879836ebab760fd28d74b4. Physical and result constraints; Data and task conventions. This page extends the previously approved pitch vision and does not modify the current local-development roadmap or claim numerical engines are connected.</a:t>
            </a:r>
          </a:p>
          <a:p>
            <a:endParaRPr/>
          </a:p>
          <a:p>
            <a:r>
              <a:t>[6] ASHRAE (2023). ANSI/ASHRAE Standard 55-2023, Thermal Environmental Conditions for Human Occupancy. Official public overview: https://www.ashrae.org/technical-resources/bookstore/standard-55-thermal-environmental-conditions-for-human-occupancy . Accessed 3 October 2026. Supports the combination of temperature, thermal radiation, humidity and air speed with clothing and activity as thermal-comfort inputs. It does not establish scenario performance or compliance.</a:t>
            </a:r>
          </a:p>
          <a:p>
            <a:endParaRPr/>
          </a:p>
          <a:p>
            <a:r>
              <a:t>Image provenance: PitchAssets/office-scenario-pair.png, generated by the built-in imagegen tool on 3 October 2026. Exact prompt: PitchAssets/office-scenario-imagegen-prompt.json. Two matched geometric concepts, no computed flow field or thermal outcome. Scenario assumptions and sources: PitchAssets/office-scenario-source.json. Both tables and all labels/disclosures are native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explain the proposed evaluation basis after the office scenario. This is the user-approved EnergyPlus/OpenFOAM pitch vision, not a claim that the numerical pipeline is implemented, coupled or physically validated.</a:t>
            </a:r>
          </a:p>
          <a:p>
            <a:endParaRPr/>
          </a:p>
          <a:p>
            <a:r>
              <a:t>Shared inputs: room and construction geometry, furniture, occupied positions, weather and solar inputs, people/equipment heat loads, schedules and HVAC performance. Physical fields must distinguish thermostat setpoint, supply-air temperature, cooling capacity, electrical input, volumetric supply airflow and velocity, with units. Input snapshots and coordinate/geometry transformations need consistent identities and units across analyses.</a:t>
            </a:r>
          </a:p>
          <a:p>
            <a:endParaRPr/>
          </a:p>
          <a:p>
            <a:r>
              <a:t>Energy scope: a representative-day EnergyPlus run provides the planned AC electricity quantity in kWh/day, using an explicitly defined AC/device meter scope rather than assuming that a whole-building meter is AC-only. Real equipment performance and operating schedules are needed. Thermal load alone does not establish electrical consumption, and an ideal-load model is not sufficient evidence of actual device electricity. The representative-day choice is a SimuNow evaluation scope; it is not an annual savings result. [7] supports internal gains, and [8] supports energy/load simulation, model/weather inputs, and output variables/meters.</a:t>
            </a:r>
          </a:p>
          <a:p>
            <a:endParaRPr/>
          </a:p>
          <a:p>
            <a:r>
              <a:t>Spatial scope: planned OpenFOAM analysis under a selected representative steady condition provides local air temperature and velocity. Thermal boundary conditions, heat-source consistency, mesh, physical models and solver settings must be documented and quality-checked. [9] is official documentation for an example steady heat-transfer solver with temperature and velocity fields; it is not a selected or tested SimuNow runtime configuration. A steady field does not establish startup cooling time. Links in the diagram show intended information relationships, not an implemented transient or two-way coupling. A placement change does not automatically establish an electricity reduction without a validated method connecting the relevant physics.</a:t>
            </a:r>
          </a:p>
          <a:p>
            <a:endParaRPr/>
          </a:p>
          <a:p>
            <a:r>
              <a:t>Comfort: evaluate occupied positions only when local air temperature, a mean-radiant-temperature basis, velocity, humidity, clothing and activity are available and the comfort model applies. Additional local-discomfort and sampling-height coverage may be required. [6] supports the basic environmental and personal factors. The page does not claim Standard 55 compliance, measured satisfaction, calibrated confidence, a PMV/PPD result or full comfort coverage.</a:t>
            </a:r>
          </a:p>
          <a:p>
            <a:endParaRPr/>
          </a:p>
          <a:p>
            <a:r>
              <a:t>Decision evidence: compare matched representative-day electricity and separately scoped local comfort; operating cost additionally requires a sourced tariff and matched currency/billing assumptions. A flat energy rate is only one possible tariff basis; no prices or costs are invented. Quality before comparison includes complete inputs, immutable snapshot/run identity, successful runs with convergence/conservation evidence where applicable, current input hashes, and valid seat samples outside solid geometry. A completed task is not equivalent to quality passed or inputs current. These are planned numerical-evidence requirements from [4].</a:t>
            </a:r>
          </a:p>
          <a:p>
            <a:endParaRPr/>
          </a:p>
          <a:p>
            <a:r>
              <a:t>[4] SimuNow (2026), AGENTS.md user-approved product-vision snapshot. SHA-256 16e3fd5e2a75c14cb6e7abe5398f4422e370a9bd34879836ebab760fd28d74b4. Physical and result constraints; Data and task conventions. Current local-development roadmap and implementation status remain separate from this proposed numerical evaluation.</a:t>
            </a:r>
          </a:p>
          <a:p>
            <a:r>
              <a:t>[6] ASHRAE (2023), ANSI/ASHRAE Standard 55-2023 official public overview. https://www.ashrae.org/technical-resources/bookstore/standard-55-thermal-environmental-conditions-for-human-occupancy . Environmental and personal comfort factors.</a:t>
            </a:r>
          </a:p>
          <a:p>
            <a:r>
              <a:t>[7] EnergyPlus Engineering Reference, Zone Internal Gains, Sources and Types of Gains. https://energyplus.readthedocs.io/en/latest/guides/engineering-reference/17.1-zone-internal-gains.html .</a:t>
            </a:r>
          </a:p>
          <a:p>
            <a:r>
              <a:t>[8] EnergyPlus, Quick Start Guide, online 26.2 documentation as accessed. Sections What is EnergyPlus?, Running EnergyPlus and Adding an output variable. https://energyplus.readthedocs.io/en/stable/quick_start/quick_start.html . Supports geometry/construction/use/system inputs, energy/load analysis, weather input and variables/meters. Documentation version does not select a SimuNow runtime version.</a:t>
            </a:r>
          </a:p>
          <a:p>
            <a:r>
              <a:t>[9] OpenCFD Ltd., OpenFOAM v2306 documentation, buoyantSimpleFoam. Overview and Input requirements. https://doc.openfoam.com/2306/tools/processing/solvers/rtm/heat-transfer/buoyantSimpleFoam/ . Describes an example steady-state heat-transfer solver with U [m/s] and T [K]; presentation temperature display may convert K to °C. The solver is not fixed or validated for SimuNow.</a:t>
            </a:r>
          </a:p>
          <a:p>
            <a:r>
              <a:t>External sources accessed 3 October 2026. No source establishes SimuNow numerical performance or outcome accuracy.</a:t>
            </a:r>
          </a:p>
          <a:p>
            <a:endParaRPr/>
          </a:p>
          <a:p>
            <a:r>
              <a:t>Illustration: PitchAssets/method-seat-sampling.png, built-in imagegen, 3 October 2026. Full prompt: PitchAssets/method-imagegen-prompt.json. Four teal points are hypothetical occupied-seat sample markers, not physical particles or results. Geometry is not a dimensioned model. Sources and boundaries: PitchAssets/method-sources.json.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introduce the native local preview and scenario-comparison scope after the evaluation-method vision, then lead into the comparison page. Functional product concept under development, not a claim of completed platform acceptance or physical validation.</a:t>
            </a:r>
          </a:p>
          <a:p>
            <a:endParaRPr/>
          </a:p>
          <a:p>
            <a:r>
              <a:t>[4] SimuNow, AGENTS.md current native-scope snapshot, 3 October 2026. SHA-256 e6cf3a86907577879f16d95a17a1a789536bd7aaf45eb5ccc1cc6630d4cd6946. Source snapshot: Artifacts/PitchDeck-LocalPreview/AGENTS.source.md. Sections Project and priorities, Physical and result constraints, Data and task conventions. This is the CURRENT native-scope edition, distinct from the earlier AGENTS.md product-vision snapshot cited on slides 4–6. Supporting current scope: Plans/References/01-product-scope.md and 02-architecture.md.</a:t>
            </a:r>
          </a:p>
          <a:p>
            <a:endParaRPr/>
          </a:p>
          <a:p>
            <a:r>
              <a:t>Mac-first, with iPhone/iPad compatibility goals. Native Swift rules and non-AR RealityKit room viewing form the main development route. Three-dimensional capability has availability requirements and older supported systems use a two-dimensional fallback. Ordinary consumer preview does not require Python, Linux, Docker, EnergyPlus or OpenFOAM. External numerical analysis is a later optional verification path. N1–N4 code integration does not establish full platform, accessibility, GPU, minimum-OS or end-user acceptance.</a:t>
            </a:r>
          </a:p>
          <a:p>
            <a:endParaRPr/>
          </a:p>
          <a:p>
            <a:r>
              <a:t>Preview: geometric rule-based supply paths, first furniture obstruction and occupied-position relationships. The schematic rays indicate selected direction and termination at an obstacle. They provide no local physical air speed, local temperature, buoyancy, recirculation, CFD, PMV/PPD or measured comfort. Four seat markers locate hypothetical occupied positions; they are not measured data. This picture is a different illustrative room concept, not the dimensioned controlled A/B scenario on slide 5.</a:t>
            </a:r>
          </a:p>
          <a:p>
            <a:endParaRPr/>
          </a:p>
          <a:p>
            <a:r>
              <a:t>Estimates: electricity is an integral of explicit electrical power over defined operating time, with power basis and source stated. Setpoint, cooling capacity, electric input, airflow rate and air speed remain separate quantities. Rated power is an explicitly adopted continuous-rating scenario, not automatically actual average power. Cost additionally requires sourced tariffs and currency with compatible coverage. Unknown inputs remain missing, not zero. Sensible-heat scenarios use explicit envelope/UA, outdoor-exchange and internal/solar sensible inputs and source coverage. Sensible heat is distinct from latent heat, device electricity, a spatial temperature field and cooldown time. Estimates do not establish annual savings or equipment payback.</a:t>
            </a:r>
          </a:p>
          <a:p>
            <a:endParaRPr/>
          </a:p>
          <a:p>
            <a:r>
              <a:t>Comparison: one baseline and up to two candidate configurations, with adopted inputs, method, run identity and assumptions visible. Path differences and operating estimates remain separate. Direction changes alone do not automatically change the power/time estimate or generate a savings percentage. Compatible, complete and current fixed evidence is required for numeric differences. No optimized winner, recommendation/PDF release, savings percentage, PMV, measured satisfaction, compliance or confidence claim is made.</a:t>
            </a:r>
          </a:p>
          <a:p>
            <a:endParaRPr/>
          </a:p>
          <a:p>
            <a:r>
              <a:t>Image provenance: PitchAssets/local-preview-office.png, generated and edited with the built-in imagegen tool on 3 October 2026. Full prompt set: PitchAssets/local-preview-imagegen-prompts.json. Architectural concept and illustrative obstruction only, not a screenshot, measured room or computed output. All page text is native editable PowerPoint text. The generated three rays are illustrative and not a numeric solver or project-model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Plans/References/01-product-scope.md; Plans/References/03-experience-design.md. All capabilities on this slide describe the planned product unless explicitly marked as implemented.</a:t>
            </a:r>
          </a:p>
          <a:p>
            <a:r>
              <a:t>Closing invitation proposes a pilot space and measurement access. No existing pilot, customer or commercial partnership is claimed. Built-in imagegen cover asset reused as a background. Future content: confirmed pilot request and contact details.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for the presentation.</a:t>
            </a:r>
          </a:p>
          <a:p>
            <a:endParaRPr/>
          </a:p>
          <a:p>
            <a:r>
              <a:t>[1] Electrical and Mechanical Services Department, Government of the Hong Kong Special Administrative Region (2026). Hong Kong Energy End-use Data 2026. Tables 12 and 39, printed pp. 27 and 54. Chronology of Major Revisions item 21, printed p. 78. https://www.emsd.gov.hk/filemanager/en/content_762/HKEEUD2026.pdf</a:t>
            </a:r>
          </a:p>
          <a:p>
            <a:r>
              <a:t>[2] International Energy Agency (2026). Cooling a hotter world: El Niño meets strong growth in global electricity demand. IEA, Paris. Commentary, 10 July 2026. Licence: CC BY 4.0. https://www.iea.org/commentaries/cooling-a-hotter-world-el-nino-meets-strong-growth-in-global-electricity-demand</a:t>
            </a:r>
          </a:p>
          <a:p>
            <a:r>
              <a:t>[3] SimuNow (2026). Plans/References/01-product-scope.md and Plans/References/03-experience-design.md. Internal scope and experience sources for slides 1, 3–6, 8, 10 and 13.</a:t>
            </a:r>
          </a:p>
          <a:p>
            <a:r>
              <a:t>[4] SimuNow (2026). Plans/References/02-architecture.md, Plans/References/04-data-contracts.md, Plans/References/05-computation-and-decision.md and AGENTS.md. Internal methodology and evidence constraints for slides 3, 4 and 6–9.</a:t>
            </a:r>
          </a:p>
          <a:p>
            <a:r>
              <a:t>[5] SimuNow (2026). README.md; Plans/Delivery/status.md; Plans/Delivery/verification.md; Plans/References/06-roadmap-and-backlog.md; Plans/Phases/P1-physics-spike.md, P5-decision-and-report.md, P6-capture-and-calibration.md and P7-optimization-and-release.md. Internal maturity and milestones for slides 11–12.</a:t>
            </a:r>
          </a:p>
          <a:p>
            <a:r>
              <a:t>[6] ASHRAE (2023). ANSI/ASHRAE Standard 55-2023, Thermal Environmental Conditions for Human Occupancy. Official public overview: https://www.ashrae.org/technical-resources/bookstore/standard-55-thermal-environmental-conditions-for-human-occupancy . Supports the basic environmental and personal comfort factors on slide 3. No claim of Standard 55 compliance is made.</a:t>
            </a:r>
          </a:p>
          <a:p>
            <a:r>
              <a:t>[7] EnergyPlus (n.d.). Engineering Reference, Zone Internal Gains, Sources and Types of Gains. https://energyplus.readthedocs.io/en/latest/guides/engineering-reference/17.1-zone-internal-gains.html . Supports internal loads and the separation of convective, radiant and latent gains on slide 3.</a:t>
            </a:r>
          </a:p>
          <a:p>
            <a:endParaRPr/>
          </a:p>
          <a:p>
            <a:r>
              <a:t>Illustration provenance: cover-architecture-airflow.png, seat-airflow-study.png and room-model-exploded.png generated by the built-in imagegen tool on 2 October 2026. problem-hong-kong-office.png and room-decision-office.png generated on 3 October 2026. Prompt files: PitchAssets/imagegen-prompts.json, problem-imagegen-prompt.json and room-decision-imagegen-prompt.json. Artwork is concept material, not measured or simulated performance.</a:t>
            </a:r>
          </a:p>
          <a:p>
            <a:endParaRPr/>
          </a:p>
          <a:p>
            <a:r>
              <a:t>External sources accessed 3 October 2026. Internal paths are relative to the SimuNow project root. Shortened visible project names on this page expand to the full paths in this note. Numerical and comfort functionality is planned unless a delivery source explicitly establishes implemented behavior.</a:t>
            </a:r>
          </a:p>
          <a:p>
            <a:r>
              <a:t>Slide 4 product source [4]: SimuNow (2026), AGENTS.md, sections Project and priorities, Swift and interface guidelines, Physical and result constraints, and Data and task conventions. This page presents the EnergyPlus/OpenFOAM product vision and a native app foundation. Numerical engines and decision evaluation are planned.</a:t>
            </a:r>
          </a:p>
          <a:p>
            <a:r>
              <a:t>Additional illustration provenance: PitchAssets/product-workspace-concept.png, generated with the built-in imagegen tool on 3 October 2026. Full prompt: PitchAssets/product-imagegen-prompt.json. Planned interface concept only, not an actual application screenshot or numerical performance evidence.</a:t>
            </a:r>
          </a:p>
          <a:p>
            <a:r>
              <a:t>Slide 5 office scenario: illustration and fixed inputs are internal hypothetical examples, not a measured office or computed comparison. Source [4] uses the user-approved AGENTS.md product-vision snapshot identified on slide 4; [6] ASHRAE Standard 55 official overview supports the thermal-comfort input factors. Illustration: PitchAssets/office-scenario-pair.png, built-in imagegen, 3 October 2026. Exact generation prompt: PitchAssets/office-scenario-imagegen-prompt.json. Both panels depict the same room with one intended AC-placement change. No numerical results, savings, compliance or preferred candidate are claimed.</a:t>
            </a:r>
          </a:p>
          <a:p>
            <a:r>
              <a:t>Additional sources for slide 6. Existing citations and illustration provenance in these notes remain applicable.</a:t>
            </a:r>
          </a:p>
          <a:p>
            <a:endParaRPr/>
          </a:p>
          <a:p>
            <a:r>
              <a:t>[8] EnergyPlus, Quick Start Guide, online 26.2 documentation as accessed 3 October 2026. Sections What is EnergyPlus?, Running EnergyPlus and Adding an output variable. https://energyplus.readthedocs.io/en/stable/quick_start/quick_start.html . Supports energy/load analysis, building-system and weather inputs, output variables/meters. This documentation version is a citation, not a selected SimuNow runtime.</a:t>
            </a:r>
          </a:p>
          <a:p>
            <a:endParaRPr/>
          </a:p>
          <a:p>
            <a:r>
              <a:t>[9] OpenCFD Ltd., OpenFOAM v2306 documentation, buoyantSimpleFoam. Overview and Input requirements. https://doc.openfoam.com/2306/tools/processing/solvers/rtm/heat-transfer/buoyantSimpleFoam/ . Example steady-state heat-transfer solver with temperature T [K] and velocity U [m/s]. Accessed 3 October 2026 via official indexed documentation. This citation does not select, validate or integrate that solver into SimuNow.</a:t>
            </a:r>
          </a:p>
          <a:p>
            <a:endParaRPr/>
          </a:p>
          <a:p>
            <a:r>
              <a:t>Slide 6 reuses [4] the user-approved AGENTS.md product-vision snapshot, [6] ASHRAE environmental/personal factors, and [7] EnergyPlus internal gains. All diagram links and evaluation scopes describe a planned method. Current local-development implementation and this numerical product vision are separate. No computed field, savings, comfort, compliance, satisfaction or cost result is claimed.</a:t>
            </a:r>
          </a:p>
          <a:p>
            <a:endParaRPr/>
          </a:p>
          <a:p>
            <a:r>
              <a:t>Additional illustration: PitchAssets/method-seat-sampling.png, built-in imagegen, 3 October 2026. Full prompt in PitchAssets/method-imagegen-prompt.json. Hypothetical geometry and sampling markers only, not numerical evidence.</a:t>
            </a:r>
          </a:p>
          <a:p>
            <a:endParaRPr/>
          </a:p>
          <a:p>
            <a:r>
              <a:t>Expanded internal locators: [3] Plans/References/01-product-scope.md and 03-experience-design.md. [4] Plans/References/02-architecture.md, 04-data-contracts.md, 05-computation-and-decision.md and the approved AGENTS.md snapshot hash shown on slide 4. [5] README.md, Plans/Delivery/status.md, verification.md, Plans/References/06-roadmap-and-backlog.md and the previously cited historical P1/P5/P6/P7 phase packages. Short visible locators on the page expand to these paths.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E43513B-8A26-4D04-8DD4-437D0364FC2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434B37BC-CD74-4D61-BD00-C09DFA5C25C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B82A616-D7A2-4225-B7FA-4353B87F638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EA9B497-3E07-4A39-AD0A-300A0551FDA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FC9A03CD-99BD-45AA-986F-366564DA4C2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0D986AC-C64E-44A9-AE53-8EF59D629A2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6C8675CD-8DF2-4735-853D-F32C89AD007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F014F1B4-D1E2-4F2D-90AB-06D1B26CEDA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754409B-590A-4E54-A7CB-88C8479665F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EB8FBB41-54AE-462C-B9A6-8EB5022277A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ver — Architectural hero">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320727A1-98A2-4430-925D-3EECBD24A85D}"/>
              </a:ext>
            </a:extLst>
          </p:cNvPr>
          <p:cNvSpPr>
            <a:spLocks noGrp="1"/>
          </p:cNvSpPr>
          <p:nvPr>
            <p:ph type="title"/>
          </p:nvPr>
        </p:nvSpPr>
        <p:spPr>
          <a:xfrm>
            <a:off x="685800" y="1819275"/>
            <a:ext cx="4381500" cy="1695450"/>
          </a:xfrm>
          <a:prstGeom prst="rect">
            <a:avLst/>
          </a:prstGeom>
          <a:noFill/>
          <a:ln w="0">
            <a:noFill/>
          </a:ln>
        </p:spPr>
        <p:txBody>
          <a:bodyPr lIns="0" tIns="0" rIns="0" bIns="0" anchor="t">
            <a:noAutofit/>
          </a:bodyPr>
          <a:lstStyle>
            <a:defPPr>
              <a:defRPr sz="51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CE493DAF-5FF4-45F4-BADC-34FEC7DD23DB}"/>
              </a:ext>
            </a:extLst>
          </p:cNvPr>
          <p:cNvSpPr>
            <a:spLocks noGrp="1"/>
          </p:cNvSpPr>
          <p:nvPr>
            <p:ph type="body" idx="1"/>
          </p:nvPr>
        </p:nvSpPr>
        <p:spPr>
          <a:xfrm>
            <a:off x="704850" y="3790950"/>
            <a:ext cx="3905250" cy="1047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tatement — Spatial visual">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575301DD-3BFD-4E83-AE2B-E2270E8B5B94}"/>
              </a:ext>
            </a:extLst>
          </p:cNvPr>
          <p:cNvSpPr>
            <a:spLocks noGrp="1"/>
          </p:cNvSpPr>
          <p:nvPr>
            <p:ph type="title"/>
          </p:nvPr>
        </p:nvSpPr>
        <p:spPr>
          <a:xfrm>
            <a:off x="685800" y="1019175"/>
            <a:ext cx="10820400" cy="1143000"/>
          </a:xfrm>
          <a:prstGeom prst="rect">
            <a:avLst/>
          </a:prstGeom>
          <a:noFill/>
          <a:ln w="0">
            <a:noFill/>
          </a:ln>
        </p:spPr>
        <p:txBody>
          <a:bodyPr lIns="0" tIns="0" rIns="0" bIns="0" anchor="t">
            <a:noAutofit/>
          </a:bodyPr>
          <a:lstStyle>
            <a:defPPr>
              <a:defRPr sz="39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6DF325DA-486E-4618-A4E9-0FF7D5A70460}"/>
              </a:ext>
            </a:extLst>
          </p:cNvPr>
          <p:cNvSpPr>
            <a:spLocks noGrp="1"/>
          </p:cNvSpPr>
          <p:nvPr>
            <p:ph type="body" idx="1"/>
          </p:nvPr>
        </p:nvSpPr>
        <p:spPr>
          <a:xfrm>
            <a:off x="685800" y="2305050"/>
            <a:ext cx="4191000" cy="3333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 Model and inputs">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CF6805F0-E4B2-429C-B1F7-49E70F38E8C5}"/>
              </a:ext>
            </a:extLst>
          </p:cNvPr>
          <p:cNvSpPr>
            <a:spLocks noGrp="1"/>
          </p:cNvSpPr>
          <p:nvPr>
            <p:ph type="title"/>
          </p:nvPr>
        </p:nvSpPr>
        <p:spPr>
          <a:xfrm>
            <a:off x="685800" y="1019175"/>
            <a:ext cx="10820400" cy="1143000"/>
          </a:xfrm>
          <a:prstGeom prst="rect">
            <a:avLst/>
          </a:prstGeom>
          <a:noFill/>
          <a:ln w="0">
            <a:noFill/>
          </a:ln>
        </p:spPr>
        <p:txBody>
          <a:bodyPr lIns="0" tIns="0" rIns="0" bIns="0" anchor="t">
            <a:noAutofit/>
          </a:bodyPr>
          <a:lstStyle>
            <a:defPPr>
              <a:defRPr sz="39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8FF165F1-A855-48BA-8A7A-17E6F77EB11D}"/>
              </a:ext>
            </a:extLst>
          </p:cNvPr>
          <p:cNvSpPr>
            <a:spLocks noGrp="1"/>
          </p:cNvSpPr>
          <p:nvPr>
            <p:ph type="body" idx="1"/>
          </p:nvPr>
        </p:nvSpPr>
        <p:spPr>
          <a:xfrm>
            <a:off x="685800" y="2305050"/>
            <a:ext cx="4191000" cy="3333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Process — Four steps">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84AC327B-D638-4D8B-A4F0-18952B343E89}"/>
              </a:ext>
            </a:extLst>
          </p:cNvPr>
          <p:cNvSpPr>
            <a:spLocks noGrp="1"/>
          </p:cNvSpPr>
          <p:nvPr>
            <p:ph type="title"/>
          </p:nvPr>
        </p:nvSpPr>
        <p:spPr>
          <a:xfrm>
            <a:off x="685800" y="1019175"/>
            <a:ext cx="10820400" cy="1143000"/>
          </a:xfrm>
          <a:prstGeom prst="rect">
            <a:avLst/>
          </a:prstGeom>
          <a:noFill/>
          <a:ln w="0">
            <a:noFill/>
          </a:ln>
        </p:spPr>
        <p:txBody>
          <a:bodyPr lIns="0" tIns="0" rIns="0" bIns="0" anchor="t">
            <a:noAutofit/>
          </a:bodyPr>
          <a:lstStyle>
            <a:defPPr>
              <a:defRPr sz="39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BF5DBF0E-8FB7-41CA-AA2E-1C36ACEE8D1F}"/>
              </a:ext>
            </a:extLst>
          </p:cNvPr>
          <p:cNvSpPr>
            <a:spLocks noGrp="1"/>
          </p:cNvSpPr>
          <p:nvPr>
            <p:ph type="body" idx="1"/>
          </p:nvPr>
        </p:nvSpPr>
        <p:spPr>
          <a:xfrm>
            <a:off x="685800" y="2305050"/>
            <a:ext cx="4191000" cy="3333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Product — Workflow columns">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444DDB9F-5757-4C66-8131-499388A4D2F7}"/>
              </a:ext>
            </a:extLst>
          </p:cNvPr>
          <p:cNvSpPr>
            <a:spLocks noGrp="1"/>
          </p:cNvSpPr>
          <p:nvPr>
            <p:ph type="title"/>
          </p:nvPr>
        </p:nvSpPr>
        <p:spPr>
          <a:xfrm>
            <a:off x="685800" y="1019175"/>
            <a:ext cx="10820400" cy="1143000"/>
          </a:xfrm>
          <a:prstGeom prst="rect">
            <a:avLst/>
          </a:prstGeom>
          <a:noFill/>
          <a:ln w="0">
            <a:noFill/>
          </a:ln>
        </p:spPr>
        <p:txBody>
          <a:bodyPr lIns="0" tIns="0" rIns="0" bIns="0" anchor="t">
            <a:noAutofit/>
          </a:bodyPr>
          <a:lstStyle>
            <a:defPPr>
              <a:defRPr sz="39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F326FF48-D14F-49C4-A160-9D636A14E315}"/>
              </a:ext>
            </a:extLst>
          </p:cNvPr>
          <p:cNvSpPr>
            <a:spLocks noGrp="1"/>
          </p:cNvSpPr>
          <p:nvPr>
            <p:ph type="body" idx="1"/>
          </p:nvPr>
        </p:nvSpPr>
        <p:spPr>
          <a:xfrm>
            <a:off x="685800" y="2305050"/>
            <a:ext cx="4191000" cy="3333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ethod — Two engines">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4A54807F-C8E8-44E0-817B-6F0675C88528}"/>
              </a:ext>
            </a:extLst>
          </p:cNvPr>
          <p:cNvSpPr>
            <a:spLocks noGrp="1"/>
          </p:cNvSpPr>
          <p:nvPr>
            <p:ph type="title"/>
          </p:nvPr>
        </p:nvSpPr>
        <p:spPr>
          <a:xfrm>
            <a:off x="685800" y="1019175"/>
            <a:ext cx="10820400" cy="1143000"/>
          </a:xfrm>
          <a:prstGeom prst="rect">
            <a:avLst/>
          </a:prstGeom>
          <a:noFill/>
          <a:ln w="0">
            <a:noFill/>
          </a:ln>
        </p:spPr>
        <p:txBody>
          <a:bodyPr lIns="0" tIns="0" rIns="0" bIns="0" anchor="t">
            <a:noAutofit/>
          </a:bodyPr>
          <a:lstStyle>
            <a:defPPr>
              <a:defRPr sz="39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348829CF-669F-48F4-A77C-BFEF6EE39946}"/>
              </a:ext>
            </a:extLst>
          </p:cNvPr>
          <p:cNvSpPr>
            <a:spLocks noGrp="1"/>
          </p:cNvSpPr>
          <p:nvPr>
            <p:ph type="body" idx="1"/>
          </p:nvPr>
        </p:nvSpPr>
        <p:spPr>
          <a:xfrm>
            <a:off x="685800" y="2305050"/>
            <a:ext cx="4191000" cy="3333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losing — Architectural hero">
    <p:spTree>
      <p:nvGrpSpPr>
        <p:cNvPr id="1" name=""/>
        <p:cNvGrpSpPr/>
        <p:nvPr/>
      </p:nvGrpSpPr>
      <p:grpSpPr>
        <a:xfrm>
          <a:off x="0" y="0"/>
          <a:ext cx="0" cy="0"/>
          <a:chOff x="0" y="0"/>
          <a:chExt cx="0" cy="0"/>
        </a:xfrm>
      </p:grpSpPr>
      <p:sp>
        <p:nvSpPr>
          <p:cNvPr id="3" name="placeholder_1">
            <a:extLst>
              <a:ext uri="{FF2B5EF4-FFF2-40B4-BE49-F238E27FC236}">
                <a16:creationId xmlns:a16="http://schemas.microsoft.com/office/drawing/2014/main" id="{0FDC631F-A683-4BEA-8575-494FFC17358D}"/>
              </a:ext>
            </a:extLst>
          </p:cNvPr>
          <p:cNvSpPr>
            <a:spLocks noGrp="1"/>
          </p:cNvSpPr>
          <p:nvPr>
            <p:ph type="title"/>
          </p:nvPr>
        </p:nvSpPr>
        <p:spPr>
          <a:xfrm>
            <a:off x="685800" y="1819275"/>
            <a:ext cx="4381500" cy="1695450"/>
          </a:xfrm>
          <a:prstGeom prst="rect">
            <a:avLst/>
          </a:prstGeom>
          <a:noFill/>
          <a:ln w="0">
            <a:noFill/>
          </a:ln>
        </p:spPr>
        <p:txBody>
          <a:bodyPr lIns="0" tIns="0" rIns="0" bIns="0" anchor="t">
            <a:noAutofit/>
          </a:bodyPr>
          <a:lstStyle>
            <a:defPPr>
              <a:defRPr sz="5100" b="1">
                <a:solidFill>
                  <a:srgbClr val="20282C"/>
                </a:solidFill>
                <a:latin typeface="Arial"/>
                <a:ea typeface="Arial"/>
                <a:cs typeface="Arial"/>
              </a:defRPr>
            </a:defPPr>
          </a:lstStyle>
          <a:p>
            <a:endParaRPr/>
          </a:p>
        </p:txBody>
      </p:sp>
      <p:sp>
        <p:nvSpPr>
          <p:cNvPr id="2" name="placeholder_2">
            <a:extLst>
              <a:ext uri="{FF2B5EF4-FFF2-40B4-BE49-F238E27FC236}">
                <a16:creationId xmlns:a16="http://schemas.microsoft.com/office/drawing/2014/main" id="{FD98C390-7EBD-4C90-ADD3-10DB1FA609E9}"/>
              </a:ext>
            </a:extLst>
          </p:cNvPr>
          <p:cNvSpPr>
            <a:spLocks noGrp="1"/>
          </p:cNvSpPr>
          <p:nvPr>
            <p:ph type="body" idx="1"/>
          </p:nvPr>
        </p:nvSpPr>
        <p:spPr>
          <a:xfrm>
            <a:off x="704850" y="3790950"/>
            <a:ext cx="3905250" cy="1047750"/>
          </a:xfrm>
          <a:prstGeom prst="rect">
            <a:avLst/>
          </a:prstGeom>
          <a:noFill/>
          <a:ln w="0">
            <a:noFill/>
          </a:ln>
        </p:spPr>
        <p:txBody>
          <a:bodyPr lIns="0" tIns="0" rIns="0" bIns="0">
            <a:noAutofit/>
          </a:bodyPr>
          <a:lstStyle>
            <a:defPPr>
              <a:defRPr sz="1950">
                <a:solidFill>
                  <a:srgbClr val="536069"/>
                </a:solidFill>
                <a:latin typeface="Arial"/>
                <a:ea typeface="Arial"/>
                <a:cs typeface="Arial"/>
              </a:defRPr>
            </a:def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9D28D5E-0423-456E-823D-42E9D007F92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EF35EE5-3B65-419E-9190-34024ED5372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7CFBB78-2F2C-42CE-95DF-A68F1814576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6C2D9B8-0C95-4FD7-A61A-F5901357B96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2011DC0A-2B5E-46AC-B371-66689EC9E79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BD8C07D-0FFB-4B94-AE3B-D321F89057E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9201B45-CE95-46CB-BF97-82F44B447BD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C3506F9-D766-4F46-9FF6-12C38AE3CC1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2F24E07-022E-4E46-88E3-C2C47760450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E26D7EA-C445-4EA1-8715-EDE3F200D24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2365E2D-D1E1-4617-8F4C-88177692AF0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95E682F-01AF-48D6-B785-B76EC168365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51EA90A-98DB-4E7E-A1AB-7A6CB4B4A5E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4C8E096-332E-4407-A815-3C4C451AD1B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F0B8DA7-54AA-4293-8CC8-AD8D89BC1CA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B2DB7FB-E364-43CE-AFBA-16C8075FDD3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D83C06C-CD82-4F89-92CE-47DD3927AFE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1362112-7EF1-4549-A7C5-623D9EDA7E4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214F792-D437-4CAC-8624-D1B1F286AA2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9E90E67-682C-4918-93FC-2154870D572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ED3D269-2426-4F9B-A6A2-4C7A53552C1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2D20132-2393-4650-8464-CE67B5DA3F8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EDD53B6-BA6A-4C3C-B43A-60C809295D9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94D916D-5127-45C9-B1DA-17D199FD91D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C264ABB1-FDB0-428A-B7FD-E425111CE33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C46722A-AFB6-472D-90E8-3193AA85C7D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597BE7E7-D7FE-45EC-B59A-5FDDA502B79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665BD17A-CF60-4B01-B321-79F4035B559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616E18C-6DA0-493B-86B4-A2CC5080AD5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E5F78A5-955E-4310-A12A-EE8EE068E82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7"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theme" Target="../theme/theme5.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uNow — Architectural Light">
    <p:bg>
      <p:bgPr>
        <a:solidFill>
          <a:srgbClr val="FFFFFF"/>
        </a:solidFill>
        <a:effectLst/>
      </p:bgPr>
    </p:bg>
    <p:spTree>
      <p:nvGrpSpPr>
        <p:cNvPr id="1" name=""/>
        <p:cNvGrpSpPr/>
        <p:nvPr/>
      </p:nvGrpSpPr>
      <p:grpSpPr>
        <a:xfrm>
          <a:off x="0" y="0"/>
          <a:ext cx="0" cy="0"/>
          <a:chOff x="0" y="0"/>
          <a:chExt cx="0" cy="0"/>
        </a:xfrm>
      </p:grpSpPr>
      <p:sp>
        <p:nvSpPr>
          <p:cNvPr id="2" name="simunow-brand">
            <a:extLst>
              <a:ext uri="{FF2B5EF4-FFF2-40B4-BE49-F238E27FC236}">
                <a16:creationId xmlns:a16="http://schemas.microsoft.com/office/drawing/2014/main" id="{40EF2EAB-FCEE-4FDE-A49B-7AA2A2D3371A}"/>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buNone/>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image" Target="../media/image2.png"/><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hyperlink" Target="https://doc.openfoam.com/2306/tools/processing/solvers/rtm/heat-transfer/buoyantSimpleFoam/" TargetMode="External"/><Relationship Id="rId3" Type="http://schemas.openxmlformats.org/officeDocument/2006/relationships/hyperlink" Target="https://www.emsd.gov.hk/filemanager/en/content_762/HKEEUD2026.pdf" TargetMode="External"/><Relationship Id="rId7" Type="http://schemas.openxmlformats.org/officeDocument/2006/relationships/hyperlink" Target="https://energyplus.readthedocs.io/en/stable/quick_start/quick_start.html" TargetMode="External"/><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hyperlink" Target="https://energyplus.readthedocs.io/en/latest/guides/engineering-reference/17.1-zone-internal-gains.html" TargetMode="External"/><Relationship Id="rId5" Type="http://schemas.openxmlformats.org/officeDocument/2006/relationships/hyperlink" Target="https://www.ashrae.org/technical-resources/bookstore/standard-55-thermal-environmental-conditions-for-human-occupancy" TargetMode="External"/><Relationship Id="rId4" Type="http://schemas.openxmlformats.org/officeDocument/2006/relationships/hyperlink" Target="https://www.iea.org/commentaries/cooling-a-hotter-world-el-nino-meets-strong-growth-in-global-electricity-deman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F420CC-8E81-41C9-BB3A-FE1398D5494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7" name="placeholder_1">
            <a:extLst>
              <a:ext uri="{FF2B5EF4-FFF2-40B4-BE49-F238E27FC236}">
                <a16:creationId xmlns:a16="http://schemas.microsoft.com/office/drawing/2014/main" id="{320727A1-98A2-4430-925D-3EECBD24A85D}"/>
              </a:ext>
            </a:extLst>
          </p:cNvPr>
          <p:cNvSpPr>
            <a:spLocks noGrp="1"/>
          </p:cNvSpPr>
          <p:nvPr>
            <p:ph type="title"/>
          </p:nvPr>
        </p:nvSpPr>
        <p:spPr>
          <a:xfrm>
            <a:off x="514350" y="1900237"/>
            <a:ext cx="4381500" cy="1695450"/>
          </a:xfrm>
          <a:prstGeom prst="rect">
            <a:avLst/>
          </a:prstGeom>
          <a:noFill/>
          <a:ln w="0">
            <a:noFill/>
          </a:ln>
        </p:spPr>
        <p:txBody>
          <a:bodyPr lIns="0" tIns="0" rIns="0" bIns="0" anchor="t">
            <a:noAutofit/>
          </a:bodyPr>
          <a:lstStyle>
            <a:defPPr>
              <a:defRPr sz="5100" b="1">
                <a:solidFill>
                  <a:srgbClr val="20282C"/>
                </a:solidFill>
                <a:latin typeface="Arial"/>
                <a:ea typeface="Arial"/>
                <a:cs typeface="Arial"/>
              </a:defRPr>
            </a:defPPr>
          </a:lstStyle>
          <a:p>
            <a:pPr>
              <a:buNone/>
              <a:defRPr sz="5100" b="1">
                <a:solidFill>
                  <a:srgbClr val="20282C"/>
                </a:solidFill>
                <a:latin typeface="Arial"/>
                <a:ea typeface="Arial"/>
                <a:cs typeface="Arial"/>
              </a:defRPr>
            </a:pPr>
            <a:r>
              <a:rPr sz="5100" b="1" dirty="0">
                <a:solidFill>
                  <a:srgbClr val="20282C"/>
                </a:solidFill>
                <a:latin typeface="Arial"/>
                <a:ea typeface="Arial"/>
                <a:cs typeface="Arial"/>
              </a:rPr>
              <a:t>Simulate first.</a:t>
            </a:r>
          </a:p>
          <a:p>
            <a:pPr>
              <a:buNone/>
              <a:defRPr sz="5100" b="1">
                <a:solidFill>
                  <a:srgbClr val="20282C"/>
                </a:solidFill>
                <a:latin typeface="Arial"/>
                <a:ea typeface="Arial"/>
                <a:cs typeface="Arial"/>
              </a:defRPr>
            </a:pPr>
            <a:r>
              <a:rPr sz="5100" b="1" dirty="0">
                <a:solidFill>
                  <a:srgbClr val="20282C"/>
                </a:solidFill>
                <a:latin typeface="Arial"/>
                <a:ea typeface="Arial"/>
                <a:cs typeface="Arial"/>
              </a:rPr>
              <a:t>Design better.</a:t>
            </a:r>
          </a:p>
        </p:txBody>
      </p:sp>
      <p:sp>
        <p:nvSpPr>
          <p:cNvPr id="3" name="cover-brand">
            <a:extLst>
              <a:ext uri="{FF2B5EF4-FFF2-40B4-BE49-F238E27FC236}">
                <a16:creationId xmlns:a16="http://schemas.microsoft.com/office/drawing/2014/main" id="{040A5E6C-7459-4EC4-B99E-987B5B616DD8}"/>
              </a:ext>
            </a:extLst>
          </p:cNvPr>
          <p:cNvSpPr>
            <a:spLocks noGrp="1"/>
          </p:cNvSpPr>
          <p:nvPr/>
        </p:nvSpPr>
        <p:spPr>
          <a:xfrm>
            <a:off x="685800" y="457200"/>
            <a:ext cx="2857500" cy="400050"/>
          </a:xfrm>
          <a:prstGeom prst="rect">
            <a:avLst/>
          </a:prstGeom>
          <a:noFill/>
          <a:ln w="0">
            <a:noFill/>
          </a:ln>
        </p:spPr>
        <p:txBody>
          <a:bodyPr wrap="square" lIns="0" tIns="0" rIns="0" bIns="0" anchor="t">
            <a:noAutofit/>
          </a:bodyPr>
          <a:lstStyle>
            <a:defPPr algn="l">
              <a:defRPr sz="2100" b="1">
                <a:solidFill>
                  <a:srgbClr val="20282C"/>
                </a:solidFill>
                <a:latin typeface="Arial"/>
                <a:ea typeface="Arial"/>
                <a:cs typeface="Arial"/>
              </a:defRPr>
            </a:defPPr>
          </a:lstStyle>
          <a:p>
            <a:pPr algn="l">
              <a:buNone/>
              <a:defRPr sz="2100" b="1">
                <a:solidFill>
                  <a:srgbClr val="20282C"/>
                </a:solidFill>
                <a:latin typeface="Arial"/>
                <a:ea typeface="Arial"/>
                <a:cs typeface="Arial"/>
              </a:defRPr>
            </a:pPr>
            <a:r>
              <a:rPr sz="2100" b="1">
                <a:solidFill>
                  <a:srgbClr val="20282C"/>
                </a:solidFill>
                <a:latin typeface="Arial"/>
                <a:ea typeface="Arial"/>
                <a:cs typeface="Arial"/>
              </a:rPr>
              <a:t>SimuNow</a:t>
            </a:r>
          </a:p>
        </p:txBody>
      </p:sp>
      <p:sp>
        <p:nvSpPr>
          <p:cNvPr id="4" name="cover-subtitle">
            <a:extLst>
              <a:ext uri="{FF2B5EF4-FFF2-40B4-BE49-F238E27FC236}">
                <a16:creationId xmlns:a16="http://schemas.microsoft.com/office/drawing/2014/main" id="{6D742947-1041-490C-8B5A-C18E1F9520A6}"/>
              </a:ext>
            </a:extLst>
          </p:cNvPr>
          <p:cNvSpPr>
            <a:spLocks noGrp="1"/>
          </p:cNvSpPr>
          <p:nvPr/>
        </p:nvSpPr>
        <p:spPr>
          <a:xfrm>
            <a:off x="514350" y="3876011"/>
            <a:ext cx="4000500" cy="1000125"/>
          </a:xfrm>
          <a:prstGeom prst="rect">
            <a:avLst/>
          </a:prstGeom>
          <a:noFill/>
          <a:ln w="0">
            <a:noFill/>
          </a:ln>
        </p:spPr>
        <p:txBody>
          <a:bodyPr wrap="square" lIns="0" tIns="0" rIns="0" bIns="0" anchor="t">
            <a:noAutofit/>
          </a:bodyPr>
          <a:lstStyle>
            <a:defPPr algn="l">
              <a:defRPr sz="1875" b="0">
                <a:solidFill>
                  <a:srgbClr val="536069"/>
                </a:solidFill>
                <a:latin typeface="Arial"/>
                <a:ea typeface="Arial"/>
                <a:cs typeface="Arial"/>
              </a:defRPr>
            </a:defPPr>
          </a:lstStyle>
          <a:p>
            <a:pPr algn="l">
              <a:buNone/>
              <a:defRPr sz="2025" b="0">
                <a:solidFill>
                  <a:srgbClr val="536069"/>
                </a:solidFill>
                <a:latin typeface="Arial"/>
                <a:ea typeface="Arial"/>
                <a:cs typeface="Arial"/>
              </a:defRPr>
            </a:pPr>
            <a:r>
              <a:rPr sz="1875" b="0" dirty="0">
                <a:solidFill>
                  <a:srgbClr val="536069"/>
                </a:solidFill>
                <a:latin typeface="Arial"/>
                <a:ea typeface="Arial"/>
                <a:cs typeface="Arial"/>
              </a:rPr>
              <a:t>Airflow and energy in one model.</a:t>
            </a:r>
          </a:p>
          <a:p>
            <a:pPr algn="l">
              <a:buNone/>
              <a:defRPr sz="2025" b="0">
                <a:solidFill>
                  <a:srgbClr val="536069"/>
                </a:solidFill>
                <a:latin typeface="Arial"/>
                <a:ea typeface="Arial"/>
                <a:cs typeface="Arial"/>
              </a:defRPr>
            </a:pPr>
            <a:r>
              <a:rPr sz="1875" b="0" dirty="0">
                <a:solidFill>
                  <a:srgbClr val="536069"/>
                </a:solidFill>
                <a:latin typeface="Arial"/>
                <a:ea typeface="Arial"/>
                <a:cs typeface="Arial"/>
              </a:rPr>
              <a:t>Comfort insights for every seat.</a:t>
            </a:r>
          </a:p>
        </p:txBody>
      </p:sp>
      <p:sp>
        <p:nvSpPr>
          <p:cNvPr id="5" name="cover-disclosure">
            <a:extLst>
              <a:ext uri="{FF2B5EF4-FFF2-40B4-BE49-F238E27FC236}">
                <a16:creationId xmlns:a16="http://schemas.microsoft.com/office/drawing/2014/main" id="{C0163629-AC60-4DD1-A5AD-AC439058DA4B}"/>
              </a:ext>
            </a:extLst>
          </p:cNvPr>
          <p:cNvSpPr>
            <a:spLocks noGrp="1"/>
          </p:cNvSpPr>
          <p:nvPr/>
        </p:nvSpPr>
        <p:spPr>
          <a:xfrm>
            <a:off x="685800" y="6334125"/>
            <a:ext cx="6858000" cy="238125"/>
          </a:xfrm>
          <a:prstGeom prst="rect">
            <a:avLst/>
          </a:prstGeom>
          <a:noFill/>
          <a:ln w="0">
            <a:noFill/>
          </a:ln>
        </p:spPr>
        <p:txBody>
          <a:bodyPr wrap="square" lIns="0" tIns="0" rIns="0" bIns="0" anchor="t">
            <a:noAutofit/>
          </a:bodyPr>
          <a:lstStyle>
            <a:defPPr algn="l">
              <a:defRPr sz="1200" b="0">
                <a:solidFill>
                  <a:srgbClr val="64727A"/>
                </a:solidFill>
                <a:latin typeface="Arial"/>
                <a:ea typeface="Arial"/>
                <a:cs typeface="Arial"/>
              </a:defRPr>
            </a:defPPr>
          </a:lstStyle>
          <a:p>
            <a:pPr algn="l">
              <a:buNone/>
              <a:defRPr sz="1200" b="0">
                <a:solidFill>
                  <a:srgbClr val="64727A"/>
                </a:solidFill>
                <a:latin typeface="Arial"/>
                <a:ea typeface="Arial"/>
                <a:cs typeface="Arial"/>
              </a:defRPr>
            </a:pPr>
            <a:r>
              <a:rPr sz="1200" b="0">
                <a:solidFill>
                  <a:srgbClr val="64727A"/>
                </a:solidFill>
                <a:latin typeface="Arial"/>
                <a:ea typeface="Arial"/>
                <a:cs typeface="Arial"/>
              </a:rPr>
              <a:t>Concept illustration · P0 product foundation</a:t>
            </a:r>
          </a:p>
        </p:txBody>
      </p:sp>
      <p:sp>
        <p:nvSpPr>
          <p:cNvPr id="6" name="cover-page">
            <a:extLst>
              <a:ext uri="{FF2B5EF4-FFF2-40B4-BE49-F238E27FC236}">
                <a16:creationId xmlns:a16="http://schemas.microsoft.com/office/drawing/2014/main" id="{49A9F1D6-2543-46C2-808A-BAC5F736EE85}"/>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buNone/>
              <a:defRPr sz="1125" b="0">
                <a:solidFill>
                  <a:srgbClr val="64727A"/>
                </a:solidFill>
                <a:latin typeface="Arial"/>
                <a:ea typeface="Arial"/>
                <a:cs typeface="Arial"/>
              </a:defRPr>
            </a:pPr>
            <a:r>
              <a:rPr sz="1125" b="0">
                <a:solidFill>
                  <a:srgbClr val="64727A"/>
                </a:solidFill>
                <a:latin typeface="Arial"/>
                <a:ea typeface="Arial"/>
                <a:cs typeface="Arial"/>
              </a:rPr>
              <a:t>01</a:t>
            </a:r>
          </a:p>
        </p:txBody>
      </p:sp>
    </p:spTree>
    <p:extLst>
      <p:ext uri="{BB962C8B-B14F-4D97-AF65-F5344CB8AC3E}">
        <p14:creationId xmlns:p14="http://schemas.microsoft.com/office/powerpoint/2010/main" val="1965781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imunow-brand">
            <a:extLst>
              <a:ext uri="{FF2B5EF4-FFF2-40B4-BE49-F238E27FC236}">
                <a16:creationId xmlns:a16="http://schemas.microsoft.com/office/drawing/2014/main" id="{CAB93808-2CFE-4032-A411-589A52D72840}"/>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2" name="slide-title">
            <a:extLst>
              <a:ext uri="{FF2B5EF4-FFF2-40B4-BE49-F238E27FC236}">
                <a16:creationId xmlns:a16="http://schemas.microsoft.com/office/drawing/2014/main" id="{2C8B3FB7-60FC-48DB-AB35-A96D877CC00C}"/>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Problem Statement</a:t>
            </a:r>
          </a:p>
        </p:txBody>
      </p:sp>
      <p:sp>
        <p:nvSpPr>
          <p:cNvPr id="3" name="research-page-2">
            <a:extLst>
              <a:ext uri="{FF2B5EF4-FFF2-40B4-BE49-F238E27FC236}">
                <a16:creationId xmlns:a16="http://schemas.microsoft.com/office/drawing/2014/main" id="{523B735C-D845-4731-B934-6021560D1798}"/>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02</a:t>
            </a:r>
          </a:p>
        </p:txBody>
      </p:sp>
      <p:sp>
        <p:nvSpPr>
          <p:cNvPr id="4" name="problem-thesis">
            <a:extLst>
              <a:ext uri="{FF2B5EF4-FFF2-40B4-BE49-F238E27FC236}">
                <a16:creationId xmlns:a16="http://schemas.microsoft.com/office/drawing/2014/main" id="{24FE5209-9DE2-4F61-A0D7-948FA7D16325}"/>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2025" b="0">
                <a:solidFill>
                  <a:srgbClr val="536069"/>
                </a:solidFill>
                <a:latin typeface="Arial"/>
                <a:ea typeface="Arial"/>
                <a:cs typeface="Arial"/>
              </a:defRPr>
            </a:defPPr>
          </a:lstStyle>
          <a:p>
            <a:pPr algn="l">
              <a:defRPr sz="2025" b="0">
                <a:solidFill>
                  <a:srgbClr val="536069"/>
                </a:solidFill>
                <a:latin typeface="Arial"/>
                <a:ea typeface="Arial"/>
                <a:cs typeface="Arial"/>
              </a:defRPr>
            </a:pPr>
            <a:r>
              <a:rPr sz="2025" b="0">
                <a:solidFill>
                  <a:srgbClr val="536069"/>
                </a:solidFill>
                <a:latin typeface="Arial"/>
                <a:ea typeface="Arial"/>
                <a:cs typeface="Arial"/>
              </a:rPr>
              <a:t>Cooling is a major electricity load, especially in offices</a:t>
            </a:r>
          </a:p>
        </p:txBody>
      </p:sp>
      <p:sp>
        <p:nvSpPr>
          <p:cNvPr id="5" name="hong-kong-heading">
            <a:extLst>
              <a:ext uri="{FF2B5EF4-FFF2-40B4-BE49-F238E27FC236}">
                <a16:creationId xmlns:a16="http://schemas.microsoft.com/office/drawing/2014/main" id="{53069E55-3121-4EEF-886D-948599EBC277}"/>
              </a:ext>
            </a:extLst>
          </p:cNvPr>
          <p:cNvSpPr>
            <a:spLocks noGrp="1"/>
          </p:cNvSpPr>
          <p:nvPr/>
        </p:nvSpPr>
        <p:spPr>
          <a:xfrm>
            <a:off x="685800" y="2266950"/>
            <a:ext cx="5143500" cy="323850"/>
          </a:xfrm>
          <a:prstGeom prst="rect">
            <a:avLst/>
          </a:prstGeom>
          <a:noFill/>
          <a:ln w="0">
            <a:noFill/>
          </a:ln>
        </p:spPr>
        <p:txBody>
          <a:bodyPr wrap="square" lIns="0" tIns="0" rIns="0" bIns="0" anchor="t">
            <a:noAutofit/>
          </a:bodyPr>
          <a:lstStyle>
            <a:defPPr algn="l">
              <a:defRPr sz="1725" b="1">
                <a:solidFill>
                  <a:srgbClr val="277F89"/>
                </a:solidFill>
                <a:latin typeface="Arial"/>
                <a:ea typeface="Arial"/>
                <a:cs typeface="Arial"/>
              </a:defRPr>
            </a:defPPr>
          </a:lstStyle>
          <a:p>
            <a:pPr algn="l">
              <a:defRPr sz="1725" b="1">
                <a:solidFill>
                  <a:srgbClr val="277F89"/>
                </a:solidFill>
                <a:latin typeface="Arial"/>
                <a:ea typeface="Arial"/>
                <a:cs typeface="Arial"/>
              </a:defRPr>
            </a:pPr>
            <a:r>
              <a:rPr sz="1725" b="1">
                <a:solidFill>
                  <a:srgbClr val="277F89"/>
                </a:solidFill>
                <a:latin typeface="Arial"/>
                <a:ea typeface="Arial"/>
                <a:cs typeface="Arial"/>
              </a:rPr>
              <a:t>HONG KONG  /  2024</a:t>
            </a:r>
          </a:p>
        </p:txBody>
      </p:sp>
      <p:sp>
        <p:nvSpPr>
          <p:cNvPr id="6" name="hong-kong-electricity">
            <a:extLst>
              <a:ext uri="{FF2B5EF4-FFF2-40B4-BE49-F238E27FC236}">
                <a16:creationId xmlns:a16="http://schemas.microsoft.com/office/drawing/2014/main" id="{3E125EDC-8D38-4BFC-9A9D-EBA96FD82F94}"/>
              </a:ext>
            </a:extLst>
          </p:cNvPr>
          <p:cNvSpPr>
            <a:spLocks noGrp="1"/>
          </p:cNvSpPr>
          <p:nvPr/>
        </p:nvSpPr>
        <p:spPr>
          <a:xfrm>
            <a:off x="685800" y="2647950"/>
            <a:ext cx="5048250" cy="704850"/>
          </a:xfrm>
          <a:prstGeom prst="rect">
            <a:avLst/>
          </a:prstGeom>
          <a:noFill/>
          <a:ln w="0">
            <a:noFill/>
          </a:ln>
        </p:spPr>
        <p:txBody>
          <a:bodyPr wrap="square" lIns="0" tIns="0" rIns="0" bIns="0" anchor="t">
            <a:noAutofit/>
          </a:bodyPr>
          <a:lstStyle>
            <a:defPPr algn="l">
              <a:defRPr sz="4800" b="1">
                <a:solidFill>
                  <a:srgbClr val="20282C"/>
                </a:solidFill>
                <a:latin typeface="Arial"/>
                <a:ea typeface="Arial"/>
                <a:cs typeface="Arial"/>
              </a:defRPr>
            </a:defPPr>
          </a:lstStyle>
          <a:p>
            <a:pPr algn="l">
              <a:defRPr sz="4800" b="1">
                <a:solidFill>
                  <a:srgbClr val="20282C"/>
                </a:solidFill>
                <a:latin typeface="Arial"/>
                <a:ea typeface="Arial"/>
                <a:cs typeface="Arial"/>
              </a:defRPr>
            </a:pPr>
            <a:r>
              <a:rPr sz="4800" b="1">
                <a:solidFill>
                  <a:srgbClr val="20282C"/>
                </a:solidFill>
                <a:latin typeface="Arial"/>
                <a:ea typeface="Arial"/>
                <a:cs typeface="Arial"/>
              </a:rPr>
              <a:t>13.9 TWh</a:t>
            </a:r>
          </a:p>
        </p:txBody>
      </p:sp>
      <p:sp>
        <p:nvSpPr>
          <p:cNvPr id="7" name="hong-kong-stat-caption">
            <a:extLst>
              <a:ext uri="{FF2B5EF4-FFF2-40B4-BE49-F238E27FC236}">
                <a16:creationId xmlns:a16="http://schemas.microsoft.com/office/drawing/2014/main" id="{0BC8A3B8-2B91-4A14-A8F4-29F39CDD8030}"/>
              </a:ext>
            </a:extLst>
          </p:cNvPr>
          <p:cNvSpPr>
            <a:spLocks noGrp="1"/>
          </p:cNvSpPr>
          <p:nvPr/>
        </p:nvSpPr>
        <p:spPr>
          <a:xfrm>
            <a:off x="685800" y="3400425"/>
            <a:ext cx="5181600" cy="457200"/>
          </a:xfrm>
          <a:prstGeom prst="rect">
            <a:avLst/>
          </a:prstGeom>
          <a:noFill/>
          <a:ln w="0">
            <a:noFill/>
          </a:ln>
        </p:spPr>
        <p:txBody>
          <a:bodyPr wrap="square" lIns="0" tIns="0" rIns="0" bIns="0" anchor="t">
            <a:noAutofit/>
          </a:bodyPr>
          <a:lstStyle>
            <a:defPPr algn="l">
              <a:defRPr sz="1500" b="0">
                <a:solidFill>
                  <a:srgbClr val="536069"/>
                </a:solidFill>
                <a:latin typeface="Arial"/>
                <a:ea typeface="Arial"/>
                <a:cs typeface="Arial"/>
              </a:defRPr>
            </a:defPPr>
          </a:lstStyle>
          <a:p>
            <a:pPr algn="l">
              <a:defRPr sz="1500" b="0">
                <a:solidFill>
                  <a:srgbClr val="536069"/>
                </a:solidFill>
                <a:latin typeface="Arial"/>
                <a:ea typeface="Arial"/>
                <a:cs typeface="Arial"/>
              </a:defRPr>
            </a:pPr>
            <a:r>
              <a:rPr sz="1500" b="0">
                <a:solidFill>
                  <a:srgbClr val="536069"/>
                </a:solidFill>
                <a:latin typeface="Arial"/>
                <a:ea typeface="Arial"/>
                <a:cs typeface="Arial"/>
              </a:rPr>
              <a:t>Electricity for the EMSD “Air Conditioning” category [1]</a:t>
            </a:r>
          </a:p>
        </p:txBody>
      </p:sp>
      <p:sp>
        <p:nvSpPr>
          <p:cNvPr id="8" name="hong-kong-chart-title">
            <a:extLst>
              <a:ext uri="{FF2B5EF4-FFF2-40B4-BE49-F238E27FC236}">
                <a16:creationId xmlns:a16="http://schemas.microsoft.com/office/drawing/2014/main" id="{C638C089-8611-49BC-9F05-0CA378F2C77F}"/>
              </a:ext>
            </a:extLst>
          </p:cNvPr>
          <p:cNvSpPr>
            <a:spLocks noGrp="1"/>
          </p:cNvSpPr>
          <p:nvPr/>
        </p:nvSpPr>
        <p:spPr>
          <a:xfrm>
            <a:off x="685800" y="3952875"/>
            <a:ext cx="5143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Share of electricity within each scope</a:t>
            </a:r>
          </a:p>
        </p:txBody>
      </p:sp>
      <p:graphicFrame>
        <p:nvGraphicFramePr>
          <p:cNvPr id="9" name="Chart">
            <a:extLst>
              <a:ext uri="{FF2B5EF4-FFF2-40B4-BE49-F238E27FC236}">
                <a16:creationId xmlns:a16="http://schemas.microsoft.com/office/drawing/2014/main" id="{971EC07A-15F8-47B0-8435-CD146876E71A}"/>
              </a:ext>
            </a:extLst>
          </p:cNvPr>
          <p:cNvGraphicFramePr/>
          <p:nvPr/>
        </p:nvGraphicFramePr>
        <p:xfrm>
          <a:off x="685800" y="4267200"/>
          <a:ext cx="5181600" cy="1066800"/>
        </p:xfrm>
        <a:graphic>
          <a:graphicData uri="http://schemas.openxmlformats.org/drawingml/2006/chart">
            <c:chart xmlns:c="http://schemas.openxmlformats.org/drawingml/2006/chart" xmlns:r="http://schemas.openxmlformats.org/officeDocument/2006/relationships" r:id="rId3"/>
          </a:graphicData>
        </a:graphic>
      </p:graphicFrame>
      <p:sp>
        <p:nvSpPr>
          <p:cNvPr id="10" name="global-heading">
            <a:extLst>
              <a:ext uri="{FF2B5EF4-FFF2-40B4-BE49-F238E27FC236}">
                <a16:creationId xmlns:a16="http://schemas.microsoft.com/office/drawing/2014/main" id="{4E8CAD81-E869-41E5-901F-830E47110E52}"/>
              </a:ext>
            </a:extLst>
          </p:cNvPr>
          <p:cNvSpPr>
            <a:spLocks noGrp="1"/>
          </p:cNvSpPr>
          <p:nvPr/>
        </p:nvSpPr>
        <p:spPr>
          <a:xfrm>
            <a:off x="6610350" y="2266950"/>
            <a:ext cx="4895850" cy="323850"/>
          </a:xfrm>
          <a:prstGeom prst="rect">
            <a:avLst/>
          </a:prstGeom>
          <a:noFill/>
          <a:ln w="0">
            <a:noFill/>
          </a:ln>
        </p:spPr>
        <p:txBody>
          <a:bodyPr wrap="square" lIns="0" tIns="0" rIns="0" bIns="0" anchor="t">
            <a:noAutofit/>
          </a:bodyPr>
          <a:lstStyle>
            <a:defPPr algn="l">
              <a:defRPr sz="1725" b="1">
                <a:solidFill>
                  <a:srgbClr val="277F89"/>
                </a:solidFill>
                <a:latin typeface="Arial"/>
                <a:ea typeface="Arial"/>
                <a:cs typeface="Arial"/>
              </a:defRPr>
            </a:defPPr>
          </a:lstStyle>
          <a:p>
            <a:pPr algn="l">
              <a:defRPr sz="1725" b="1">
                <a:solidFill>
                  <a:srgbClr val="277F89"/>
                </a:solidFill>
                <a:latin typeface="Arial"/>
                <a:ea typeface="Arial"/>
                <a:cs typeface="Arial"/>
              </a:defRPr>
            </a:pPr>
            <a:r>
              <a:rPr sz="1725" b="1">
                <a:solidFill>
                  <a:srgbClr val="277F89"/>
                </a:solidFill>
                <a:latin typeface="Arial"/>
                <a:ea typeface="Arial"/>
                <a:cs typeface="Arial"/>
              </a:rPr>
              <a:t>GLOBAL  /  IEA 2026 ESTIMATE</a:t>
            </a:r>
          </a:p>
        </p:txBody>
      </p:sp>
      <p:sp>
        <p:nvSpPr>
          <p:cNvPr id="11" name="global-electricity">
            <a:extLst>
              <a:ext uri="{FF2B5EF4-FFF2-40B4-BE49-F238E27FC236}">
                <a16:creationId xmlns:a16="http://schemas.microsoft.com/office/drawing/2014/main" id="{34D8B657-0AC6-4F83-9DA3-B973CB49371D}"/>
              </a:ext>
            </a:extLst>
          </p:cNvPr>
          <p:cNvSpPr>
            <a:spLocks noGrp="1"/>
          </p:cNvSpPr>
          <p:nvPr/>
        </p:nvSpPr>
        <p:spPr>
          <a:xfrm>
            <a:off x="6610350" y="2647950"/>
            <a:ext cx="4895850" cy="704850"/>
          </a:xfrm>
          <a:prstGeom prst="rect">
            <a:avLst/>
          </a:prstGeom>
          <a:noFill/>
          <a:ln w="0">
            <a:noFill/>
          </a:ln>
        </p:spPr>
        <p:txBody>
          <a:bodyPr wrap="square" lIns="0" tIns="0" rIns="0" bIns="0" anchor="t">
            <a:noAutofit/>
          </a:bodyPr>
          <a:lstStyle>
            <a:defPPr algn="l">
              <a:defRPr sz="4350" b="1">
                <a:solidFill>
                  <a:srgbClr val="20282C"/>
                </a:solidFill>
                <a:latin typeface="Arial"/>
                <a:ea typeface="Arial"/>
                <a:cs typeface="Arial"/>
              </a:defRPr>
            </a:defPPr>
          </a:lstStyle>
          <a:p>
            <a:pPr algn="l">
              <a:defRPr sz="4350" b="1">
                <a:solidFill>
                  <a:srgbClr val="20282C"/>
                </a:solidFill>
                <a:latin typeface="Arial"/>
                <a:ea typeface="Arial"/>
                <a:cs typeface="Arial"/>
              </a:defRPr>
            </a:pPr>
            <a:r>
              <a:rPr sz="4350" b="1">
                <a:solidFill>
                  <a:srgbClr val="20282C"/>
                </a:solidFill>
                <a:latin typeface="Arial"/>
                <a:ea typeface="Arial"/>
                <a:cs typeface="Arial"/>
              </a:rPr>
              <a:t>≈2,900 TWh</a:t>
            </a:r>
          </a:p>
        </p:txBody>
      </p:sp>
      <p:sp>
        <p:nvSpPr>
          <p:cNvPr id="12" name="global-stat-caption">
            <a:extLst>
              <a:ext uri="{FF2B5EF4-FFF2-40B4-BE49-F238E27FC236}">
                <a16:creationId xmlns:a16="http://schemas.microsoft.com/office/drawing/2014/main" id="{1E0498C3-2CE2-4295-BC8E-AFA079D12F42}"/>
              </a:ext>
            </a:extLst>
          </p:cNvPr>
          <p:cNvSpPr>
            <a:spLocks noGrp="1"/>
          </p:cNvSpPr>
          <p:nvPr/>
        </p:nvSpPr>
        <p:spPr>
          <a:xfrm>
            <a:off x="6610350" y="3400425"/>
            <a:ext cx="4895850" cy="495300"/>
          </a:xfrm>
          <a:prstGeom prst="rect">
            <a:avLst/>
          </a:prstGeom>
          <a:noFill/>
          <a:ln w="0">
            <a:noFill/>
          </a:ln>
        </p:spPr>
        <p:txBody>
          <a:bodyPr wrap="square" lIns="0" tIns="0" rIns="0" bIns="0" anchor="t">
            <a:noAutofit/>
          </a:bodyPr>
          <a:lstStyle>
            <a:defPPr algn="l">
              <a:defRPr sz="1500" b="0">
                <a:solidFill>
                  <a:srgbClr val="536069"/>
                </a:solidFill>
                <a:latin typeface="Arial"/>
                <a:ea typeface="Arial"/>
                <a:cs typeface="Arial"/>
              </a:defRPr>
            </a:defPPr>
          </a:lstStyle>
          <a:p>
            <a:pPr algn="l">
              <a:defRPr sz="1500" b="0">
                <a:solidFill>
                  <a:srgbClr val="536069"/>
                </a:solidFill>
                <a:latin typeface="Arial"/>
                <a:ea typeface="Arial"/>
                <a:cs typeface="Arial"/>
              </a:defRPr>
            </a:pPr>
            <a:r>
              <a:rPr sz="1500" b="0">
                <a:solidFill>
                  <a:srgbClr val="536069"/>
                </a:solidFill>
                <a:latin typeface="Arial"/>
                <a:ea typeface="Arial"/>
                <a:cs typeface="Arial"/>
              </a:rPr>
              <a:t>Annual building space-cooling electricity</a:t>
            </a:r>
          </a:p>
          <a:p>
            <a:pPr algn="l">
              <a:defRPr sz="1500" b="0">
                <a:solidFill>
                  <a:srgbClr val="536069"/>
                </a:solidFill>
                <a:latin typeface="Arial"/>
                <a:ea typeface="Arial"/>
                <a:cs typeface="Arial"/>
              </a:defRPr>
            </a:pPr>
            <a:r>
              <a:rPr sz="1500" b="0">
                <a:solidFill>
                  <a:srgbClr val="536069"/>
                </a:solidFill>
                <a:latin typeface="Arial"/>
                <a:ea typeface="Arial"/>
                <a:cs typeface="Arial"/>
              </a:rPr>
              <a:t>Around 50% growth since 2015 [2]</a:t>
            </a:r>
          </a:p>
        </p:txBody>
      </p:sp>
      <p:sp>
        <p:nvSpPr>
          <p:cNvPr id="13" name="global-chart-title">
            <a:extLst>
              <a:ext uri="{FF2B5EF4-FFF2-40B4-BE49-F238E27FC236}">
                <a16:creationId xmlns:a16="http://schemas.microsoft.com/office/drawing/2014/main" id="{0F8E4649-5A39-4160-B0CD-F99796178EF1}"/>
              </a:ext>
            </a:extLst>
          </p:cNvPr>
          <p:cNvSpPr>
            <a:spLocks noGrp="1"/>
          </p:cNvSpPr>
          <p:nvPr/>
        </p:nvSpPr>
        <p:spPr>
          <a:xfrm>
            <a:off x="6610350" y="3952875"/>
            <a:ext cx="489585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Approx. cooling share: annual use vs peak [2]</a:t>
            </a:r>
          </a:p>
        </p:txBody>
      </p:sp>
      <p:graphicFrame>
        <p:nvGraphicFramePr>
          <p:cNvPr id="14" name="Chart">
            <a:extLst>
              <a:ext uri="{FF2B5EF4-FFF2-40B4-BE49-F238E27FC236}">
                <a16:creationId xmlns:a16="http://schemas.microsoft.com/office/drawing/2014/main" id="{3EBCDF80-1E04-4E68-8FC0-8FFE86B77963}"/>
              </a:ext>
            </a:extLst>
          </p:cNvPr>
          <p:cNvGraphicFramePr/>
          <p:nvPr/>
        </p:nvGraphicFramePr>
        <p:xfrm>
          <a:off x="6610350" y="4267200"/>
          <a:ext cx="4895850" cy="1066800"/>
        </p:xfrm>
        <a:graphic>
          <a:graphicData uri="http://schemas.openxmlformats.org/drawingml/2006/chart">
            <c:chart xmlns:c="http://schemas.openxmlformats.org/drawingml/2006/chart" xmlns:r="http://schemas.openxmlformats.org/officeDocument/2006/relationships" r:id="rId4"/>
          </a:graphicData>
        </a:graphic>
      </p:graphicFrame>
      <p:sp>
        <p:nvSpPr>
          <p:cNvPr id="15" name="research-problem">
            <a:extLst>
              <a:ext uri="{FF2B5EF4-FFF2-40B4-BE49-F238E27FC236}">
                <a16:creationId xmlns:a16="http://schemas.microsoft.com/office/drawing/2014/main" id="{46A72BA5-049A-4A53-88A7-111FA165CD1E}"/>
              </a:ext>
            </a:extLst>
          </p:cNvPr>
          <p:cNvSpPr>
            <a:spLocks noGrp="1"/>
          </p:cNvSpPr>
          <p:nvPr/>
        </p:nvSpPr>
        <p:spPr>
          <a:xfrm>
            <a:off x="685800" y="5591175"/>
            <a:ext cx="7924800" cy="600075"/>
          </a:xfrm>
          <a:prstGeom prst="rect">
            <a:avLst/>
          </a:prstGeom>
          <a:noFill/>
          <a:ln w="0">
            <a:noFill/>
          </a:ln>
        </p:spPr>
        <p:txBody>
          <a:bodyPr wrap="square" lIns="0" tIns="0" rIns="0" bIns="0" anchor="t">
            <a:noAutofit/>
          </a:bodyPr>
          <a:lstStyle>
            <a:defPPr algn="l">
              <a:defRPr sz="1875" b="1">
                <a:solidFill>
                  <a:srgbClr val="20282C"/>
                </a:solidFill>
                <a:latin typeface="Arial"/>
                <a:ea typeface="Arial"/>
                <a:cs typeface="Arial"/>
              </a:defRPr>
            </a:defPPr>
          </a:lstStyle>
          <a:p>
            <a:pPr algn="l">
              <a:defRPr sz="1875" b="1">
                <a:solidFill>
                  <a:srgbClr val="20282C"/>
                </a:solidFill>
                <a:latin typeface="Arial"/>
                <a:ea typeface="Arial"/>
                <a:cs typeface="Arial"/>
              </a:defRPr>
            </a:pPr>
            <a:r>
              <a:rPr sz="1875" b="1">
                <a:solidFill>
                  <a:srgbClr val="20282C"/>
                </a:solidFill>
                <a:latin typeface="Arial"/>
                <a:ea typeface="Arial"/>
                <a:cs typeface="Arial"/>
              </a:rPr>
              <a:t>Room operators need evidence to choose AC placement and settings</a:t>
            </a:r>
          </a:p>
          <a:p>
            <a:pPr algn="l">
              <a:defRPr sz="1875" b="1">
                <a:solidFill>
                  <a:srgbClr val="20282C"/>
                </a:solidFill>
                <a:latin typeface="Arial"/>
                <a:ea typeface="Arial"/>
                <a:cs typeface="Arial"/>
              </a:defRPr>
            </a:pPr>
            <a:r>
              <a:rPr sz="1875" b="1">
                <a:solidFill>
                  <a:srgbClr val="20282C"/>
                </a:solidFill>
                <a:latin typeface="Arial"/>
                <a:ea typeface="Arial"/>
                <a:cs typeface="Arial"/>
              </a:rPr>
              <a:t>that balance electricity use with comfort at each seat.</a:t>
            </a:r>
          </a:p>
        </p:txBody>
      </p:sp>
      <p:pic>
        <p:nvPicPr>
          <p:cNvPr id="16" name="Picture 15">
            <a:extLst>
              <a:ext uri="{FF2B5EF4-FFF2-40B4-BE49-F238E27FC236}">
                <a16:creationId xmlns:a16="http://schemas.microsoft.com/office/drawing/2014/main" id="{1DA62ECD-0714-45F7-885B-E80E55550A4C}"/>
              </a:ext>
            </a:extLst>
          </p:cNvPr>
          <p:cNvPicPr>
            <a:picLocks noChangeAspect="1"/>
          </p:cNvPicPr>
          <p:nvPr/>
        </p:nvPicPr>
        <p:blipFill>
          <a:blip r:embed="rId5"/>
          <a:stretch/>
        </p:blipFill>
        <p:spPr>
          <a:xfrm>
            <a:off x="9610725" y="5410200"/>
            <a:ext cx="1257300" cy="838200"/>
          </a:xfrm>
          <a:prstGeom prst="rect">
            <a:avLst/>
          </a:prstGeom>
        </p:spPr>
      </p:pic>
      <p:sp>
        <p:nvSpPr>
          <p:cNvPr id="17" name="problem-footnote">
            <a:extLst>
              <a:ext uri="{FF2B5EF4-FFF2-40B4-BE49-F238E27FC236}">
                <a16:creationId xmlns:a16="http://schemas.microsoft.com/office/drawing/2014/main" id="{33BC0423-C7CF-42A7-AD5E-25DD64A29B44}"/>
              </a:ext>
            </a:extLst>
          </p:cNvPr>
          <p:cNvSpPr>
            <a:spLocks noGrp="1"/>
          </p:cNvSpPr>
          <p:nvPr/>
        </p:nvSpPr>
        <p:spPr>
          <a:xfrm>
            <a:off x="685800" y="6286500"/>
            <a:ext cx="10287000" cy="400050"/>
          </a:xfrm>
          <a:prstGeom prst="rect">
            <a:avLst/>
          </a:prstGeom>
          <a:noFill/>
          <a:ln w="0">
            <a:noFill/>
          </a:ln>
        </p:spPr>
        <p:txBody>
          <a:bodyPr wrap="square" lIns="0" tIns="0" rIns="0" bIns="0" anchor="t">
            <a:noAutofit/>
          </a:bodyPr>
          <a:lstStyle>
            <a:defPPr algn="l">
              <a:defRPr sz="1013" b="0">
                <a:solidFill>
                  <a:srgbClr val="64727A"/>
                </a:solidFill>
                <a:latin typeface="Arial"/>
                <a:ea typeface="Arial"/>
                <a:cs typeface="Arial"/>
              </a:defRPr>
            </a:defPPr>
          </a:lstStyle>
          <a:p>
            <a:pPr algn="l">
              <a:defRPr sz="1013" b="0">
                <a:solidFill>
                  <a:srgbClr val="64727A"/>
                </a:solidFill>
                <a:latin typeface="Arial"/>
                <a:ea typeface="Arial"/>
                <a:cs typeface="Arial"/>
              </a:defRPr>
            </a:pPr>
            <a:r>
              <a:rPr sz="1013" b="0">
                <a:solidFill>
                  <a:srgbClr val="64727A"/>
                </a:solidFill>
                <a:latin typeface="Arial"/>
                <a:ea typeface="Arial"/>
                <a:cs typeface="Arial"/>
              </a:rPr>
              <a:t>[1] EMSD (2026), Tables 12 and 39. HK includes heaters, fans, air purifiers and dehumidifiers.</a:t>
            </a:r>
          </a:p>
          <a:p>
            <a:pPr algn="l">
              <a:defRPr sz="1013" b="0">
                <a:solidFill>
                  <a:srgbClr val="64727A"/>
                </a:solidFill>
                <a:latin typeface="Arial"/>
                <a:ea typeface="Arial"/>
                <a:cs typeface="Arial"/>
              </a:defRPr>
            </a:pPr>
            <a:r>
              <a:rPr sz="1013" b="0">
                <a:solidFill>
                  <a:srgbClr val="64727A"/>
                </a:solidFill>
                <a:latin typeface="Arial"/>
                <a:ea typeface="Arial"/>
                <a:cs typeface="Arial"/>
              </a:rPr>
              <a:t>[2] IEA (10 Jul 2026). Space cooling excludes data centres. Annual energy and peak power use different denominators.</a:t>
            </a:r>
          </a:p>
        </p:txBody>
      </p:sp>
    </p:spTree>
    <p:extLst>
      <p:ext uri="{BB962C8B-B14F-4D97-AF65-F5344CB8AC3E}">
        <p14:creationId xmlns:p14="http://schemas.microsoft.com/office/powerpoint/2010/main" val="1226867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imunow-brand">
            <a:extLst>
              <a:ext uri="{FF2B5EF4-FFF2-40B4-BE49-F238E27FC236}">
                <a16:creationId xmlns:a16="http://schemas.microsoft.com/office/drawing/2014/main" id="{9D825B06-9E4E-4EB4-AA4E-C6D14AB06500}"/>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2" name="slide-title">
            <a:extLst>
              <a:ext uri="{FF2B5EF4-FFF2-40B4-BE49-F238E27FC236}">
                <a16:creationId xmlns:a16="http://schemas.microsoft.com/office/drawing/2014/main" id="{33A862FE-B40B-4F8C-9328-0BBD566F1B74}"/>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Room-level cooling decisions</a:t>
            </a:r>
          </a:p>
        </p:txBody>
      </p:sp>
      <p:sp>
        <p:nvSpPr>
          <p:cNvPr id="3" name="slide-subtitle">
            <a:extLst>
              <a:ext uri="{FF2B5EF4-FFF2-40B4-BE49-F238E27FC236}">
                <a16:creationId xmlns:a16="http://schemas.microsoft.com/office/drawing/2014/main" id="{6A21B4FB-B680-4181-8721-06E0C5E67AF4}"/>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1875" b="0">
                <a:solidFill>
                  <a:srgbClr val="536069"/>
                </a:solidFill>
                <a:latin typeface="Arial"/>
                <a:ea typeface="Arial"/>
                <a:cs typeface="Arial"/>
              </a:defRPr>
            </a:defPPr>
          </a:lstStyle>
          <a:p>
            <a:pPr algn="l">
              <a:defRPr sz="1875" b="0">
                <a:solidFill>
                  <a:srgbClr val="536069"/>
                </a:solidFill>
                <a:latin typeface="Arial"/>
                <a:ea typeface="Arial"/>
                <a:cs typeface="Arial"/>
              </a:defRPr>
            </a:pPr>
            <a:r>
              <a:rPr sz="1875" b="0">
                <a:solidFill>
                  <a:srgbClr val="536069"/>
                </a:solidFill>
                <a:latin typeface="Arial"/>
                <a:ea typeface="Arial"/>
                <a:cs typeface="Arial"/>
              </a:rPr>
              <a:t>AC placement and operating settings affect both electricity use and local comfort</a:t>
            </a:r>
          </a:p>
        </p:txBody>
      </p:sp>
      <p:sp>
        <p:nvSpPr>
          <p:cNvPr id="4" name="decision-page-3">
            <a:extLst>
              <a:ext uri="{FF2B5EF4-FFF2-40B4-BE49-F238E27FC236}">
                <a16:creationId xmlns:a16="http://schemas.microsoft.com/office/drawing/2014/main" id="{0834264B-14A1-4390-BE39-37BB6EE9CEBA}"/>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03</a:t>
            </a:r>
          </a:p>
        </p:txBody>
      </p:sp>
      <p:sp>
        <p:nvSpPr>
          <p:cNvPr id="5" name="room-section">
            <a:extLst>
              <a:ext uri="{FF2B5EF4-FFF2-40B4-BE49-F238E27FC236}">
                <a16:creationId xmlns:a16="http://schemas.microsoft.com/office/drawing/2014/main" id="{B698B693-6EF6-4E75-89F5-8B5D908EACC2}"/>
              </a:ext>
            </a:extLst>
          </p:cNvPr>
          <p:cNvSpPr>
            <a:spLocks noGrp="1"/>
          </p:cNvSpPr>
          <p:nvPr/>
        </p:nvSpPr>
        <p:spPr>
          <a:xfrm>
            <a:off x="685800" y="2266950"/>
            <a:ext cx="48958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CONFIGURATION  /  ONE OFFICE</a:t>
            </a:r>
          </a:p>
        </p:txBody>
      </p:sp>
      <p:sp>
        <p:nvSpPr>
          <p:cNvPr id="6" name="evidence-section">
            <a:extLst>
              <a:ext uri="{FF2B5EF4-FFF2-40B4-BE49-F238E27FC236}">
                <a16:creationId xmlns:a16="http://schemas.microsoft.com/office/drawing/2014/main" id="{F420018C-0683-4FB9-A46B-C8FF12530F7F}"/>
              </a:ext>
            </a:extLst>
          </p:cNvPr>
          <p:cNvSpPr>
            <a:spLocks noGrp="1"/>
          </p:cNvSpPr>
          <p:nvPr/>
        </p:nvSpPr>
        <p:spPr>
          <a:xfrm>
            <a:off x="6000750" y="2266950"/>
            <a:ext cx="55054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EVIDENCE  /  THREE DECISION LEVELS</a:t>
            </a:r>
          </a:p>
        </p:txBody>
      </p:sp>
      <p:pic>
        <p:nvPicPr>
          <p:cNvPr id="7" name="Picture 6">
            <a:extLst>
              <a:ext uri="{FF2B5EF4-FFF2-40B4-BE49-F238E27FC236}">
                <a16:creationId xmlns:a16="http://schemas.microsoft.com/office/drawing/2014/main" id="{467DEC1A-2FFB-4BF7-9C5A-D471C70660C1}"/>
              </a:ext>
            </a:extLst>
          </p:cNvPr>
          <p:cNvPicPr>
            <a:picLocks noChangeAspect="1"/>
          </p:cNvPicPr>
          <p:nvPr/>
        </p:nvPicPr>
        <p:blipFill>
          <a:blip r:embed="rId3"/>
          <a:stretch/>
        </p:blipFill>
        <p:spPr>
          <a:xfrm>
            <a:off x="1509713" y="2619375"/>
            <a:ext cx="3343275" cy="2228850"/>
          </a:xfrm>
          <a:prstGeom prst="rect">
            <a:avLst/>
          </a:prstGeom>
        </p:spPr>
      </p:pic>
      <p:sp>
        <p:nvSpPr>
          <p:cNvPr id="8" name="room-caption">
            <a:extLst>
              <a:ext uri="{FF2B5EF4-FFF2-40B4-BE49-F238E27FC236}">
                <a16:creationId xmlns:a16="http://schemas.microsoft.com/office/drawing/2014/main" id="{3FBEE88C-6753-4D91-B543-0AEADA9E6529}"/>
              </a:ext>
            </a:extLst>
          </p:cNvPr>
          <p:cNvSpPr>
            <a:spLocks noGrp="1"/>
          </p:cNvSpPr>
          <p:nvPr/>
        </p:nvSpPr>
        <p:spPr>
          <a:xfrm>
            <a:off x="685800" y="4876800"/>
            <a:ext cx="4953000" cy="200025"/>
          </a:xfrm>
          <a:prstGeom prst="rect">
            <a:avLst/>
          </a:prstGeom>
          <a:noFill/>
          <a:ln w="0">
            <a:noFill/>
          </a:ln>
        </p:spPr>
        <p:txBody>
          <a:bodyPr wrap="square" lIns="0" tIns="0" rIns="0" bIns="0" anchor="t">
            <a:noAutofit/>
          </a:bodyPr>
          <a:lstStyle>
            <a:defPPr algn="l">
              <a:defRPr sz="1050" b="0">
                <a:solidFill>
                  <a:srgbClr val="64727A"/>
                </a:solidFill>
                <a:latin typeface="Arial"/>
                <a:ea typeface="Arial"/>
                <a:cs typeface="Arial"/>
              </a:defRPr>
            </a:defPPr>
          </a:lstStyle>
          <a:p>
            <a:pPr algn="l">
              <a:defRPr sz="1050" b="0">
                <a:solidFill>
                  <a:srgbClr val="64727A"/>
                </a:solidFill>
                <a:latin typeface="Arial"/>
                <a:ea typeface="Arial"/>
                <a:cs typeface="Arial"/>
              </a:defRPr>
            </a:pPr>
            <a:r>
              <a:rPr sz="1050" b="0">
                <a:solidFill>
                  <a:srgbClr val="64727A"/>
                </a:solidFill>
                <a:latin typeface="Arial"/>
                <a:ea typeface="Arial"/>
                <a:cs typeface="Arial"/>
              </a:rPr>
              <a:t>Window, furniture and occupied positions · concept illustration</a:t>
            </a:r>
          </a:p>
        </p:txBody>
      </p:sp>
      <p:sp>
        <p:nvSpPr>
          <p:cNvPr id="9" name="control-section">
            <a:extLst>
              <a:ext uri="{FF2B5EF4-FFF2-40B4-BE49-F238E27FC236}">
                <a16:creationId xmlns:a16="http://schemas.microsoft.com/office/drawing/2014/main" id="{9CBB2632-033A-42DC-8FA0-A2E66C3EE901}"/>
              </a:ext>
            </a:extLst>
          </p:cNvPr>
          <p:cNvSpPr>
            <a:spLocks noGrp="1"/>
          </p:cNvSpPr>
          <p:nvPr/>
        </p:nvSpPr>
        <p:spPr>
          <a:xfrm>
            <a:off x="685800" y="5143500"/>
            <a:ext cx="4953000" cy="219075"/>
          </a:xfrm>
          <a:prstGeom prst="rect">
            <a:avLst/>
          </a:prstGeom>
          <a:noFill/>
          <a:ln w="0">
            <a:noFill/>
          </a:ln>
        </p:spPr>
        <p:txBody>
          <a:bodyPr wrap="square" lIns="0" tIns="0" rIns="0" bIns="0" anchor="t">
            <a:noAutofit/>
          </a:bodyPr>
          <a:lstStyle>
            <a:defPPr algn="l">
              <a:defRPr sz="1200" b="1">
                <a:solidFill>
                  <a:srgbClr val="277F89"/>
                </a:solidFill>
                <a:latin typeface="Arial"/>
                <a:ea typeface="Arial"/>
                <a:cs typeface="Arial"/>
              </a:defRPr>
            </a:defPPr>
          </a:lstStyle>
          <a:p>
            <a:pPr algn="l">
              <a:defRPr sz="1200" b="1">
                <a:solidFill>
                  <a:srgbClr val="277F89"/>
                </a:solidFill>
                <a:latin typeface="Arial"/>
                <a:ea typeface="Arial"/>
                <a:cs typeface="Arial"/>
              </a:defRPr>
            </a:pPr>
            <a:r>
              <a:rPr sz="1200" b="1">
                <a:solidFill>
                  <a:srgbClr val="277F89"/>
                </a:solidFill>
                <a:latin typeface="Arial"/>
                <a:ea typeface="Arial"/>
                <a:cs typeface="Arial"/>
              </a:rPr>
              <a:t>WHAT OPERATORS CAN ADJUST</a:t>
            </a:r>
          </a:p>
        </p:txBody>
      </p:sp>
      <p:sp>
        <p:nvSpPr>
          <p:cNvPr id="10" name="variable-0-label">
            <a:extLst>
              <a:ext uri="{FF2B5EF4-FFF2-40B4-BE49-F238E27FC236}">
                <a16:creationId xmlns:a16="http://schemas.microsoft.com/office/drawing/2014/main" id="{9D61923A-910B-47E8-A198-461C0A4643BB}"/>
              </a:ext>
            </a:extLst>
          </p:cNvPr>
          <p:cNvSpPr>
            <a:spLocks noGrp="1"/>
          </p:cNvSpPr>
          <p:nvPr/>
        </p:nvSpPr>
        <p:spPr>
          <a:xfrm>
            <a:off x="685800" y="5381625"/>
            <a:ext cx="1190625" cy="219075"/>
          </a:xfrm>
          <a:prstGeom prst="rect">
            <a:avLst/>
          </a:prstGeom>
          <a:noFill/>
          <a:ln w="0">
            <a:noFill/>
          </a:ln>
        </p:spPr>
        <p:txBody>
          <a:bodyPr wrap="square" lIns="0" tIns="0" rIns="0" bIns="0" anchor="t">
            <a:noAutofit/>
          </a:bodyPr>
          <a:lstStyle>
            <a:defPPr algn="l">
              <a:defRPr sz="1350" b="1">
                <a:solidFill>
                  <a:srgbClr val="20282C"/>
                </a:solidFill>
                <a:latin typeface="Arial"/>
                <a:ea typeface="Arial"/>
                <a:cs typeface="Arial"/>
              </a:defRPr>
            </a:defPPr>
          </a:lstStyle>
          <a:p>
            <a:pPr algn="l">
              <a:defRPr sz="1350" b="1">
                <a:solidFill>
                  <a:srgbClr val="20282C"/>
                </a:solidFill>
                <a:latin typeface="Arial"/>
                <a:ea typeface="Arial"/>
                <a:cs typeface="Arial"/>
              </a:defRPr>
            </a:pPr>
            <a:r>
              <a:rPr sz="1350" b="1">
                <a:solidFill>
                  <a:srgbClr val="20282C"/>
                </a:solidFill>
                <a:latin typeface="Arial"/>
                <a:ea typeface="Arial"/>
                <a:cs typeface="Arial"/>
              </a:rPr>
              <a:t>Placement</a:t>
            </a:r>
          </a:p>
        </p:txBody>
      </p:sp>
      <p:sp>
        <p:nvSpPr>
          <p:cNvPr id="11" name="variable-0-unit">
            <a:extLst>
              <a:ext uri="{FF2B5EF4-FFF2-40B4-BE49-F238E27FC236}">
                <a16:creationId xmlns:a16="http://schemas.microsoft.com/office/drawing/2014/main" id="{963CA8AB-7DB6-4DDC-B638-1D4846CF12B4}"/>
              </a:ext>
            </a:extLst>
          </p:cNvPr>
          <p:cNvSpPr>
            <a:spLocks noGrp="1"/>
          </p:cNvSpPr>
          <p:nvPr/>
        </p:nvSpPr>
        <p:spPr>
          <a:xfrm>
            <a:off x="685800" y="5600700"/>
            <a:ext cx="1190625" cy="209550"/>
          </a:xfrm>
          <a:prstGeom prst="rect">
            <a:avLst/>
          </a:prstGeom>
          <a:noFill/>
          <a:ln w="0">
            <a:noFill/>
          </a:ln>
        </p:spPr>
        <p:txBody>
          <a:bodyPr wrap="square" lIns="0" tIns="0" rIns="0" bIns="0" anchor="t">
            <a:noAutofit/>
          </a:bodyPr>
          <a:lstStyle>
            <a:defPPr algn="l">
              <a:defRPr sz="1275" b="0">
                <a:solidFill>
                  <a:srgbClr val="536069"/>
                </a:solidFill>
                <a:latin typeface="Arial"/>
                <a:ea typeface="Arial"/>
                <a:cs typeface="Arial"/>
              </a:defRPr>
            </a:defPPr>
          </a:lstStyle>
          <a:p>
            <a:pPr algn="l">
              <a:defRPr sz="1275" b="0">
                <a:solidFill>
                  <a:srgbClr val="536069"/>
                </a:solidFill>
                <a:latin typeface="Arial"/>
                <a:ea typeface="Arial"/>
                <a:cs typeface="Arial"/>
              </a:defRPr>
            </a:pPr>
            <a:r>
              <a:rPr sz="1275" b="0">
                <a:solidFill>
                  <a:srgbClr val="536069"/>
                </a:solidFill>
                <a:latin typeface="Arial"/>
                <a:ea typeface="Arial"/>
                <a:cs typeface="Arial"/>
              </a:rPr>
              <a:t>m</a:t>
            </a:r>
          </a:p>
        </p:txBody>
      </p:sp>
      <p:sp>
        <p:nvSpPr>
          <p:cNvPr id="12" name="variable-1-label">
            <a:extLst>
              <a:ext uri="{FF2B5EF4-FFF2-40B4-BE49-F238E27FC236}">
                <a16:creationId xmlns:a16="http://schemas.microsoft.com/office/drawing/2014/main" id="{22857592-8658-4E52-B8DB-CA33F2CC3051}"/>
              </a:ext>
            </a:extLst>
          </p:cNvPr>
          <p:cNvSpPr>
            <a:spLocks noGrp="1"/>
          </p:cNvSpPr>
          <p:nvPr/>
        </p:nvSpPr>
        <p:spPr>
          <a:xfrm>
            <a:off x="1924050" y="5381625"/>
            <a:ext cx="1190625" cy="219075"/>
          </a:xfrm>
          <a:prstGeom prst="rect">
            <a:avLst/>
          </a:prstGeom>
          <a:noFill/>
          <a:ln w="0">
            <a:noFill/>
          </a:ln>
        </p:spPr>
        <p:txBody>
          <a:bodyPr wrap="square" lIns="0" tIns="0" rIns="0" bIns="0" anchor="t">
            <a:noAutofit/>
          </a:bodyPr>
          <a:lstStyle>
            <a:defPPr algn="l">
              <a:defRPr sz="1350" b="1">
                <a:solidFill>
                  <a:srgbClr val="20282C"/>
                </a:solidFill>
                <a:latin typeface="Arial"/>
                <a:ea typeface="Arial"/>
                <a:cs typeface="Arial"/>
              </a:defRPr>
            </a:defPPr>
          </a:lstStyle>
          <a:p>
            <a:pPr algn="l">
              <a:defRPr sz="1350" b="1">
                <a:solidFill>
                  <a:srgbClr val="20282C"/>
                </a:solidFill>
                <a:latin typeface="Arial"/>
                <a:ea typeface="Arial"/>
                <a:cs typeface="Arial"/>
              </a:defRPr>
            </a:pPr>
            <a:r>
              <a:rPr sz="1350" b="1">
                <a:solidFill>
                  <a:srgbClr val="20282C"/>
                </a:solidFill>
                <a:latin typeface="Arial"/>
                <a:ea typeface="Arial"/>
                <a:cs typeface="Arial"/>
              </a:rPr>
              <a:t>Direction</a:t>
            </a:r>
          </a:p>
        </p:txBody>
      </p:sp>
      <p:sp>
        <p:nvSpPr>
          <p:cNvPr id="13" name="variable-1-unit">
            <a:extLst>
              <a:ext uri="{FF2B5EF4-FFF2-40B4-BE49-F238E27FC236}">
                <a16:creationId xmlns:a16="http://schemas.microsoft.com/office/drawing/2014/main" id="{F7D0036E-DA82-408C-9D22-AFC85853D4D7}"/>
              </a:ext>
            </a:extLst>
          </p:cNvPr>
          <p:cNvSpPr>
            <a:spLocks noGrp="1"/>
          </p:cNvSpPr>
          <p:nvPr/>
        </p:nvSpPr>
        <p:spPr>
          <a:xfrm>
            <a:off x="1924050" y="5600700"/>
            <a:ext cx="1190625" cy="209550"/>
          </a:xfrm>
          <a:prstGeom prst="rect">
            <a:avLst/>
          </a:prstGeom>
          <a:noFill/>
          <a:ln w="0">
            <a:noFill/>
          </a:ln>
        </p:spPr>
        <p:txBody>
          <a:bodyPr wrap="square" lIns="0" tIns="0" rIns="0" bIns="0" anchor="t">
            <a:noAutofit/>
          </a:bodyPr>
          <a:lstStyle>
            <a:defPPr algn="l">
              <a:defRPr sz="1275" b="0">
                <a:solidFill>
                  <a:srgbClr val="536069"/>
                </a:solidFill>
                <a:latin typeface="Arial"/>
                <a:ea typeface="Arial"/>
                <a:cs typeface="Arial"/>
              </a:defRPr>
            </a:defPPr>
          </a:lstStyle>
          <a:p>
            <a:pPr algn="l">
              <a:defRPr sz="1275" b="0">
                <a:solidFill>
                  <a:srgbClr val="536069"/>
                </a:solidFill>
                <a:latin typeface="Arial"/>
                <a:ea typeface="Arial"/>
                <a:cs typeface="Arial"/>
              </a:defRPr>
            </a:pPr>
            <a:r>
              <a:rPr sz="1275" b="0">
                <a:solidFill>
                  <a:srgbClr val="536069"/>
                </a:solidFill>
                <a:latin typeface="Arial"/>
                <a:ea typeface="Arial"/>
                <a:cs typeface="Arial"/>
              </a:rPr>
              <a:t>°</a:t>
            </a:r>
          </a:p>
        </p:txBody>
      </p:sp>
      <p:sp>
        <p:nvSpPr>
          <p:cNvPr id="14" name="variable-2-label">
            <a:extLst>
              <a:ext uri="{FF2B5EF4-FFF2-40B4-BE49-F238E27FC236}">
                <a16:creationId xmlns:a16="http://schemas.microsoft.com/office/drawing/2014/main" id="{7BAF6627-6949-422B-8B6A-91C95B3DC35E}"/>
              </a:ext>
            </a:extLst>
          </p:cNvPr>
          <p:cNvSpPr>
            <a:spLocks noGrp="1"/>
          </p:cNvSpPr>
          <p:nvPr/>
        </p:nvSpPr>
        <p:spPr>
          <a:xfrm>
            <a:off x="3162300" y="5381625"/>
            <a:ext cx="1190625" cy="219075"/>
          </a:xfrm>
          <a:prstGeom prst="rect">
            <a:avLst/>
          </a:prstGeom>
          <a:noFill/>
          <a:ln w="0">
            <a:noFill/>
          </a:ln>
        </p:spPr>
        <p:txBody>
          <a:bodyPr wrap="square" lIns="0" tIns="0" rIns="0" bIns="0" anchor="t">
            <a:noAutofit/>
          </a:bodyPr>
          <a:lstStyle>
            <a:defPPr algn="l">
              <a:defRPr sz="1350" b="1">
                <a:solidFill>
                  <a:srgbClr val="20282C"/>
                </a:solidFill>
                <a:latin typeface="Arial"/>
                <a:ea typeface="Arial"/>
                <a:cs typeface="Arial"/>
              </a:defRPr>
            </a:defPPr>
          </a:lstStyle>
          <a:p>
            <a:pPr algn="l">
              <a:defRPr sz="1350" b="1">
                <a:solidFill>
                  <a:srgbClr val="20282C"/>
                </a:solidFill>
                <a:latin typeface="Arial"/>
                <a:ea typeface="Arial"/>
                <a:cs typeface="Arial"/>
              </a:defRPr>
            </a:pPr>
            <a:r>
              <a:rPr sz="1350" b="1">
                <a:solidFill>
                  <a:srgbClr val="20282C"/>
                </a:solidFill>
                <a:latin typeface="Arial"/>
                <a:ea typeface="Arial"/>
                <a:cs typeface="Arial"/>
              </a:rPr>
              <a:t>Airflow rate</a:t>
            </a:r>
          </a:p>
        </p:txBody>
      </p:sp>
      <p:sp>
        <p:nvSpPr>
          <p:cNvPr id="15" name="variable-2-unit">
            <a:extLst>
              <a:ext uri="{FF2B5EF4-FFF2-40B4-BE49-F238E27FC236}">
                <a16:creationId xmlns:a16="http://schemas.microsoft.com/office/drawing/2014/main" id="{22F2811A-ADE3-493D-9913-DC3921FAB39F}"/>
              </a:ext>
            </a:extLst>
          </p:cNvPr>
          <p:cNvSpPr>
            <a:spLocks noGrp="1"/>
          </p:cNvSpPr>
          <p:nvPr/>
        </p:nvSpPr>
        <p:spPr>
          <a:xfrm>
            <a:off x="3162300" y="5600700"/>
            <a:ext cx="1190625" cy="209550"/>
          </a:xfrm>
          <a:prstGeom prst="rect">
            <a:avLst/>
          </a:prstGeom>
          <a:noFill/>
          <a:ln w="0">
            <a:noFill/>
          </a:ln>
        </p:spPr>
        <p:txBody>
          <a:bodyPr wrap="square" lIns="0" tIns="0" rIns="0" bIns="0" anchor="t">
            <a:noAutofit/>
          </a:bodyPr>
          <a:lstStyle>
            <a:defPPr algn="l">
              <a:defRPr sz="1275" b="0">
                <a:solidFill>
                  <a:srgbClr val="536069"/>
                </a:solidFill>
                <a:latin typeface="Arial"/>
                <a:ea typeface="Arial"/>
                <a:cs typeface="Arial"/>
              </a:defRPr>
            </a:defPPr>
          </a:lstStyle>
          <a:p>
            <a:pPr algn="l">
              <a:defRPr sz="1275" b="0">
                <a:solidFill>
                  <a:srgbClr val="536069"/>
                </a:solidFill>
                <a:latin typeface="Arial"/>
                <a:ea typeface="Arial"/>
                <a:cs typeface="Arial"/>
              </a:defRPr>
            </a:pPr>
            <a:r>
              <a:rPr sz="1275" b="0">
                <a:solidFill>
                  <a:srgbClr val="536069"/>
                </a:solidFill>
                <a:latin typeface="Arial"/>
                <a:ea typeface="Arial"/>
                <a:cs typeface="Arial"/>
              </a:rPr>
              <a:t>m³/s</a:t>
            </a:r>
          </a:p>
        </p:txBody>
      </p:sp>
      <p:sp>
        <p:nvSpPr>
          <p:cNvPr id="16" name="variable-3-label">
            <a:extLst>
              <a:ext uri="{FF2B5EF4-FFF2-40B4-BE49-F238E27FC236}">
                <a16:creationId xmlns:a16="http://schemas.microsoft.com/office/drawing/2014/main" id="{F8617BDF-22AB-41E2-975B-FE5C6527D032}"/>
              </a:ext>
            </a:extLst>
          </p:cNvPr>
          <p:cNvSpPr>
            <a:spLocks noGrp="1"/>
          </p:cNvSpPr>
          <p:nvPr/>
        </p:nvSpPr>
        <p:spPr>
          <a:xfrm>
            <a:off x="4400550" y="5381625"/>
            <a:ext cx="1190625" cy="219075"/>
          </a:xfrm>
          <a:prstGeom prst="rect">
            <a:avLst/>
          </a:prstGeom>
          <a:noFill/>
          <a:ln w="0">
            <a:noFill/>
          </a:ln>
        </p:spPr>
        <p:txBody>
          <a:bodyPr wrap="square" lIns="0" tIns="0" rIns="0" bIns="0" anchor="t">
            <a:noAutofit/>
          </a:bodyPr>
          <a:lstStyle>
            <a:defPPr algn="l">
              <a:defRPr sz="1350" b="1">
                <a:solidFill>
                  <a:srgbClr val="20282C"/>
                </a:solidFill>
                <a:latin typeface="Arial"/>
                <a:ea typeface="Arial"/>
                <a:cs typeface="Arial"/>
              </a:defRPr>
            </a:defPPr>
          </a:lstStyle>
          <a:p>
            <a:pPr algn="l">
              <a:defRPr sz="1350" b="1">
                <a:solidFill>
                  <a:srgbClr val="20282C"/>
                </a:solidFill>
                <a:latin typeface="Arial"/>
                <a:ea typeface="Arial"/>
                <a:cs typeface="Arial"/>
              </a:defRPr>
            </a:pPr>
            <a:r>
              <a:rPr sz="1350" b="1">
                <a:solidFill>
                  <a:srgbClr val="20282C"/>
                </a:solidFill>
                <a:latin typeface="Arial"/>
                <a:ea typeface="Arial"/>
                <a:cs typeface="Arial"/>
              </a:rPr>
              <a:t>Setpoint</a:t>
            </a:r>
          </a:p>
        </p:txBody>
      </p:sp>
      <p:sp>
        <p:nvSpPr>
          <p:cNvPr id="17" name="variable-3-unit">
            <a:extLst>
              <a:ext uri="{FF2B5EF4-FFF2-40B4-BE49-F238E27FC236}">
                <a16:creationId xmlns:a16="http://schemas.microsoft.com/office/drawing/2014/main" id="{987758F6-7AA8-4007-A5B5-835160B50CFF}"/>
              </a:ext>
            </a:extLst>
          </p:cNvPr>
          <p:cNvSpPr>
            <a:spLocks noGrp="1"/>
          </p:cNvSpPr>
          <p:nvPr/>
        </p:nvSpPr>
        <p:spPr>
          <a:xfrm>
            <a:off x="4400550" y="5600700"/>
            <a:ext cx="1190625" cy="209550"/>
          </a:xfrm>
          <a:prstGeom prst="rect">
            <a:avLst/>
          </a:prstGeom>
          <a:noFill/>
          <a:ln w="0">
            <a:noFill/>
          </a:ln>
        </p:spPr>
        <p:txBody>
          <a:bodyPr wrap="square" lIns="0" tIns="0" rIns="0" bIns="0" anchor="t">
            <a:noAutofit/>
          </a:bodyPr>
          <a:lstStyle>
            <a:defPPr algn="l">
              <a:defRPr sz="1275" b="0">
                <a:solidFill>
                  <a:srgbClr val="536069"/>
                </a:solidFill>
                <a:latin typeface="Arial"/>
                <a:ea typeface="Arial"/>
                <a:cs typeface="Arial"/>
              </a:defRPr>
            </a:defPPr>
          </a:lstStyle>
          <a:p>
            <a:pPr algn="l">
              <a:defRPr sz="1275" b="0">
                <a:solidFill>
                  <a:srgbClr val="536069"/>
                </a:solidFill>
                <a:latin typeface="Arial"/>
                <a:ea typeface="Arial"/>
                <a:cs typeface="Arial"/>
              </a:defRPr>
            </a:pPr>
            <a:r>
              <a:rPr sz="1275" b="0">
                <a:solidFill>
                  <a:srgbClr val="536069"/>
                </a:solidFill>
                <a:latin typeface="Arial"/>
                <a:ea typeface="Arial"/>
                <a:cs typeface="Arial"/>
              </a:rPr>
              <a:t>°C</a:t>
            </a:r>
          </a:p>
        </p:txBody>
      </p:sp>
      <p:graphicFrame>
        <p:nvGraphicFramePr>
          <p:cNvPr id="18" name="Table 17">
            <a:extLst>
              <a:ext uri="{FF2B5EF4-FFF2-40B4-BE49-F238E27FC236}">
                <a16:creationId xmlns:a16="http://schemas.microsoft.com/office/drawing/2014/main" id="{61061EB2-F14A-4C33-9C10-A7B12E433B72}"/>
              </a:ext>
            </a:extLst>
          </p:cNvPr>
          <p:cNvGraphicFramePr/>
          <p:nvPr/>
        </p:nvGraphicFramePr>
        <p:xfrm>
          <a:off x="6000750" y="2667000"/>
          <a:ext cx="5505450" cy="2943225"/>
        </p:xfrm>
        <a:graphic>
          <a:graphicData uri="http://schemas.openxmlformats.org/drawingml/2006/table">
            <a:tbl>
              <a:tblPr firstCol="1"/>
              <a:tblGrid>
                <a:gridCol w="1743075">
                  <a:extLst>
                    <a:ext uri="{9D8B030D-6E8A-4147-A177-3AD203B41FA5}">
                      <a16:colId xmlns:a16="http://schemas.microsoft.com/office/drawing/2014/main" val="20000"/>
                    </a:ext>
                  </a:extLst>
                </a:gridCol>
                <a:gridCol w="3762375">
                  <a:extLst>
                    <a:ext uri="{9D8B030D-6E8A-4147-A177-3AD203B41FA5}">
                      <a16:colId xmlns:a16="http://schemas.microsoft.com/office/drawing/2014/main" val="20001"/>
                    </a:ext>
                  </a:extLst>
                </a:gridCol>
              </a:tblGrid>
              <a:tr h="981075">
                <a:tc>
                  <a:txBody>
                    <a:bodyPr/>
                    <a:lstStyle/>
                    <a:p>
                      <a:pPr algn="l"/>
                      <a:r>
                        <a:rPr sz="1425" b="1">
                          <a:solidFill>
                            <a:srgbClr val="20282C"/>
                          </a:solidFill>
                          <a:latin typeface="Arial"/>
                          <a:ea typeface="Arial"/>
                          <a:cs typeface="Arial"/>
                        </a:rPr>
                        <a:t>01 / ENERGY</a:t>
                      </a:r>
                    </a:p>
                    <a:p>
                      <a:pPr algn="l"/>
                      <a:r>
                        <a:rPr sz="1425" b="1">
                          <a:solidFill>
                            <a:srgbClr val="20282C"/>
                          </a:solidFill>
                          <a:latin typeface="Arial"/>
                          <a:ea typeface="Arial"/>
                          <a:cs typeface="Arial"/>
                        </a:rPr>
                        <a:t>kWh per day</a:t>
                      </a:r>
                    </a:p>
                  </a:txBody>
                  <a:tcPr marL="133350" marR="114300" marT="114300" marB="114300" anchor="ctr">
                    <a:lnL w="0">
                      <a:solidFill>
                        <a:srgbClr val="FFFFFF"/>
                      </a:solidFill>
                    </a:lnL>
                    <a:lnT w="0">
                      <a:solidFill>
                        <a:srgbClr val="FFFFFF"/>
                      </a:solidFill>
                    </a:lnT>
                    <a:solidFill>
                      <a:srgbClr val="F1F4F5"/>
                    </a:solidFill>
                  </a:tcPr>
                </a:tc>
                <a:tc>
                  <a:txBody>
                    <a:bodyPr/>
                    <a:lstStyle/>
                    <a:p>
                      <a:pPr algn="l"/>
                      <a:r>
                        <a:rPr sz="1388" b="0">
                          <a:solidFill>
                            <a:srgbClr val="536069"/>
                          </a:solidFill>
                          <a:latin typeface="Arial"/>
                          <a:ea typeface="Arial"/>
                          <a:cs typeface="Arial"/>
                        </a:rPr>
                        <a:t>Weather, solar + internal gains [7]</a:t>
                      </a:r>
                    </a:p>
                    <a:p>
                      <a:pPr algn="l"/>
                      <a:r>
                        <a:rPr sz="1388" b="0">
                          <a:solidFill>
                            <a:srgbClr val="536069"/>
                          </a:solidFill>
                          <a:latin typeface="Arial"/>
                          <a:ea typeface="Arial"/>
                          <a:cs typeface="Arial"/>
                        </a:rPr>
                        <a:t>Schedule + equipment efficiency</a:t>
                      </a:r>
                    </a:p>
                    <a:p>
                      <a:pPr algn="l"/>
                      <a:r>
                        <a:rPr sz="1388" b="0">
                          <a:solidFill>
                            <a:srgbClr val="536069"/>
                          </a:solidFill>
                          <a:latin typeface="Arial"/>
                          <a:ea typeface="Arial"/>
                          <a:cs typeface="Arial"/>
                        </a:rPr>
                        <a:t>Representative-day evaluation [4]</a:t>
                      </a:r>
                    </a:p>
                  </a:txBody>
                  <a:tcPr marL="133350" marR="114300" marT="114300" marB="114300" anchor="ctr">
                    <a:lnR w="0">
                      <a:solidFill>
                        <a:srgbClr val="FFFFFF"/>
                      </a:solidFill>
                    </a:lnR>
                    <a:lnT w="0">
                      <a:solidFill>
                        <a:srgbClr val="FFFFFF"/>
                      </a:solidFill>
                    </a:lnT>
                    <a:solidFill>
                      <a:srgbClr val="FFFFFF"/>
                    </a:solidFill>
                  </a:tcPr>
                </a:tc>
                <a:extLst>
                  <a:ext uri="{0D108BD9-81ED-4DB2-BD59-A6C34878D82A}">
                    <a16:rowId xmlns:a16="http://schemas.microsoft.com/office/drawing/2014/main" val="10000"/>
                  </a:ext>
                </a:extLst>
              </a:tr>
              <a:tr h="981075">
                <a:tc>
                  <a:txBody>
                    <a:bodyPr/>
                    <a:lstStyle/>
                    <a:p>
                      <a:pPr algn="l"/>
                      <a:r>
                        <a:rPr sz="1425" b="1">
                          <a:solidFill>
                            <a:srgbClr val="20282C"/>
                          </a:solidFill>
                          <a:latin typeface="Arial"/>
                          <a:ea typeface="Arial"/>
                          <a:cs typeface="Arial"/>
                        </a:rPr>
                        <a:t>02 / COMFORT</a:t>
                      </a:r>
                    </a:p>
                    <a:p>
                      <a:pPr algn="l"/>
                      <a:r>
                        <a:rPr sz="1425" b="1">
                          <a:solidFill>
                            <a:srgbClr val="20282C"/>
                          </a:solidFill>
                          <a:latin typeface="Arial"/>
                          <a:ea typeface="Arial"/>
                          <a:cs typeface="Arial"/>
                        </a:rPr>
                        <a:t>At each seat</a:t>
                      </a:r>
                    </a:p>
                  </a:txBody>
                  <a:tcPr marL="133350" marR="114300" marT="114300" marB="114300" anchor="ctr">
                    <a:lnL w="0">
                      <a:solidFill>
                        <a:srgbClr val="FFFFFF"/>
                      </a:solidFill>
                    </a:lnL>
                    <a:solidFill>
                      <a:srgbClr val="F1F4F5"/>
                    </a:solidFill>
                  </a:tcPr>
                </a:tc>
                <a:tc>
                  <a:txBody>
                    <a:bodyPr/>
                    <a:lstStyle/>
                    <a:p>
                      <a:pPr algn="l"/>
                      <a:r>
                        <a:rPr sz="1388" b="0">
                          <a:solidFill>
                            <a:srgbClr val="536069"/>
                          </a:solidFill>
                          <a:latin typeface="Arial"/>
                          <a:ea typeface="Arial"/>
                          <a:cs typeface="Arial"/>
                        </a:rPr>
                        <a:t>Air + mean radiant temperature;</a:t>
                      </a:r>
                    </a:p>
                    <a:p>
                      <a:pPr algn="l"/>
                      <a:r>
                        <a:rPr sz="1388" b="0">
                          <a:solidFill>
                            <a:srgbClr val="536069"/>
                          </a:solidFill>
                          <a:latin typeface="Arial"/>
                          <a:ea typeface="Arial"/>
                          <a:cs typeface="Arial"/>
                        </a:rPr>
                        <a:t>air speed + humidity + clothing;</a:t>
                      </a:r>
                    </a:p>
                    <a:p>
                      <a:pPr algn="l"/>
                      <a:r>
                        <a:rPr sz="1388" b="0">
                          <a:solidFill>
                            <a:srgbClr val="536069"/>
                          </a:solidFill>
                          <a:latin typeface="Arial"/>
                          <a:ea typeface="Arial"/>
                          <a:cs typeface="Arial"/>
                        </a:rPr>
                        <a:t>activity; local evaluation [6]</a:t>
                      </a:r>
                    </a:p>
                  </a:txBody>
                  <a:tcPr marL="133350" marR="114300" marT="114300" marB="114300" anchor="ctr">
                    <a:lnR w="0">
                      <a:solidFill>
                        <a:srgbClr val="FFFFFF"/>
                      </a:solidFill>
                    </a:lnR>
                    <a:solidFill>
                      <a:srgbClr val="FFFFFF"/>
                    </a:solidFill>
                  </a:tcPr>
                </a:tc>
                <a:extLst>
                  <a:ext uri="{0D108BD9-81ED-4DB2-BD59-A6C34878D82A}">
                    <a16:rowId xmlns:a16="http://schemas.microsoft.com/office/drawing/2014/main" val="10001"/>
                  </a:ext>
                </a:extLst>
              </a:tr>
              <a:tr h="981075">
                <a:tc>
                  <a:txBody>
                    <a:bodyPr/>
                    <a:lstStyle/>
                    <a:p>
                      <a:pPr algn="l"/>
                      <a:r>
                        <a:rPr sz="1425" b="1">
                          <a:solidFill>
                            <a:srgbClr val="20282C"/>
                          </a:solidFill>
                          <a:latin typeface="Arial"/>
                          <a:ea typeface="Arial"/>
                          <a:cs typeface="Arial"/>
                        </a:rPr>
                        <a:t>03 / CHOICE</a:t>
                      </a:r>
                    </a:p>
                    <a:p>
                      <a:pPr algn="l"/>
                      <a:r>
                        <a:rPr sz="1425" b="1">
                          <a:solidFill>
                            <a:srgbClr val="20282C"/>
                          </a:solidFill>
                          <a:latin typeface="Arial"/>
                          <a:ea typeface="Arial"/>
                          <a:cs typeface="Arial"/>
                        </a:rPr>
                        <a:t>Baseline vs options</a:t>
                      </a:r>
                    </a:p>
                  </a:txBody>
                  <a:tcPr marL="133350" marR="114300" marT="114300" marB="114300" anchor="ctr">
                    <a:lnL w="0">
                      <a:solidFill>
                        <a:srgbClr val="FFFFFF"/>
                      </a:solidFill>
                    </a:lnL>
                    <a:lnB w="6668">
                      <a:solidFill>
                        <a:srgbClr val="D7DFE3"/>
                      </a:solidFill>
                    </a:lnB>
                    <a:solidFill>
                      <a:srgbClr val="F1F4F5"/>
                    </a:solidFill>
                  </a:tcPr>
                </a:tc>
                <a:tc>
                  <a:txBody>
                    <a:bodyPr/>
                    <a:lstStyle/>
                    <a:p>
                      <a:pPr algn="l"/>
                      <a:r>
                        <a:rPr sz="1388" b="0">
                          <a:solidFill>
                            <a:srgbClr val="536069"/>
                          </a:solidFill>
                          <a:latin typeface="Arial"/>
                          <a:ea typeface="Arial"/>
                          <a:cs typeface="Arial"/>
                        </a:rPr>
                        <a:t>Same room, weather and occupancy</a:t>
                      </a:r>
                    </a:p>
                    <a:p>
                      <a:pPr algn="l"/>
                      <a:r>
                        <a:rPr sz="1388" b="0">
                          <a:solidFill>
                            <a:srgbClr val="536069"/>
                          </a:solidFill>
                          <a:latin typeface="Arial"/>
                          <a:ea typeface="Arial"/>
                          <a:cs typeface="Arial"/>
                        </a:rPr>
                        <a:t>Energy + comfort constraints [3,4]</a:t>
                      </a:r>
                    </a:p>
                    <a:p>
                      <a:pPr algn="l"/>
                      <a:r>
                        <a:rPr sz="1388" b="0">
                          <a:solidFill>
                            <a:srgbClr val="536069"/>
                          </a:solidFill>
                          <a:latin typeface="Arial"/>
                          <a:ea typeface="Arial"/>
                          <a:cs typeface="Arial"/>
                        </a:rPr>
                        <a:t>Compare valid, current results</a:t>
                      </a:r>
                    </a:p>
                  </a:txBody>
                  <a:tcPr marL="133350" marR="114300" marT="114300" marB="114300" anchor="ctr">
                    <a:lnR w="0">
                      <a:solidFill>
                        <a:srgbClr val="FFFFFF"/>
                      </a:solidFill>
                    </a:lnR>
                    <a:lnB w="6668">
                      <a:solidFill>
                        <a:srgbClr val="D7DFE3"/>
                      </a:solidFill>
                    </a:lnB>
                    <a:solidFill>
                      <a:srgbClr val="FFFFFF"/>
                    </a:solidFill>
                  </a:tcPr>
                </a:tc>
                <a:extLst>
                  <a:ext uri="{0D108BD9-81ED-4DB2-BD59-A6C34878D82A}">
                    <a16:rowId xmlns:a16="http://schemas.microsoft.com/office/drawing/2014/main" val="10002"/>
                  </a:ext>
                </a:extLst>
              </a:tr>
            </a:tbl>
          </a:graphicData>
        </a:graphic>
      </p:graphicFrame>
      <p:sp>
        <p:nvSpPr>
          <p:cNvPr id="19" name="room-research-question">
            <a:extLst>
              <a:ext uri="{FF2B5EF4-FFF2-40B4-BE49-F238E27FC236}">
                <a16:creationId xmlns:a16="http://schemas.microsoft.com/office/drawing/2014/main" id="{0807C2D0-D649-469C-B2D9-F89E897020A2}"/>
              </a:ext>
            </a:extLst>
          </p:cNvPr>
          <p:cNvSpPr>
            <a:spLocks noGrp="1"/>
          </p:cNvSpPr>
          <p:nvPr/>
        </p:nvSpPr>
        <p:spPr>
          <a:xfrm>
            <a:off x="685800" y="5895975"/>
            <a:ext cx="10096500" cy="552450"/>
          </a:xfrm>
          <a:prstGeom prst="rect">
            <a:avLst/>
          </a:prstGeom>
          <a:noFill/>
          <a:ln w="0">
            <a:noFill/>
          </a:ln>
        </p:spPr>
        <p:txBody>
          <a:bodyPr wrap="square" lIns="0" tIns="0" rIns="0" bIns="0" anchor="t">
            <a:noAutofit/>
          </a:bodyPr>
          <a:lstStyle>
            <a:defPPr algn="l">
              <a:defRPr sz="1800" b="1">
                <a:solidFill>
                  <a:srgbClr val="20282C"/>
                </a:solidFill>
                <a:latin typeface="Arial"/>
                <a:ea typeface="Arial"/>
                <a:cs typeface="Arial"/>
              </a:defRPr>
            </a:defPPr>
          </a:lstStyle>
          <a:p>
            <a:pPr algn="l">
              <a:defRPr sz="1800" b="1">
                <a:solidFill>
                  <a:srgbClr val="20282C"/>
                </a:solidFill>
                <a:latin typeface="Arial"/>
                <a:ea typeface="Arial"/>
                <a:cs typeface="Arial"/>
              </a:defRPr>
            </a:pPr>
            <a:r>
              <a:rPr sz="1800" b="1">
                <a:solidFill>
                  <a:srgbClr val="20282C"/>
                </a:solidFill>
                <a:latin typeface="Arial"/>
                <a:ea typeface="Arial"/>
                <a:cs typeface="Arial"/>
              </a:rPr>
              <a:t>Which AC placement and settings can reduce electricity use</a:t>
            </a:r>
          </a:p>
          <a:p>
            <a:pPr algn="l">
              <a:defRPr sz="1800" b="1">
                <a:solidFill>
                  <a:srgbClr val="20282C"/>
                </a:solidFill>
                <a:latin typeface="Arial"/>
                <a:ea typeface="Arial"/>
                <a:cs typeface="Arial"/>
              </a:defRPr>
            </a:pPr>
            <a:r>
              <a:rPr sz="1800" b="1">
                <a:solidFill>
                  <a:srgbClr val="20282C"/>
                </a:solidFill>
                <a:latin typeface="Arial"/>
                <a:ea typeface="Arial"/>
                <a:cs typeface="Arial"/>
              </a:rPr>
              <a:t>while maintaining comfort at occupied seats?</a:t>
            </a:r>
          </a:p>
        </p:txBody>
      </p:sp>
      <p:sp>
        <p:nvSpPr>
          <p:cNvPr id="20" name="room-citations">
            <a:extLst>
              <a:ext uri="{FF2B5EF4-FFF2-40B4-BE49-F238E27FC236}">
                <a16:creationId xmlns:a16="http://schemas.microsoft.com/office/drawing/2014/main" id="{35C8BDEA-9F4E-4FAF-A2FB-E187576A3D30}"/>
              </a:ext>
            </a:extLst>
          </p:cNvPr>
          <p:cNvSpPr>
            <a:spLocks noGrp="1"/>
          </p:cNvSpPr>
          <p:nvPr/>
        </p:nvSpPr>
        <p:spPr>
          <a:xfrm>
            <a:off x="685800" y="6467475"/>
            <a:ext cx="10287000" cy="276225"/>
          </a:xfrm>
          <a:prstGeom prst="rect">
            <a:avLst/>
          </a:prstGeom>
          <a:noFill/>
          <a:ln w="0">
            <a:noFill/>
          </a:ln>
        </p:spPr>
        <p:txBody>
          <a:bodyPr wrap="square" lIns="0" tIns="0" rIns="0" bIns="0" anchor="t">
            <a:noAutofit/>
          </a:bodyPr>
          <a:lstStyle>
            <a:defPPr algn="l">
              <a:defRPr sz="938" b="0">
                <a:solidFill>
                  <a:srgbClr val="64727A"/>
                </a:solidFill>
                <a:latin typeface="Arial"/>
                <a:ea typeface="Arial"/>
                <a:cs typeface="Arial"/>
              </a:defRPr>
            </a:defPPr>
          </a:lstStyle>
          <a:p>
            <a:pPr algn="l">
              <a:defRPr sz="938" b="0">
                <a:solidFill>
                  <a:srgbClr val="64727A"/>
                </a:solidFill>
                <a:latin typeface="Arial"/>
                <a:ea typeface="Arial"/>
                <a:cs typeface="Arial"/>
              </a:defRPr>
            </a:pPr>
            <a:r>
              <a:rPr sz="938" b="0">
                <a:solidFill>
                  <a:srgbClr val="64727A"/>
                </a:solidFill>
                <a:latin typeface="Arial"/>
                <a:ea typeface="Arial"/>
                <a:cs typeface="Arial"/>
              </a:rPr>
              <a:t>[6] ASHRAE Standard 55-2023, official overview. [7] EnergyPlus Engineering Reference, “Zone Internal Gains”.</a:t>
            </a:r>
          </a:p>
          <a:p>
            <a:pPr algn="l">
              <a:defRPr sz="938" b="0">
                <a:solidFill>
                  <a:srgbClr val="64727A"/>
                </a:solidFill>
                <a:latin typeface="Arial"/>
                <a:ea typeface="Arial"/>
                <a:cs typeface="Arial"/>
              </a:defRPr>
            </a:pPr>
            <a:r>
              <a:rPr sz="938" b="0">
                <a:solidFill>
                  <a:srgbClr val="64727A"/>
                </a:solidFill>
                <a:latin typeface="Arial"/>
                <a:ea typeface="Arial"/>
                <a:cs typeface="Arial"/>
              </a:rPr>
              <a:t>[3,4] SimuNow scope and methodology. Proposed evaluation framework; no savings or computed comfort results are shown.</a:t>
            </a:r>
          </a:p>
        </p:txBody>
      </p:sp>
    </p:spTree>
    <p:extLst>
      <p:ext uri="{BB962C8B-B14F-4D97-AF65-F5344CB8AC3E}">
        <p14:creationId xmlns:p14="http://schemas.microsoft.com/office/powerpoint/2010/main" val="102111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imunow-brand">
            <a:extLst>
              <a:ext uri="{FF2B5EF4-FFF2-40B4-BE49-F238E27FC236}">
                <a16:creationId xmlns:a16="http://schemas.microsoft.com/office/drawing/2014/main" id="{3ED8CDED-C848-4700-9959-DCC40C0D28A8}"/>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2" name="slide-title">
            <a:extLst>
              <a:ext uri="{FF2B5EF4-FFF2-40B4-BE49-F238E27FC236}">
                <a16:creationId xmlns:a16="http://schemas.microsoft.com/office/drawing/2014/main" id="{F86055B1-548C-44E7-B83C-26D456305ECE}"/>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Introducing SimuNow</a:t>
            </a:r>
          </a:p>
        </p:txBody>
      </p:sp>
      <p:sp>
        <p:nvSpPr>
          <p:cNvPr id="3" name="product-definition">
            <a:extLst>
              <a:ext uri="{FF2B5EF4-FFF2-40B4-BE49-F238E27FC236}">
                <a16:creationId xmlns:a16="http://schemas.microsoft.com/office/drawing/2014/main" id="{816E7956-DBB9-486F-B39F-7956CB00919D}"/>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2025" b="0">
                <a:solidFill>
                  <a:srgbClr val="536069"/>
                </a:solidFill>
                <a:latin typeface="Arial"/>
                <a:ea typeface="Arial"/>
                <a:cs typeface="Arial"/>
              </a:defRPr>
            </a:defPPr>
          </a:lstStyle>
          <a:p>
            <a:pPr algn="l">
              <a:defRPr sz="2025" b="0">
                <a:solidFill>
                  <a:srgbClr val="536069"/>
                </a:solidFill>
                <a:latin typeface="Arial"/>
                <a:ea typeface="Arial"/>
                <a:cs typeface="Arial"/>
              </a:defRPr>
            </a:pPr>
            <a:r>
              <a:rPr sz="2025" b="0">
                <a:solidFill>
                  <a:srgbClr val="536069"/>
                </a:solidFill>
                <a:latin typeface="Arial"/>
                <a:ea typeface="Arial"/>
                <a:cs typeface="Arial"/>
              </a:rPr>
              <a:t>A Mac-first workspace for indoor AC configuration and analysis</a:t>
            </a:r>
          </a:p>
        </p:txBody>
      </p:sp>
      <p:sp>
        <p:nvSpPr>
          <p:cNvPr id="4" name="page-4">
            <a:extLst>
              <a:ext uri="{FF2B5EF4-FFF2-40B4-BE49-F238E27FC236}">
                <a16:creationId xmlns:a16="http://schemas.microsoft.com/office/drawing/2014/main" id="{F65CDB98-40CC-4F9E-B7A9-E331251F006E}"/>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04</a:t>
            </a:r>
          </a:p>
        </p:txBody>
      </p:sp>
      <p:sp>
        <p:nvSpPr>
          <p:cNvPr id="5" name="workspace-heading">
            <a:extLst>
              <a:ext uri="{FF2B5EF4-FFF2-40B4-BE49-F238E27FC236}">
                <a16:creationId xmlns:a16="http://schemas.microsoft.com/office/drawing/2014/main" id="{412BF3FA-03F4-4912-B7EE-1646E920F789}"/>
              </a:ext>
            </a:extLst>
          </p:cNvPr>
          <p:cNvSpPr>
            <a:spLocks noGrp="1"/>
          </p:cNvSpPr>
          <p:nvPr/>
        </p:nvSpPr>
        <p:spPr>
          <a:xfrm>
            <a:off x="685800" y="2266950"/>
            <a:ext cx="61912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ONE ROOM MODEL</a:t>
            </a:r>
          </a:p>
        </p:txBody>
      </p:sp>
      <p:pic>
        <p:nvPicPr>
          <p:cNvPr id="7" name="Picture 6">
            <a:extLst>
              <a:ext uri="{FF2B5EF4-FFF2-40B4-BE49-F238E27FC236}">
                <a16:creationId xmlns:a16="http://schemas.microsoft.com/office/drawing/2014/main" id="{7A46F701-1D70-48AA-A7D4-7D58CB01ADE6}"/>
              </a:ext>
            </a:extLst>
          </p:cNvPr>
          <p:cNvPicPr>
            <a:picLocks noChangeAspect="1"/>
          </p:cNvPicPr>
          <p:nvPr/>
        </p:nvPicPr>
        <p:blipFill>
          <a:blip r:embed="rId3"/>
          <a:stretch/>
        </p:blipFill>
        <p:spPr>
          <a:xfrm>
            <a:off x="771525" y="2667000"/>
            <a:ext cx="6019800" cy="3009900"/>
          </a:xfrm>
          <a:prstGeom prst="rect">
            <a:avLst/>
          </a:prstGeom>
        </p:spPr>
      </p:pic>
      <p:sp>
        <p:nvSpPr>
          <p:cNvPr id="8" name="workspace-caption">
            <a:extLst>
              <a:ext uri="{FF2B5EF4-FFF2-40B4-BE49-F238E27FC236}">
                <a16:creationId xmlns:a16="http://schemas.microsoft.com/office/drawing/2014/main" id="{CA362490-85FC-40A7-9B0D-6868BD8E187D}"/>
              </a:ext>
            </a:extLst>
          </p:cNvPr>
          <p:cNvSpPr>
            <a:spLocks noGrp="1"/>
          </p:cNvSpPr>
          <p:nvPr/>
        </p:nvSpPr>
        <p:spPr>
          <a:xfrm>
            <a:off x="685800" y="5753100"/>
            <a:ext cx="6191250" cy="257175"/>
          </a:xfrm>
          <a:prstGeom prst="rect">
            <a:avLst/>
          </a:prstGeom>
          <a:noFill/>
          <a:ln w="0">
            <a:noFill/>
          </a:ln>
        </p:spPr>
        <p:txBody>
          <a:bodyPr wrap="square" lIns="0" tIns="0" rIns="0" bIns="0" anchor="t">
            <a:noAutofit/>
          </a:bodyPr>
          <a:lstStyle>
            <a:defPPr algn="l">
              <a:defRPr sz="1088" b="0">
                <a:solidFill>
                  <a:srgbClr val="64727A"/>
                </a:solidFill>
                <a:latin typeface="Arial"/>
                <a:ea typeface="Arial"/>
                <a:cs typeface="Arial"/>
              </a:defRPr>
            </a:defPPr>
          </a:lstStyle>
          <a:p>
            <a:pPr algn="l">
              <a:defRPr sz="1088" b="0">
                <a:solidFill>
                  <a:srgbClr val="64727A"/>
                </a:solidFill>
                <a:latin typeface="Arial"/>
                <a:ea typeface="Arial"/>
                <a:cs typeface="Arial"/>
              </a:defRPr>
            </a:pPr>
            <a:r>
              <a:rPr sz="1088" b="0">
                <a:solidFill>
                  <a:srgbClr val="64727A"/>
                </a:solidFill>
                <a:latin typeface="Arial"/>
                <a:ea typeface="Arial"/>
                <a:cs typeface="Arial"/>
              </a:rPr>
              <a:t>Planned interface concept. Initial scope: one office or classroom.</a:t>
            </a:r>
          </a:p>
        </p:txBody>
      </p:sp>
      <p:sp>
        <p:nvSpPr>
          <p:cNvPr id="17" name="platform-label">
            <a:extLst>
              <a:ext uri="{FF2B5EF4-FFF2-40B4-BE49-F238E27FC236}">
                <a16:creationId xmlns:a16="http://schemas.microsoft.com/office/drawing/2014/main" id="{E795528B-92C2-48C3-9B5F-5B59602FFC27}"/>
              </a:ext>
            </a:extLst>
          </p:cNvPr>
          <p:cNvSpPr>
            <a:spLocks noGrp="1"/>
          </p:cNvSpPr>
          <p:nvPr/>
        </p:nvSpPr>
        <p:spPr>
          <a:xfrm>
            <a:off x="685800" y="6143625"/>
            <a:ext cx="1714500" cy="266700"/>
          </a:xfrm>
          <a:prstGeom prst="rect">
            <a:avLst/>
          </a:prstGeom>
          <a:noFill/>
          <a:ln w="0">
            <a:noFill/>
          </a:ln>
        </p:spPr>
        <p:txBody>
          <a:bodyPr wrap="square" lIns="0" tIns="0" rIns="0" bIns="0" anchor="t">
            <a:noAutofit/>
          </a:bodyPr>
          <a:lstStyle>
            <a:defPPr algn="l">
              <a:defRPr sz="1275" b="1">
                <a:solidFill>
                  <a:srgbClr val="277F89"/>
                </a:solidFill>
                <a:latin typeface="Arial"/>
                <a:ea typeface="Arial"/>
                <a:cs typeface="Arial"/>
              </a:defRPr>
            </a:defPPr>
          </a:lstStyle>
          <a:p>
            <a:pPr algn="l">
              <a:defRPr sz="1275" b="1">
                <a:solidFill>
                  <a:srgbClr val="277F89"/>
                </a:solidFill>
                <a:latin typeface="Arial"/>
                <a:ea typeface="Arial"/>
                <a:cs typeface="Arial"/>
              </a:defRPr>
            </a:pPr>
            <a:r>
              <a:rPr sz="1275" b="1">
                <a:solidFill>
                  <a:srgbClr val="277F89"/>
                </a:solidFill>
                <a:latin typeface="Arial"/>
                <a:ea typeface="Arial"/>
                <a:cs typeface="Arial"/>
              </a:rPr>
              <a:t>PLATFORM DESIGN</a:t>
            </a:r>
          </a:p>
        </p:txBody>
      </p:sp>
      <p:sp>
        <p:nvSpPr>
          <p:cNvPr id="18" name="platform-body">
            <a:extLst>
              <a:ext uri="{FF2B5EF4-FFF2-40B4-BE49-F238E27FC236}">
                <a16:creationId xmlns:a16="http://schemas.microsoft.com/office/drawing/2014/main" id="{2D3536A0-FA29-44F2-841D-A9A22BB5D235}"/>
              </a:ext>
            </a:extLst>
          </p:cNvPr>
          <p:cNvSpPr>
            <a:spLocks noGrp="1"/>
          </p:cNvSpPr>
          <p:nvPr/>
        </p:nvSpPr>
        <p:spPr>
          <a:xfrm>
            <a:off x="2543175" y="6134100"/>
            <a:ext cx="8963025" cy="295275"/>
          </a:xfrm>
          <a:prstGeom prst="rect">
            <a:avLst/>
          </a:prstGeom>
          <a:noFill/>
          <a:ln w="0">
            <a:noFill/>
          </a:ln>
        </p:spPr>
        <p:txBody>
          <a:bodyPr wrap="square" lIns="0" tIns="0" rIns="0" bIns="0" anchor="t">
            <a:noAutofit/>
          </a:bodyPr>
          <a:lstStyle>
            <a:defPPr algn="l">
              <a:defRPr sz="1500" b="0">
                <a:solidFill>
                  <a:srgbClr val="536069"/>
                </a:solidFill>
                <a:latin typeface="Arial"/>
                <a:ea typeface="Arial"/>
                <a:cs typeface="Arial"/>
              </a:defRPr>
            </a:defPPr>
          </a:lstStyle>
          <a:p>
            <a:pPr algn="l">
              <a:defRPr sz="1500" b="0">
                <a:solidFill>
                  <a:srgbClr val="536069"/>
                </a:solidFill>
                <a:latin typeface="Arial"/>
                <a:ea typeface="Arial"/>
                <a:cs typeface="Arial"/>
              </a:defRPr>
            </a:pPr>
            <a:r>
              <a:rPr sz="1500" b="0">
                <a:solidFill>
                  <a:srgbClr val="536069"/>
                </a:solidFill>
                <a:latin typeface="Arial"/>
                <a:ea typeface="Arial"/>
                <a:cs typeface="Arial"/>
              </a:rPr>
              <a:t>Mac workspace and inspector, with adaptive iPad and iPhone views.</a:t>
            </a:r>
          </a:p>
        </p:txBody>
      </p:sp>
      <p:sp>
        <p:nvSpPr>
          <p:cNvPr id="19" name="product-source">
            <a:extLst>
              <a:ext uri="{FF2B5EF4-FFF2-40B4-BE49-F238E27FC236}">
                <a16:creationId xmlns:a16="http://schemas.microsoft.com/office/drawing/2014/main" id="{E0BB40EA-A196-42FD-87F3-EE23F17CC9C8}"/>
              </a:ext>
            </a:extLst>
          </p:cNvPr>
          <p:cNvSpPr>
            <a:spLocks noGrp="1"/>
          </p:cNvSpPr>
          <p:nvPr/>
        </p:nvSpPr>
        <p:spPr>
          <a:xfrm>
            <a:off x="685800" y="6496050"/>
            <a:ext cx="10287000" cy="323850"/>
          </a:xfrm>
          <a:prstGeom prst="rect">
            <a:avLst/>
          </a:prstGeom>
          <a:noFill/>
          <a:ln w="0">
            <a:noFill/>
          </a:ln>
        </p:spPr>
        <p:txBody>
          <a:bodyPr wrap="square" lIns="0" tIns="0" rIns="0" bIns="0" anchor="t">
            <a:noAutofit/>
          </a:bodyPr>
          <a:lstStyle>
            <a:defPPr algn="l">
              <a:defRPr sz="1013" b="0">
                <a:solidFill>
                  <a:srgbClr val="64727A"/>
                </a:solidFill>
                <a:latin typeface="Arial"/>
                <a:ea typeface="Arial"/>
                <a:cs typeface="Arial"/>
              </a:defRPr>
            </a:defPPr>
          </a:lstStyle>
          <a:p>
            <a:pPr algn="l">
              <a:defRPr sz="1013" b="0">
                <a:solidFill>
                  <a:srgbClr val="64727A"/>
                </a:solidFill>
                <a:latin typeface="Arial"/>
                <a:ea typeface="Arial"/>
                <a:cs typeface="Arial"/>
              </a:defRPr>
            </a:pPr>
            <a:r>
              <a:rPr sz="1013" b="0">
                <a:solidFill>
                  <a:srgbClr val="64727A"/>
                </a:solidFill>
                <a:latin typeface="Arial"/>
                <a:ea typeface="Arial"/>
                <a:cs typeface="Arial"/>
              </a:rPr>
              <a:t>[4] AGENTS.md: product scope, interface guidelines, physical constraints and run records.</a:t>
            </a:r>
          </a:p>
          <a:p>
            <a:pPr algn="l">
              <a:defRPr sz="1013" b="0">
                <a:solidFill>
                  <a:srgbClr val="64727A"/>
                </a:solidFill>
                <a:latin typeface="Arial"/>
                <a:ea typeface="Arial"/>
                <a:cs typeface="Arial"/>
              </a:defRPr>
            </a:pPr>
            <a:r>
              <a:rPr sz="1013" b="0">
                <a:solidFill>
                  <a:srgbClr val="64727A"/>
                </a:solidFill>
                <a:latin typeface="Arial"/>
                <a:ea typeface="Arial"/>
                <a:cs typeface="Arial"/>
              </a:rPr>
              <a:t>Product vision. Current: native app foundation. Numerical engines and decision evaluation are not connected.</a:t>
            </a:r>
          </a:p>
        </p:txBody>
      </p:sp>
      <p:cxnSp>
        <p:nvCxnSpPr>
          <p:cNvPr id="21" name="Elbow Connector 20">
            <a:extLst>
              <a:ext uri="{FF2B5EF4-FFF2-40B4-BE49-F238E27FC236}">
                <a16:creationId xmlns:a16="http://schemas.microsoft.com/office/drawing/2014/main" id="{88CE43E3-C39E-4C15-B34E-0217FE58FD2E}"/>
              </a:ext>
            </a:extLst>
          </p:cNvPr>
          <p:cNvCxnSpPr>
            <a:stCxn id="38" idx="2"/>
            <a:endCxn id="43" idx="0"/>
          </p:cNvCxnSpPr>
          <p:nvPr/>
        </p:nvCxnSpPr>
        <p:spPr>
          <a:xfrm>
            <a:off x="9382125" y="5076825"/>
            <a:ext cx="1466850" cy="257175"/>
          </a:xfrm>
          <a:prstGeom prst="bentConnector4">
            <a:avLst>
              <a:gd name="adj1" fmla="val 0"/>
              <a:gd name="adj2" fmla="val 50000"/>
            </a:avLst>
          </a:prstGeom>
          <a:ln w="14288">
            <a:solidFill>
              <a:srgbClr val="277F89"/>
            </a:solidFill>
            <a:tailEnd type="triangle" w="sm" len="sm"/>
          </a:ln>
        </p:spPr>
      </p:cxnSp>
      <p:cxnSp>
        <p:nvCxnSpPr>
          <p:cNvPr id="22" name="Straight Arrow Connector 21">
            <a:extLst>
              <a:ext uri="{FF2B5EF4-FFF2-40B4-BE49-F238E27FC236}">
                <a16:creationId xmlns:a16="http://schemas.microsoft.com/office/drawing/2014/main" id="{9EEC4F7D-9C13-4B02-A628-3CB0DE96E98C}"/>
              </a:ext>
            </a:extLst>
          </p:cNvPr>
          <p:cNvCxnSpPr>
            <a:stCxn id="38" idx="2"/>
            <a:endCxn id="42" idx="0"/>
          </p:cNvCxnSpPr>
          <p:nvPr/>
        </p:nvCxnSpPr>
        <p:spPr>
          <a:xfrm>
            <a:off x="9382125" y="5076825"/>
            <a:ext cx="0" cy="257175"/>
          </a:xfrm>
          <a:prstGeom prst="straightConnector1">
            <a:avLst/>
          </a:prstGeom>
          <a:ln w="14288">
            <a:solidFill>
              <a:srgbClr val="277F89"/>
            </a:solidFill>
            <a:tailEnd type="triangle" w="sm" len="sm"/>
          </a:ln>
        </p:spPr>
      </p:cxnSp>
      <p:cxnSp>
        <p:nvCxnSpPr>
          <p:cNvPr id="23" name="Elbow Connector 22">
            <a:extLst>
              <a:ext uri="{FF2B5EF4-FFF2-40B4-BE49-F238E27FC236}">
                <a16:creationId xmlns:a16="http://schemas.microsoft.com/office/drawing/2014/main" id="{45241B79-E3F5-40F4-9838-A47259C5A44C}"/>
              </a:ext>
            </a:extLst>
          </p:cNvPr>
          <p:cNvCxnSpPr>
            <a:stCxn id="38" idx="2"/>
            <a:endCxn id="41" idx="0"/>
          </p:cNvCxnSpPr>
          <p:nvPr/>
        </p:nvCxnSpPr>
        <p:spPr>
          <a:xfrm flipH="1">
            <a:off x="7915275" y="5076825"/>
            <a:ext cx="1466850" cy="257175"/>
          </a:xfrm>
          <a:prstGeom prst="bentConnector4">
            <a:avLst>
              <a:gd name="adj1" fmla="val 0"/>
              <a:gd name="adj2" fmla="val 50000"/>
            </a:avLst>
          </a:prstGeom>
          <a:ln w="14288">
            <a:solidFill>
              <a:srgbClr val="277F89"/>
            </a:solidFill>
            <a:tailEnd type="triangle" w="sm" len="sm"/>
          </a:ln>
        </p:spPr>
      </p:cxnSp>
      <p:cxnSp>
        <p:nvCxnSpPr>
          <p:cNvPr id="24" name="Elbow Connector 23">
            <a:extLst>
              <a:ext uri="{FF2B5EF4-FFF2-40B4-BE49-F238E27FC236}">
                <a16:creationId xmlns:a16="http://schemas.microsoft.com/office/drawing/2014/main" id="{1E0BAF6B-D721-4462-99CA-91796DCF9D02}"/>
              </a:ext>
            </a:extLst>
          </p:cNvPr>
          <p:cNvCxnSpPr>
            <a:stCxn id="33" idx="2"/>
            <a:endCxn id="38" idx="0"/>
          </p:cNvCxnSpPr>
          <p:nvPr/>
        </p:nvCxnSpPr>
        <p:spPr>
          <a:xfrm flipH="1">
            <a:off x="9382125" y="4333875"/>
            <a:ext cx="1133475" cy="228600"/>
          </a:xfrm>
          <a:prstGeom prst="bentConnector4">
            <a:avLst>
              <a:gd name="adj1" fmla="val 0"/>
              <a:gd name="adj2" fmla="val 50000"/>
            </a:avLst>
          </a:prstGeom>
          <a:ln w="14288">
            <a:solidFill>
              <a:srgbClr val="277F89"/>
            </a:solidFill>
            <a:tailEnd type="triangle" w="sm" len="sm"/>
          </a:ln>
        </p:spPr>
      </p:cxnSp>
      <p:cxnSp>
        <p:nvCxnSpPr>
          <p:cNvPr id="25" name="Elbow Connector 24">
            <a:extLst>
              <a:ext uri="{FF2B5EF4-FFF2-40B4-BE49-F238E27FC236}">
                <a16:creationId xmlns:a16="http://schemas.microsoft.com/office/drawing/2014/main" id="{7D77BA01-3522-43BE-9AAE-C5132635CC9D}"/>
              </a:ext>
            </a:extLst>
          </p:cNvPr>
          <p:cNvCxnSpPr>
            <a:stCxn id="32" idx="2"/>
            <a:endCxn id="38" idx="0"/>
          </p:cNvCxnSpPr>
          <p:nvPr/>
        </p:nvCxnSpPr>
        <p:spPr>
          <a:xfrm>
            <a:off x="8229600" y="4333875"/>
            <a:ext cx="1152525" cy="228600"/>
          </a:xfrm>
          <a:prstGeom prst="bentConnector4">
            <a:avLst>
              <a:gd name="adj1" fmla="val 0"/>
              <a:gd name="adj2" fmla="val 50000"/>
            </a:avLst>
          </a:prstGeom>
          <a:ln w="14288">
            <a:solidFill>
              <a:srgbClr val="277F89"/>
            </a:solidFill>
            <a:tailEnd type="triangle" w="sm" len="sm"/>
          </a:ln>
        </p:spPr>
      </p:cxnSp>
      <p:cxnSp>
        <p:nvCxnSpPr>
          <p:cNvPr id="26" name="Elbow Connector 25">
            <a:extLst>
              <a:ext uri="{FF2B5EF4-FFF2-40B4-BE49-F238E27FC236}">
                <a16:creationId xmlns:a16="http://schemas.microsoft.com/office/drawing/2014/main" id="{53DE7557-950D-4239-9548-00A585FA34A8}"/>
              </a:ext>
            </a:extLst>
          </p:cNvPr>
          <p:cNvCxnSpPr>
            <a:stCxn id="29" idx="2"/>
            <a:endCxn id="33" idx="0"/>
          </p:cNvCxnSpPr>
          <p:nvPr/>
        </p:nvCxnSpPr>
        <p:spPr>
          <a:xfrm>
            <a:off x="9382125" y="3257550"/>
            <a:ext cx="1133475" cy="257175"/>
          </a:xfrm>
          <a:prstGeom prst="bentConnector4">
            <a:avLst>
              <a:gd name="adj1" fmla="val 0"/>
              <a:gd name="adj2" fmla="val 50000"/>
            </a:avLst>
          </a:prstGeom>
          <a:ln w="14288">
            <a:solidFill>
              <a:srgbClr val="277F89"/>
            </a:solidFill>
            <a:tailEnd type="triangle" w="sm" len="sm"/>
          </a:ln>
        </p:spPr>
      </p:cxnSp>
      <p:cxnSp>
        <p:nvCxnSpPr>
          <p:cNvPr id="27" name="Elbow Connector 26">
            <a:extLst>
              <a:ext uri="{FF2B5EF4-FFF2-40B4-BE49-F238E27FC236}">
                <a16:creationId xmlns:a16="http://schemas.microsoft.com/office/drawing/2014/main" id="{0B612C3B-F106-44D6-A697-4D0C4F55F8D3}"/>
              </a:ext>
            </a:extLst>
          </p:cNvPr>
          <p:cNvCxnSpPr>
            <a:stCxn id="29" idx="2"/>
            <a:endCxn id="32" idx="0"/>
          </p:cNvCxnSpPr>
          <p:nvPr/>
        </p:nvCxnSpPr>
        <p:spPr>
          <a:xfrm flipH="1">
            <a:off x="8229600" y="3257550"/>
            <a:ext cx="1152525" cy="257175"/>
          </a:xfrm>
          <a:prstGeom prst="bentConnector4">
            <a:avLst>
              <a:gd name="adj1" fmla="val 0"/>
              <a:gd name="adj2" fmla="val 50000"/>
            </a:avLst>
          </a:prstGeom>
          <a:ln w="14288">
            <a:solidFill>
              <a:srgbClr val="277F89"/>
            </a:solidFill>
            <a:tailEnd type="triangle" w="sm" len="sm"/>
          </a:ln>
        </p:spPr>
      </p:cxnSp>
      <p:sp>
        <p:nvSpPr>
          <p:cNvPr id="28" name="analysis-workflow-heading">
            <a:extLst>
              <a:ext uri="{FF2B5EF4-FFF2-40B4-BE49-F238E27FC236}">
                <a16:creationId xmlns:a16="http://schemas.microsoft.com/office/drawing/2014/main" id="{DC1110EE-B1C3-4DAF-B15E-047B947EF326}"/>
              </a:ext>
            </a:extLst>
          </p:cNvPr>
          <p:cNvSpPr>
            <a:spLocks noGrp="1"/>
          </p:cNvSpPr>
          <p:nvPr/>
        </p:nvSpPr>
        <p:spPr>
          <a:xfrm>
            <a:off x="7258050" y="2266950"/>
            <a:ext cx="42481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PLANNED ANALYSIS WORKFLOW</a:t>
            </a:r>
          </a:p>
        </p:txBody>
      </p:sp>
      <p:sp>
        <p:nvSpPr>
          <p:cNvPr id="29" name="shared-room-hvac-input">
            <a:extLst>
              <a:ext uri="{FF2B5EF4-FFF2-40B4-BE49-F238E27FC236}">
                <a16:creationId xmlns:a16="http://schemas.microsoft.com/office/drawing/2014/main" id="{D283EA8A-7E78-461D-B283-18047696DA67}"/>
              </a:ext>
            </a:extLst>
          </p:cNvPr>
          <p:cNvSpPr>
            <a:spLocks noGrp="1"/>
          </p:cNvSpPr>
          <p:nvPr/>
        </p:nvSpPr>
        <p:spPr>
          <a:xfrm>
            <a:off x="7258050" y="2638425"/>
            <a:ext cx="4248150" cy="619125"/>
          </a:xfrm>
          <a:prstGeom prst="rect">
            <a:avLst/>
          </a:prstGeom>
          <a:solidFill>
            <a:srgbClr val="F1F4F5"/>
          </a:solidFill>
          <a:ln w="9525">
            <a:solidFill>
              <a:srgbClr val="D7DFE3"/>
            </a:solidFill>
          </a:ln>
        </p:spPr>
        <p:txBody>
          <a:bodyPr/>
          <a:lstStyle/>
          <a:p>
            <a:endParaRPr lang="zh-CN" altLang="en-US"/>
          </a:p>
        </p:txBody>
      </p:sp>
      <p:sp>
        <p:nvSpPr>
          <p:cNvPr id="30" name="shared-input-title">
            <a:extLst>
              <a:ext uri="{FF2B5EF4-FFF2-40B4-BE49-F238E27FC236}">
                <a16:creationId xmlns:a16="http://schemas.microsoft.com/office/drawing/2014/main" id="{82524B91-8897-45B8-A6D3-31111282F3C1}"/>
              </a:ext>
            </a:extLst>
          </p:cNvPr>
          <p:cNvSpPr>
            <a:spLocks noGrp="1"/>
          </p:cNvSpPr>
          <p:nvPr/>
        </p:nvSpPr>
        <p:spPr>
          <a:xfrm>
            <a:off x="7410450" y="2714625"/>
            <a:ext cx="3943350" cy="257175"/>
          </a:xfrm>
          <a:prstGeom prst="rect">
            <a:avLst/>
          </a:prstGeom>
          <a:noFill/>
          <a:ln w="0">
            <a:noFill/>
          </a:ln>
        </p:spPr>
        <p:txBody>
          <a:bodyPr wrap="square" lIns="0" tIns="0" rIns="0" bIns="0" anchor="t">
            <a:noAutofit/>
          </a:bodyPr>
          <a:lstStyle>
            <a:defPPr algn="l">
              <a:defRPr sz="1575" b="1">
                <a:solidFill>
                  <a:srgbClr val="20282C"/>
                </a:solidFill>
                <a:latin typeface="Arial"/>
                <a:ea typeface="Arial"/>
                <a:cs typeface="Arial"/>
              </a:defRPr>
            </a:defPPr>
          </a:lstStyle>
          <a:p>
            <a:pPr algn="l">
              <a:defRPr sz="1575" b="1">
                <a:solidFill>
                  <a:srgbClr val="20282C"/>
                </a:solidFill>
                <a:latin typeface="Arial"/>
                <a:ea typeface="Arial"/>
                <a:cs typeface="Arial"/>
              </a:defRPr>
            </a:pPr>
            <a:r>
              <a:rPr sz="1575" b="1">
                <a:solidFill>
                  <a:srgbClr val="20282C"/>
                </a:solidFill>
                <a:latin typeface="Arial"/>
                <a:ea typeface="Arial"/>
                <a:cs typeface="Arial"/>
              </a:rPr>
              <a:t>Shared room + HVAC model</a:t>
            </a:r>
          </a:p>
        </p:txBody>
      </p:sp>
      <p:sp>
        <p:nvSpPr>
          <p:cNvPr id="31" name="shared-input-detail">
            <a:extLst>
              <a:ext uri="{FF2B5EF4-FFF2-40B4-BE49-F238E27FC236}">
                <a16:creationId xmlns:a16="http://schemas.microsoft.com/office/drawing/2014/main" id="{97AB7EA5-2F02-477D-B9BF-7C0DBD48E340}"/>
              </a:ext>
            </a:extLst>
          </p:cNvPr>
          <p:cNvSpPr>
            <a:spLocks noGrp="1"/>
          </p:cNvSpPr>
          <p:nvPr/>
        </p:nvSpPr>
        <p:spPr>
          <a:xfrm>
            <a:off x="7410450" y="2981325"/>
            <a:ext cx="3943350" cy="2286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Geometry, seats and operating settings</a:t>
            </a:r>
          </a:p>
        </p:txBody>
      </p:sp>
      <p:sp>
        <p:nvSpPr>
          <p:cNvPr id="32" name="planned-energyplus-analysis">
            <a:extLst>
              <a:ext uri="{FF2B5EF4-FFF2-40B4-BE49-F238E27FC236}">
                <a16:creationId xmlns:a16="http://schemas.microsoft.com/office/drawing/2014/main" id="{E64B6D51-BC63-495F-98F5-4AC388DA84B9}"/>
              </a:ext>
            </a:extLst>
          </p:cNvPr>
          <p:cNvSpPr>
            <a:spLocks noGrp="1"/>
          </p:cNvSpPr>
          <p:nvPr/>
        </p:nvSpPr>
        <p:spPr>
          <a:xfrm>
            <a:off x="7258050" y="3514725"/>
            <a:ext cx="1943100" cy="819150"/>
          </a:xfrm>
          <a:prstGeom prst="rect">
            <a:avLst/>
          </a:prstGeom>
          <a:solidFill>
            <a:srgbClr val="EAF4F5"/>
          </a:solidFill>
          <a:ln w="9525">
            <a:solidFill>
              <a:srgbClr val="D7DFE3"/>
            </a:solidFill>
          </a:ln>
        </p:spPr>
        <p:txBody>
          <a:bodyPr/>
          <a:lstStyle/>
          <a:p>
            <a:endParaRPr lang="zh-CN" altLang="en-US"/>
          </a:p>
        </p:txBody>
      </p:sp>
      <p:sp>
        <p:nvSpPr>
          <p:cNvPr id="33" name="planned-openfoam-analysis">
            <a:extLst>
              <a:ext uri="{FF2B5EF4-FFF2-40B4-BE49-F238E27FC236}">
                <a16:creationId xmlns:a16="http://schemas.microsoft.com/office/drawing/2014/main" id="{EAD808DD-46E6-4751-BA4C-A2621CCBF680}"/>
              </a:ext>
            </a:extLst>
          </p:cNvPr>
          <p:cNvSpPr>
            <a:spLocks noGrp="1"/>
          </p:cNvSpPr>
          <p:nvPr/>
        </p:nvSpPr>
        <p:spPr>
          <a:xfrm>
            <a:off x="9525000" y="3514725"/>
            <a:ext cx="1981200" cy="819150"/>
          </a:xfrm>
          <a:prstGeom prst="rect">
            <a:avLst/>
          </a:prstGeom>
          <a:solidFill>
            <a:srgbClr val="EAF4F5"/>
          </a:solidFill>
          <a:ln w="9525">
            <a:solidFill>
              <a:srgbClr val="D7DFE3"/>
            </a:solidFill>
          </a:ln>
        </p:spPr>
        <p:txBody>
          <a:bodyPr/>
          <a:lstStyle/>
          <a:p>
            <a:endParaRPr lang="zh-CN" altLang="en-US"/>
          </a:p>
        </p:txBody>
      </p:sp>
      <p:sp>
        <p:nvSpPr>
          <p:cNvPr id="34" name="energyplus-title">
            <a:extLst>
              <a:ext uri="{FF2B5EF4-FFF2-40B4-BE49-F238E27FC236}">
                <a16:creationId xmlns:a16="http://schemas.microsoft.com/office/drawing/2014/main" id="{D21A284D-F817-4351-BE54-61DCCA2CA0EB}"/>
              </a:ext>
            </a:extLst>
          </p:cNvPr>
          <p:cNvSpPr>
            <a:spLocks noGrp="1"/>
          </p:cNvSpPr>
          <p:nvPr/>
        </p:nvSpPr>
        <p:spPr>
          <a:xfrm>
            <a:off x="7410450" y="3590925"/>
            <a:ext cx="1638300" cy="257175"/>
          </a:xfrm>
          <a:prstGeom prst="rect">
            <a:avLst/>
          </a:prstGeom>
          <a:noFill/>
          <a:ln w="0">
            <a:noFill/>
          </a:ln>
        </p:spPr>
        <p:txBody>
          <a:bodyPr wrap="square" lIns="0" tIns="0" rIns="0" bIns="0" anchor="t">
            <a:noAutofit/>
          </a:bodyPr>
          <a:lstStyle>
            <a:defPPr algn="l">
              <a:defRPr sz="1575" b="1">
                <a:solidFill>
                  <a:srgbClr val="20282C"/>
                </a:solidFill>
                <a:latin typeface="Arial"/>
                <a:ea typeface="Arial"/>
                <a:cs typeface="Arial"/>
              </a:defRPr>
            </a:defPPr>
          </a:lstStyle>
          <a:p>
            <a:pPr algn="l">
              <a:defRPr sz="1575" b="1">
                <a:solidFill>
                  <a:srgbClr val="20282C"/>
                </a:solidFill>
                <a:latin typeface="Arial"/>
                <a:ea typeface="Arial"/>
                <a:cs typeface="Arial"/>
              </a:defRPr>
            </a:pPr>
            <a:r>
              <a:rPr sz="1575" b="1">
                <a:solidFill>
                  <a:srgbClr val="20282C"/>
                </a:solidFill>
                <a:latin typeface="Arial"/>
                <a:ea typeface="Arial"/>
                <a:cs typeface="Arial"/>
              </a:rPr>
              <a:t>EnergyPlus</a:t>
            </a:r>
          </a:p>
        </p:txBody>
      </p:sp>
      <p:sp>
        <p:nvSpPr>
          <p:cNvPr id="35" name="energyplus-outputs">
            <a:extLst>
              <a:ext uri="{FF2B5EF4-FFF2-40B4-BE49-F238E27FC236}">
                <a16:creationId xmlns:a16="http://schemas.microsoft.com/office/drawing/2014/main" id="{4FB895CD-8CE4-4753-9880-BFD25C67642E}"/>
              </a:ext>
            </a:extLst>
          </p:cNvPr>
          <p:cNvSpPr>
            <a:spLocks noGrp="1"/>
          </p:cNvSpPr>
          <p:nvPr/>
        </p:nvSpPr>
        <p:spPr>
          <a:xfrm>
            <a:off x="7410450" y="3867150"/>
            <a:ext cx="1638300" cy="43815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Daily electricity</a:t>
            </a:r>
          </a:p>
          <a:p>
            <a:pPr algn="l">
              <a:defRPr sz="1313" b="0">
                <a:solidFill>
                  <a:srgbClr val="536069"/>
                </a:solidFill>
                <a:latin typeface="Arial"/>
                <a:ea typeface="Arial"/>
                <a:cs typeface="Arial"/>
              </a:defRPr>
            </a:pPr>
            <a:r>
              <a:rPr sz="1313" b="0">
                <a:solidFill>
                  <a:srgbClr val="536069"/>
                </a:solidFill>
                <a:latin typeface="Arial"/>
                <a:ea typeface="Arial"/>
                <a:cs typeface="Arial"/>
              </a:rPr>
              <a:t>Thermal loads</a:t>
            </a:r>
          </a:p>
        </p:txBody>
      </p:sp>
      <p:sp>
        <p:nvSpPr>
          <p:cNvPr id="36" name="openfoam-title">
            <a:extLst>
              <a:ext uri="{FF2B5EF4-FFF2-40B4-BE49-F238E27FC236}">
                <a16:creationId xmlns:a16="http://schemas.microsoft.com/office/drawing/2014/main" id="{C02D3C80-E6E4-45F0-90EA-FE78B8755240}"/>
              </a:ext>
            </a:extLst>
          </p:cNvPr>
          <p:cNvSpPr>
            <a:spLocks noGrp="1"/>
          </p:cNvSpPr>
          <p:nvPr/>
        </p:nvSpPr>
        <p:spPr>
          <a:xfrm>
            <a:off x="9677400" y="3590925"/>
            <a:ext cx="1676400" cy="257175"/>
          </a:xfrm>
          <a:prstGeom prst="rect">
            <a:avLst/>
          </a:prstGeom>
          <a:noFill/>
          <a:ln w="0">
            <a:noFill/>
          </a:ln>
        </p:spPr>
        <p:txBody>
          <a:bodyPr wrap="square" lIns="0" tIns="0" rIns="0" bIns="0" anchor="t">
            <a:noAutofit/>
          </a:bodyPr>
          <a:lstStyle>
            <a:defPPr algn="l">
              <a:defRPr sz="1575" b="1">
                <a:solidFill>
                  <a:srgbClr val="20282C"/>
                </a:solidFill>
                <a:latin typeface="Arial"/>
                <a:ea typeface="Arial"/>
                <a:cs typeface="Arial"/>
              </a:defRPr>
            </a:defPPr>
          </a:lstStyle>
          <a:p>
            <a:pPr algn="l">
              <a:defRPr sz="1575" b="1">
                <a:solidFill>
                  <a:srgbClr val="20282C"/>
                </a:solidFill>
                <a:latin typeface="Arial"/>
                <a:ea typeface="Arial"/>
                <a:cs typeface="Arial"/>
              </a:defRPr>
            </a:pPr>
            <a:r>
              <a:rPr sz="1575" b="1">
                <a:solidFill>
                  <a:srgbClr val="20282C"/>
                </a:solidFill>
                <a:latin typeface="Arial"/>
                <a:ea typeface="Arial"/>
                <a:cs typeface="Arial"/>
              </a:rPr>
              <a:t>OpenFOAM</a:t>
            </a:r>
          </a:p>
        </p:txBody>
      </p:sp>
      <p:sp>
        <p:nvSpPr>
          <p:cNvPr id="37" name="openfoam-outputs">
            <a:extLst>
              <a:ext uri="{FF2B5EF4-FFF2-40B4-BE49-F238E27FC236}">
                <a16:creationId xmlns:a16="http://schemas.microsoft.com/office/drawing/2014/main" id="{D4B7EF78-D757-452A-8AEA-E97EC5F369BF}"/>
              </a:ext>
            </a:extLst>
          </p:cNvPr>
          <p:cNvSpPr>
            <a:spLocks noGrp="1"/>
          </p:cNvSpPr>
          <p:nvPr/>
        </p:nvSpPr>
        <p:spPr>
          <a:xfrm>
            <a:off x="9677400" y="3867150"/>
            <a:ext cx="1676400" cy="43815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Local temperature</a:t>
            </a:r>
          </a:p>
          <a:p>
            <a:pPr algn="l">
              <a:defRPr sz="1313" b="0">
                <a:solidFill>
                  <a:srgbClr val="536069"/>
                </a:solidFill>
                <a:latin typeface="Arial"/>
                <a:ea typeface="Arial"/>
                <a:cs typeface="Arial"/>
              </a:defRPr>
            </a:pPr>
            <a:r>
              <a:rPr sz="1313" b="0">
                <a:solidFill>
                  <a:srgbClr val="536069"/>
                </a:solidFill>
                <a:latin typeface="Arial"/>
                <a:ea typeface="Arial"/>
                <a:cs typeface="Arial"/>
              </a:rPr>
              <a:t>Air velocity</a:t>
            </a:r>
          </a:p>
        </p:txBody>
      </p:sp>
      <p:sp>
        <p:nvSpPr>
          <p:cNvPr id="38" name="evidence-gate">
            <a:extLst>
              <a:ext uri="{FF2B5EF4-FFF2-40B4-BE49-F238E27FC236}">
                <a16:creationId xmlns:a16="http://schemas.microsoft.com/office/drawing/2014/main" id="{F0979409-6BD5-46BD-9E99-AEC56CF7AF8B}"/>
              </a:ext>
            </a:extLst>
          </p:cNvPr>
          <p:cNvSpPr>
            <a:spLocks noGrp="1"/>
          </p:cNvSpPr>
          <p:nvPr/>
        </p:nvSpPr>
        <p:spPr>
          <a:xfrm>
            <a:off x="7258050" y="4562475"/>
            <a:ext cx="4248150" cy="514350"/>
          </a:xfrm>
          <a:prstGeom prst="rect">
            <a:avLst/>
          </a:prstGeom>
          <a:solidFill>
            <a:srgbClr val="F1F4F5"/>
          </a:solidFill>
          <a:ln w="9525">
            <a:solidFill>
              <a:srgbClr val="D7DFE3"/>
            </a:solidFill>
          </a:ln>
        </p:spPr>
        <p:txBody>
          <a:bodyPr/>
          <a:lstStyle/>
          <a:p>
            <a:endParaRPr lang="zh-CN" altLang="en-US"/>
          </a:p>
        </p:txBody>
      </p:sp>
      <p:sp>
        <p:nvSpPr>
          <p:cNvPr id="39" name="evidence-gate-title">
            <a:extLst>
              <a:ext uri="{FF2B5EF4-FFF2-40B4-BE49-F238E27FC236}">
                <a16:creationId xmlns:a16="http://schemas.microsoft.com/office/drawing/2014/main" id="{95466D70-2972-4A25-89A3-8D811500F81F}"/>
              </a:ext>
            </a:extLst>
          </p:cNvPr>
          <p:cNvSpPr>
            <a:spLocks noGrp="1"/>
          </p:cNvSpPr>
          <p:nvPr/>
        </p:nvSpPr>
        <p:spPr>
          <a:xfrm>
            <a:off x="7410450" y="4629150"/>
            <a:ext cx="3943350" cy="238125"/>
          </a:xfrm>
          <a:prstGeom prst="rect">
            <a:avLst/>
          </a:prstGeom>
          <a:noFill/>
          <a:ln w="0">
            <a:noFill/>
          </a:ln>
        </p:spPr>
        <p:txBody>
          <a:bodyPr wrap="square" lIns="0" tIns="0" rIns="0" bIns="0" anchor="t">
            <a:noAutofit/>
          </a:bodyPr>
          <a:lstStyle>
            <a:defPPr algn="l">
              <a:defRPr sz="1463" b="1">
                <a:solidFill>
                  <a:srgbClr val="20282C"/>
                </a:solidFill>
                <a:latin typeface="Arial"/>
                <a:ea typeface="Arial"/>
                <a:cs typeface="Arial"/>
              </a:defRPr>
            </a:defPPr>
          </a:lstStyle>
          <a:p>
            <a:pPr algn="l">
              <a:defRPr sz="1463" b="1">
                <a:solidFill>
                  <a:srgbClr val="20282C"/>
                </a:solidFill>
                <a:latin typeface="Arial"/>
                <a:ea typeface="Arial"/>
                <a:cs typeface="Arial"/>
              </a:defRPr>
            </a:pPr>
            <a:r>
              <a:rPr sz="1463" b="1">
                <a:solidFill>
                  <a:srgbClr val="20282C"/>
                </a:solidFill>
                <a:latin typeface="Arial"/>
                <a:ea typeface="Arial"/>
                <a:cs typeface="Arial"/>
              </a:rPr>
              <a:t>Evidence check</a:t>
            </a:r>
          </a:p>
        </p:txBody>
      </p:sp>
      <p:sp>
        <p:nvSpPr>
          <p:cNvPr id="40" name="evidence-gate-detail">
            <a:extLst>
              <a:ext uri="{FF2B5EF4-FFF2-40B4-BE49-F238E27FC236}">
                <a16:creationId xmlns:a16="http://schemas.microsoft.com/office/drawing/2014/main" id="{6F59ACCF-9323-42C1-90E3-47924A3D2686}"/>
              </a:ext>
            </a:extLst>
          </p:cNvPr>
          <p:cNvSpPr>
            <a:spLocks noGrp="1"/>
          </p:cNvSpPr>
          <p:nvPr/>
        </p:nvSpPr>
        <p:spPr>
          <a:xfrm>
            <a:off x="7410450" y="4867275"/>
            <a:ext cx="3943350" cy="219075"/>
          </a:xfrm>
          <a:prstGeom prst="rect">
            <a:avLst/>
          </a:prstGeom>
          <a:noFill/>
          <a:ln w="0">
            <a:noFill/>
          </a:ln>
        </p:spPr>
        <p:txBody>
          <a:bodyPr wrap="square" lIns="0" tIns="0" rIns="0" bIns="0" anchor="t">
            <a:noAutofit/>
          </a:bodyPr>
          <a:lstStyle>
            <a:defPPr algn="l">
              <a:defRPr sz="1238" b="0">
                <a:solidFill>
                  <a:srgbClr val="536069"/>
                </a:solidFill>
                <a:latin typeface="Arial"/>
                <a:ea typeface="Arial"/>
                <a:cs typeface="Arial"/>
              </a:defRPr>
            </a:defPPr>
          </a:lstStyle>
          <a:p>
            <a:pPr algn="l">
              <a:defRPr sz="1238" b="0">
                <a:solidFill>
                  <a:srgbClr val="536069"/>
                </a:solidFill>
                <a:latin typeface="Arial"/>
                <a:ea typeface="Arial"/>
                <a:cs typeface="Arial"/>
              </a:defRPr>
            </a:pPr>
            <a:r>
              <a:rPr sz="1238" b="0">
                <a:solidFill>
                  <a:srgbClr val="536069"/>
                </a:solidFill>
                <a:latin typeface="Arial"/>
                <a:ea typeface="Arial"/>
                <a:cs typeface="Arial"/>
              </a:rPr>
              <a:t>Inputs, run record, quality and freshness</a:t>
            </a:r>
          </a:p>
        </p:txBody>
      </p:sp>
      <p:sp>
        <p:nvSpPr>
          <p:cNvPr id="41" name="comfort-evaluation">
            <a:extLst>
              <a:ext uri="{FF2B5EF4-FFF2-40B4-BE49-F238E27FC236}">
                <a16:creationId xmlns:a16="http://schemas.microsoft.com/office/drawing/2014/main" id="{0C8C2E4D-EF1B-47E5-AA8A-7CA76347F0E5}"/>
              </a:ext>
            </a:extLst>
          </p:cNvPr>
          <p:cNvSpPr>
            <a:spLocks noGrp="1"/>
          </p:cNvSpPr>
          <p:nvPr/>
        </p:nvSpPr>
        <p:spPr>
          <a:xfrm>
            <a:off x="7258050" y="5334000"/>
            <a:ext cx="1314450" cy="600075"/>
          </a:xfrm>
          <a:prstGeom prst="rect">
            <a:avLst/>
          </a:prstGeom>
          <a:solidFill>
            <a:srgbClr val="EAF4F5"/>
          </a:solidFill>
          <a:ln w="9525">
            <a:solidFill>
              <a:srgbClr val="D7DFE3"/>
            </a:solidFill>
          </a:ln>
        </p:spPr>
        <p:txBody>
          <a:bodyPr/>
          <a:lstStyle/>
          <a:p>
            <a:endParaRPr lang="zh-CN" altLang="en-US"/>
          </a:p>
        </p:txBody>
      </p:sp>
      <p:sp>
        <p:nvSpPr>
          <p:cNvPr id="42" name="electricity-evaluation">
            <a:extLst>
              <a:ext uri="{FF2B5EF4-FFF2-40B4-BE49-F238E27FC236}">
                <a16:creationId xmlns:a16="http://schemas.microsoft.com/office/drawing/2014/main" id="{DA4CCF22-AC51-49B1-8AE6-3FC40BB09A6F}"/>
              </a:ext>
            </a:extLst>
          </p:cNvPr>
          <p:cNvSpPr>
            <a:spLocks noGrp="1"/>
          </p:cNvSpPr>
          <p:nvPr/>
        </p:nvSpPr>
        <p:spPr>
          <a:xfrm>
            <a:off x="8724900" y="5334000"/>
            <a:ext cx="1314450" cy="600075"/>
          </a:xfrm>
          <a:prstGeom prst="rect">
            <a:avLst/>
          </a:prstGeom>
          <a:solidFill>
            <a:srgbClr val="EAF4F5"/>
          </a:solidFill>
          <a:ln w="9525">
            <a:solidFill>
              <a:srgbClr val="D7DFE3"/>
            </a:solidFill>
          </a:ln>
        </p:spPr>
        <p:txBody>
          <a:bodyPr/>
          <a:lstStyle/>
          <a:p>
            <a:endParaRPr lang="zh-CN" altLang="en-US"/>
          </a:p>
        </p:txBody>
      </p:sp>
      <p:sp>
        <p:nvSpPr>
          <p:cNvPr id="43" name="cost-evaluation">
            <a:extLst>
              <a:ext uri="{FF2B5EF4-FFF2-40B4-BE49-F238E27FC236}">
                <a16:creationId xmlns:a16="http://schemas.microsoft.com/office/drawing/2014/main" id="{82837AD6-573D-42D5-9ABF-EF60C43BA8D1}"/>
              </a:ext>
            </a:extLst>
          </p:cNvPr>
          <p:cNvSpPr>
            <a:spLocks noGrp="1"/>
          </p:cNvSpPr>
          <p:nvPr/>
        </p:nvSpPr>
        <p:spPr>
          <a:xfrm>
            <a:off x="10191750" y="5334000"/>
            <a:ext cx="1314450" cy="600075"/>
          </a:xfrm>
          <a:prstGeom prst="rect">
            <a:avLst/>
          </a:prstGeom>
          <a:solidFill>
            <a:srgbClr val="EAF4F5"/>
          </a:solidFill>
          <a:ln w="9525">
            <a:solidFill>
              <a:srgbClr val="D7DFE3"/>
            </a:solidFill>
          </a:ln>
        </p:spPr>
        <p:txBody>
          <a:bodyPr/>
          <a:lstStyle/>
          <a:p>
            <a:endParaRPr lang="zh-CN" altLang="en-US"/>
          </a:p>
        </p:txBody>
      </p:sp>
      <p:sp>
        <p:nvSpPr>
          <p:cNvPr id="44" name="comfort-label">
            <a:extLst>
              <a:ext uri="{FF2B5EF4-FFF2-40B4-BE49-F238E27FC236}">
                <a16:creationId xmlns:a16="http://schemas.microsoft.com/office/drawing/2014/main" id="{D3CAFA1F-BB0F-4BAF-91FE-6CBF042B45D4}"/>
              </a:ext>
            </a:extLst>
          </p:cNvPr>
          <p:cNvSpPr>
            <a:spLocks noGrp="1"/>
          </p:cNvSpPr>
          <p:nvPr/>
        </p:nvSpPr>
        <p:spPr>
          <a:xfrm>
            <a:off x="7391400" y="5419725"/>
            <a:ext cx="1066800" cy="247650"/>
          </a:xfrm>
          <a:prstGeom prst="rect">
            <a:avLst/>
          </a:prstGeom>
          <a:noFill/>
          <a:ln w="0">
            <a:noFill/>
          </a:ln>
        </p:spPr>
        <p:txBody>
          <a:bodyPr wrap="square" lIns="0" tIns="0" rIns="0" bIns="0" anchor="t">
            <a:noAutofit/>
          </a:bodyPr>
          <a:lstStyle>
            <a:defPPr algn="l">
              <a:defRPr sz="1463" b="1">
                <a:solidFill>
                  <a:srgbClr val="277F89"/>
                </a:solidFill>
                <a:latin typeface="Arial"/>
                <a:ea typeface="Arial"/>
                <a:cs typeface="Arial"/>
              </a:defRPr>
            </a:defPPr>
          </a:lstStyle>
          <a:p>
            <a:pPr algn="l">
              <a:defRPr sz="1463" b="1">
                <a:solidFill>
                  <a:srgbClr val="277F89"/>
                </a:solidFill>
                <a:latin typeface="Arial"/>
                <a:ea typeface="Arial"/>
                <a:cs typeface="Arial"/>
              </a:defRPr>
            </a:pPr>
            <a:r>
              <a:rPr sz="1463" b="1">
                <a:solidFill>
                  <a:srgbClr val="277F89"/>
                </a:solidFill>
                <a:latin typeface="Arial"/>
                <a:ea typeface="Arial"/>
                <a:cs typeface="Arial"/>
              </a:rPr>
              <a:t>Comfort</a:t>
            </a:r>
          </a:p>
        </p:txBody>
      </p:sp>
      <p:sp>
        <p:nvSpPr>
          <p:cNvPr id="45" name="comfort-detail">
            <a:extLst>
              <a:ext uri="{FF2B5EF4-FFF2-40B4-BE49-F238E27FC236}">
                <a16:creationId xmlns:a16="http://schemas.microsoft.com/office/drawing/2014/main" id="{44426532-B2F6-44C3-8621-9C445C42AFAF}"/>
              </a:ext>
            </a:extLst>
          </p:cNvPr>
          <p:cNvSpPr>
            <a:spLocks noGrp="1"/>
          </p:cNvSpPr>
          <p:nvPr/>
        </p:nvSpPr>
        <p:spPr>
          <a:xfrm>
            <a:off x="7391400" y="5676900"/>
            <a:ext cx="1066800" cy="219075"/>
          </a:xfrm>
          <a:prstGeom prst="rect">
            <a:avLst/>
          </a:prstGeom>
          <a:noFill/>
          <a:ln w="0">
            <a:noFill/>
          </a:ln>
        </p:spPr>
        <p:txBody>
          <a:bodyPr wrap="square" lIns="0" tIns="0" rIns="0" bIns="0" anchor="t">
            <a:noAutofit/>
          </a:bodyPr>
          <a:lstStyle>
            <a:defPPr algn="l">
              <a:defRPr sz="1238" b="0">
                <a:solidFill>
                  <a:srgbClr val="536069"/>
                </a:solidFill>
                <a:latin typeface="Arial"/>
                <a:ea typeface="Arial"/>
                <a:cs typeface="Arial"/>
              </a:defRPr>
            </a:defPPr>
          </a:lstStyle>
          <a:p>
            <a:pPr algn="l">
              <a:defRPr sz="1238" b="0">
                <a:solidFill>
                  <a:srgbClr val="536069"/>
                </a:solidFill>
                <a:latin typeface="Arial"/>
                <a:ea typeface="Arial"/>
                <a:cs typeface="Arial"/>
              </a:defRPr>
            </a:pPr>
            <a:r>
              <a:rPr sz="1238" b="0">
                <a:solidFill>
                  <a:srgbClr val="536069"/>
                </a:solidFill>
                <a:latin typeface="Arial"/>
                <a:ea typeface="Arial"/>
                <a:cs typeface="Arial"/>
              </a:rPr>
              <a:t>At each seat</a:t>
            </a:r>
          </a:p>
        </p:txBody>
      </p:sp>
      <p:sp>
        <p:nvSpPr>
          <p:cNvPr id="46" name="electricity-label">
            <a:extLst>
              <a:ext uri="{FF2B5EF4-FFF2-40B4-BE49-F238E27FC236}">
                <a16:creationId xmlns:a16="http://schemas.microsoft.com/office/drawing/2014/main" id="{34B882CB-A950-4205-8B85-AA84BC327BEA}"/>
              </a:ext>
            </a:extLst>
          </p:cNvPr>
          <p:cNvSpPr>
            <a:spLocks noGrp="1"/>
          </p:cNvSpPr>
          <p:nvPr/>
        </p:nvSpPr>
        <p:spPr>
          <a:xfrm>
            <a:off x="8858250" y="5419725"/>
            <a:ext cx="1066800" cy="247650"/>
          </a:xfrm>
          <a:prstGeom prst="rect">
            <a:avLst/>
          </a:prstGeom>
          <a:noFill/>
          <a:ln w="0">
            <a:noFill/>
          </a:ln>
        </p:spPr>
        <p:txBody>
          <a:bodyPr wrap="square" lIns="0" tIns="0" rIns="0" bIns="0" anchor="t">
            <a:noAutofit/>
          </a:bodyPr>
          <a:lstStyle>
            <a:defPPr algn="l">
              <a:defRPr sz="1463" b="1">
                <a:solidFill>
                  <a:srgbClr val="277F89"/>
                </a:solidFill>
                <a:latin typeface="Arial"/>
                <a:ea typeface="Arial"/>
                <a:cs typeface="Arial"/>
              </a:defRPr>
            </a:defPPr>
          </a:lstStyle>
          <a:p>
            <a:pPr algn="l">
              <a:defRPr sz="1463" b="1">
                <a:solidFill>
                  <a:srgbClr val="277F89"/>
                </a:solidFill>
                <a:latin typeface="Arial"/>
                <a:ea typeface="Arial"/>
                <a:cs typeface="Arial"/>
              </a:defRPr>
            </a:pPr>
            <a:r>
              <a:rPr sz="1463" b="1">
                <a:solidFill>
                  <a:srgbClr val="277F89"/>
                </a:solidFill>
                <a:latin typeface="Arial"/>
                <a:ea typeface="Arial"/>
                <a:cs typeface="Arial"/>
              </a:rPr>
              <a:t>Electricity</a:t>
            </a:r>
          </a:p>
        </p:txBody>
      </p:sp>
      <p:sp>
        <p:nvSpPr>
          <p:cNvPr id="47" name="electricity-detail">
            <a:extLst>
              <a:ext uri="{FF2B5EF4-FFF2-40B4-BE49-F238E27FC236}">
                <a16:creationId xmlns:a16="http://schemas.microsoft.com/office/drawing/2014/main" id="{63B55B3E-198C-4306-99A8-DF0DD2711934}"/>
              </a:ext>
            </a:extLst>
          </p:cNvPr>
          <p:cNvSpPr>
            <a:spLocks noGrp="1"/>
          </p:cNvSpPr>
          <p:nvPr/>
        </p:nvSpPr>
        <p:spPr>
          <a:xfrm>
            <a:off x="8858250" y="5676900"/>
            <a:ext cx="1066800" cy="219075"/>
          </a:xfrm>
          <a:prstGeom prst="rect">
            <a:avLst/>
          </a:prstGeom>
          <a:noFill/>
          <a:ln w="0">
            <a:noFill/>
          </a:ln>
        </p:spPr>
        <p:txBody>
          <a:bodyPr wrap="square" lIns="0" tIns="0" rIns="0" bIns="0" anchor="t">
            <a:noAutofit/>
          </a:bodyPr>
          <a:lstStyle>
            <a:defPPr algn="l">
              <a:defRPr sz="1238" b="0">
                <a:solidFill>
                  <a:srgbClr val="536069"/>
                </a:solidFill>
                <a:latin typeface="Arial"/>
                <a:ea typeface="Arial"/>
                <a:cs typeface="Arial"/>
              </a:defRPr>
            </a:defPPr>
          </a:lstStyle>
          <a:p>
            <a:pPr algn="l">
              <a:defRPr sz="1238" b="0">
                <a:solidFill>
                  <a:srgbClr val="536069"/>
                </a:solidFill>
                <a:latin typeface="Arial"/>
                <a:ea typeface="Arial"/>
                <a:cs typeface="Arial"/>
              </a:defRPr>
            </a:pPr>
            <a:r>
              <a:rPr sz="1238" b="0">
                <a:solidFill>
                  <a:srgbClr val="536069"/>
                </a:solidFill>
                <a:latin typeface="Arial"/>
                <a:ea typeface="Arial"/>
                <a:cs typeface="Arial"/>
              </a:rPr>
              <a:t>kWh per day</a:t>
            </a:r>
          </a:p>
        </p:txBody>
      </p:sp>
      <p:sp>
        <p:nvSpPr>
          <p:cNvPr id="48" name="cost-label">
            <a:extLst>
              <a:ext uri="{FF2B5EF4-FFF2-40B4-BE49-F238E27FC236}">
                <a16:creationId xmlns:a16="http://schemas.microsoft.com/office/drawing/2014/main" id="{AD752CF3-51D3-4136-A311-F96B72847D3D}"/>
              </a:ext>
            </a:extLst>
          </p:cNvPr>
          <p:cNvSpPr>
            <a:spLocks noGrp="1"/>
          </p:cNvSpPr>
          <p:nvPr/>
        </p:nvSpPr>
        <p:spPr>
          <a:xfrm>
            <a:off x="10325100" y="5419725"/>
            <a:ext cx="1066800" cy="247650"/>
          </a:xfrm>
          <a:prstGeom prst="rect">
            <a:avLst/>
          </a:prstGeom>
          <a:noFill/>
          <a:ln w="0">
            <a:noFill/>
          </a:ln>
        </p:spPr>
        <p:txBody>
          <a:bodyPr wrap="square" lIns="0" tIns="0" rIns="0" bIns="0" anchor="t">
            <a:noAutofit/>
          </a:bodyPr>
          <a:lstStyle>
            <a:defPPr algn="l">
              <a:defRPr sz="1463" b="1">
                <a:solidFill>
                  <a:srgbClr val="277F89"/>
                </a:solidFill>
                <a:latin typeface="Arial"/>
                <a:ea typeface="Arial"/>
                <a:cs typeface="Arial"/>
              </a:defRPr>
            </a:defPPr>
          </a:lstStyle>
          <a:p>
            <a:pPr algn="l">
              <a:defRPr sz="1463" b="1">
                <a:solidFill>
                  <a:srgbClr val="277F89"/>
                </a:solidFill>
                <a:latin typeface="Arial"/>
                <a:ea typeface="Arial"/>
                <a:cs typeface="Arial"/>
              </a:defRPr>
            </a:pPr>
            <a:r>
              <a:rPr sz="1463" b="1">
                <a:solidFill>
                  <a:srgbClr val="277F89"/>
                </a:solidFill>
                <a:latin typeface="Arial"/>
                <a:ea typeface="Arial"/>
                <a:cs typeface="Arial"/>
              </a:rPr>
              <a:t>Cost</a:t>
            </a:r>
          </a:p>
        </p:txBody>
      </p:sp>
      <p:sp>
        <p:nvSpPr>
          <p:cNvPr id="49" name="cost-detail">
            <a:extLst>
              <a:ext uri="{FF2B5EF4-FFF2-40B4-BE49-F238E27FC236}">
                <a16:creationId xmlns:a16="http://schemas.microsoft.com/office/drawing/2014/main" id="{3A42BC4D-4DB5-4F55-8199-723FBDF259F0}"/>
              </a:ext>
            </a:extLst>
          </p:cNvPr>
          <p:cNvSpPr>
            <a:spLocks noGrp="1"/>
          </p:cNvSpPr>
          <p:nvPr/>
        </p:nvSpPr>
        <p:spPr>
          <a:xfrm>
            <a:off x="10325100" y="5676900"/>
            <a:ext cx="1066800" cy="219075"/>
          </a:xfrm>
          <a:prstGeom prst="rect">
            <a:avLst/>
          </a:prstGeom>
          <a:noFill/>
          <a:ln w="0">
            <a:noFill/>
          </a:ln>
        </p:spPr>
        <p:txBody>
          <a:bodyPr wrap="square" lIns="0" tIns="0" rIns="0" bIns="0" anchor="t">
            <a:noAutofit/>
          </a:bodyPr>
          <a:lstStyle>
            <a:defPPr algn="l">
              <a:defRPr sz="1238" b="0">
                <a:solidFill>
                  <a:srgbClr val="536069"/>
                </a:solidFill>
                <a:latin typeface="Arial"/>
                <a:ea typeface="Arial"/>
                <a:cs typeface="Arial"/>
              </a:defRPr>
            </a:defPPr>
          </a:lstStyle>
          <a:p>
            <a:pPr algn="l">
              <a:defRPr sz="1238" b="0">
                <a:solidFill>
                  <a:srgbClr val="536069"/>
                </a:solidFill>
                <a:latin typeface="Arial"/>
                <a:ea typeface="Arial"/>
                <a:cs typeface="Arial"/>
              </a:defRPr>
            </a:pPr>
            <a:r>
              <a:rPr sz="1238" b="0">
                <a:solidFill>
                  <a:srgbClr val="536069"/>
                </a:solidFill>
                <a:latin typeface="Arial"/>
                <a:ea typeface="Arial"/>
                <a:cs typeface="Arial"/>
              </a:rPr>
              <a:t>Tariff + run</a:t>
            </a:r>
          </a:p>
        </p:txBody>
      </p:sp>
    </p:spTree>
    <p:extLst>
      <p:ext uri="{BB962C8B-B14F-4D97-AF65-F5344CB8AC3E}">
        <p14:creationId xmlns:p14="http://schemas.microsoft.com/office/powerpoint/2010/main" val="682381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imunow-brand">
            <a:extLst>
              <a:ext uri="{FF2B5EF4-FFF2-40B4-BE49-F238E27FC236}">
                <a16:creationId xmlns:a16="http://schemas.microsoft.com/office/drawing/2014/main" id="{B348AF87-650E-4B86-9A00-F881FC77E778}"/>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2" name="slide-title">
            <a:extLst>
              <a:ext uri="{FF2B5EF4-FFF2-40B4-BE49-F238E27FC236}">
                <a16:creationId xmlns:a16="http://schemas.microsoft.com/office/drawing/2014/main" id="{64B58C3C-8641-40F0-A151-671BDBCF88C6}"/>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Office cooling scenario</a:t>
            </a:r>
          </a:p>
        </p:txBody>
      </p:sp>
      <p:sp>
        <p:nvSpPr>
          <p:cNvPr id="3" name="slide-subtitle">
            <a:extLst>
              <a:ext uri="{FF2B5EF4-FFF2-40B4-BE49-F238E27FC236}">
                <a16:creationId xmlns:a16="http://schemas.microsoft.com/office/drawing/2014/main" id="{A1E13FE9-8A7F-47F2-9584-BB6E0C78CB75}"/>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1875" b="0">
                <a:solidFill>
                  <a:srgbClr val="536069"/>
                </a:solidFill>
                <a:latin typeface="Arial"/>
                <a:ea typeface="Arial"/>
                <a:cs typeface="Arial"/>
              </a:defRPr>
            </a:defPPr>
          </a:lstStyle>
          <a:p>
            <a:pPr algn="l">
              <a:defRPr sz="1875" b="0">
                <a:solidFill>
                  <a:srgbClr val="536069"/>
                </a:solidFill>
                <a:latin typeface="Arial"/>
                <a:ea typeface="Arial"/>
                <a:cs typeface="Arial"/>
              </a:defRPr>
            </a:pPr>
            <a:r>
              <a:rPr sz="1875" b="0">
                <a:solidFill>
                  <a:srgbClr val="536069"/>
                </a:solidFill>
                <a:latin typeface="Arial"/>
                <a:ea typeface="Arial"/>
                <a:cs typeface="Arial"/>
              </a:rPr>
              <a:t>Compare AC placement while holding room and operating inputs fixed</a:t>
            </a:r>
          </a:p>
        </p:txBody>
      </p:sp>
      <p:sp>
        <p:nvSpPr>
          <p:cNvPr id="4" name="scenario-section">
            <a:extLst>
              <a:ext uri="{FF2B5EF4-FFF2-40B4-BE49-F238E27FC236}">
                <a16:creationId xmlns:a16="http://schemas.microsoft.com/office/drawing/2014/main" id="{E523CBA8-AEC4-43E7-AA15-8E98C6783491}"/>
              </a:ext>
            </a:extLst>
          </p:cNvPr>
          <p:cNvSpPr>
            <a:spLocks noGrp="1"/>
          </p:cNvSpPr>
          <p:nvPr/>
        </p:nvSpPr>
        <p:spPr>
          <a:xfrm>
            <a:off x="685800" y="2266950"/>
            <a:ext cx="590550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SCENARIO / ONE OFFICE</a:t>
            </a:r>
          </a:p>
        </p:txBody>
      </p:sp>
      <p:sp>
        <p:nvSpPr>
          <p:cNvPr id="5" name="comparison-section">
            <a:extLst>
              <a:ext uri="{FF2B5EF4-FFF2-40B4-BE49-F238E27FC236}">
                <a16:creationId xmlns:a16="http://schemas.microsoft.com/office/drawing/2014/main" id="{7AC7CE63-E889-40F7-92BA-41A493469859}"/>
              </a:ext>
            </a:extLst>
          </p:cNvPr>
          <p:cNvSpPr>
            <a:spLocks noGrp="1"/>
          </p:cNvSpPr>
          <p:nvPr/>
        </p:nvSpPr>
        <p:spPr>
          <a:xfrm>
            <a:off x="6858000" y="2266950"/>
            <a:ext cx="464820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CONTROLLED COMPARISON</a:t>
            </a:r>
          </a:p>
        </p:txBody>
      </p:sp>
      <p:sp>
        <p:nvSpPr>
          <p:cNvPr id="6" name="room-specification">
            <a:extLst>
              <a:ext uri="{FF2B5EF4-FFF2-40B4-BE49-F238E27FC236}">
                <a16:creationId xmlns:a16="http://schemas.microsoft.com/office/drawing/2014/main" id="{DA145C0D-2682-4725-A126-A42544884EC7}"/>
              </a:ext>
            </a:extLst>
          </p:cNvPr>
          <p:cNvSpPr>
            <a:spLocks noGrp="1"/>
          </p:cNvSpPr>
          <p:nvPr/>
        </p:nvSpPr>
        <p:spPr>
          <a:xfrm>
            <a:off x="685800" y="2667000"/>
            <a:ext cx="5905500" cy="333375"/>
          </a:xfrm>
          <a:prstGeom prst="rect">
            <a:avLst/>
          </a:prstGeom>
          <a:noFill/>
          <a:ln w="0">
            <a:noFill/>
          </a:ln>
        </p:spPr>
        <p:txBody>
          <a:bodyPr wrap="square" lIns="0" tIns="0" rIns="0" bIns="0" anchor="t">
            <a:noAutofit/>
          </a:bodyPr>
          <a:lstStyle>
            <a:defPPr algn="l">
              <a:defRPr sz="1950" b="1">
                <a:solidFill>
                  <a:srgbClr val="20282C"/>
                </a:solidFill>
                <a:latin typeface="Arial"/>
                <a:ea typeface="Arial"/>
                <a:cs typeface="Arial"/>
              </a:defRPr>
            </a:defPPr>
          </a:lstStyle>
          <a:p>
            <a:pPr algn="l">
              <a:defRPr sz="1950" b="1">
                <a:solidFill>
                  <a:srgbClr val="20282C"/>
                </a:solidFill>
                <a:latin typeface="Arial"/>
                <a:ea typeface="Arial"/>
                <a:cs typeface="Arial"/>
              </a:defRPr>
            </a:pPr>
            <a:r>
              <a:rPr sz="1950" b="1">
                <a:solidFill>
                  <a:srgbClr val="20282C"/>
                </a:solidFill>
                <a:latin typeface="Arial"/>
                <a:ea typeface="Arial"/>
                <a:cs typeface="Arial"/>
              </a:rPr>
              <a:t>6 × 4 × 2.8 m room, four occupied seats</a:t>
            </a:r>
          </a:p>
        </p:txBody>
      </p:sp>
      <p:sp>
        <p:nvSpPr>
          <p:cNvPr id="7" name="room-invariants">
            <a:extLst>
              <a:ext uri="{FF2B5EF4-FFF2-40B4-BE49-F238E27FC236}">
                <a16:creationId xmlns:a16="http://schemas.microsoft.com/office/drawing/2014/main" id="{6CF06FFC-8D7D-4E07-98D6-493FD9B373B5}"/>
              </a:ext>
            </a:extLst>
          </p:cNvPr>
          <p:cNvSpPr>
            <a:spLocks noGrp="1"/>
          </p:cNvSpPr>
          <p:nvPr/>
        </p:nvSpPr>
        <p:spPr>
          <a:xfrm>
            <a:off x="685800" y="3038475"/>
            <a:ext cx="5905500" cy="247650"/>
          </a:xfrm>
          <a:prstGeom prst="rect">
            <a:avLst/>
          </a:prstGeom>
          <a:noFill/>
          <a:ln w="0">
            <a:noFill/>
          </a:ln>
        </p:spPr>
        <p:txBody>
          <a:bodyPr wrap="square" lIns="0" tIns="0" rIns="0" bIns="0" anchor="t">
            <a:noAutofit/>
          </a:bodyPr>
          <a:lstStyle>
            <a:defPPr algn="l">
              <a:defRPr sz="1388" b="0">
                <a:solidFill>
                  <a:srgbClr val="536069"/>
                </a:solidFill>
                <a:latin typeface="Arial"/>
                <a:ea typeface="Arial"/>
                <a:cs typeface="Arial"/>
              </a:defRPr>
            </a:defPPr>
          </a:lstStyle>
          <a:p>
            <a:pPr algn="l">
              <a:defRPr sz="1388" b="0">
                <a:solidFill>
                  <a:srgbClr val="536069"/>
                </a:solidFill>
                <a:latin typeface="Arial"/>
                <a:ea typeface="Arial"/>
                <a:cs typeface="Arial"/>
              </a:defRPr>
            </a:pPr>
            <a:r>
              <a:rPr sz="1388" b="0">
                <a:solidFill>
                  <a:srgbClr val="536069"/>
                </a:solidFill>
                <a:latin typeface="Arial"/>
                <a:ea typeface="Arial"/>
                <a:cs typeface="Arial"/>
              </a:rPr>
              <a:t>Same furniture, heat loads and weather in both cases</a:t>
            </a:r>
          </a:p>
        </p:txBody>
      </p:sp>
      <p:pic>
        <p:nvPicPr>
          <p:cNvPr id="8" name="Picture 7">
            <a:extLst>
              <a:ext uri="{FF2B5EF4-FFF2-40B4-BE49-F238E27FC236}">
                <a16:creationId xmlns:a16="http://schemas.microsoft.com/office/drawing/2014/main" id="{0327477B-FE04-48C5-BD0D-5E397573EFA6}"/>
              </a:ext>
            </a:extLst>
          </p:cNvPr>
          <p:cNvPicPr>
            <a:picLocks noChangeAspect="1"/>
          </p:cNvPicPr>
          <p:nvPr/>
        </p:nvPicPr>
        <p:blipFill>
          <a:blip r:embed="rId3"/>
          <a:stretch/>
        </p:blipFill>
        <p:spPr>
          <a:xfrm>
            <a:off x="829553" y="3305175"/>
            <a:ext cx="5675144" cy="2581275"/>
          </a:xfrm>
          <a:prstGeom prst="rect">
            <a:avLst/>
          </a:prstGeom>
        </p:spPr>
      </p:pic>
      <p:sp>
        <p:nvSpPr>
          <p:cNvPr id="9" name="baseline-label">
            <a:extLst>
              <a:ext uri="{FF2B5EF4-FFF2-40B4-BE49-F238E27FC236}">
                <a16:creationId xmlns:a16="http://schemas.microsoft.com/office/drawing/2014/main" id="{A487092C-6191-46DC-9E1A-6C993579DA2C}"/>
              </a:ext>
            </a:extLst>
          </p:cNvPr>
          <p:cNvSpPr>
            <a:spLocks noGrp="1"/>
          </p:cNvSpPr>
          <p:nvPr/>
        </p:nvSpPr>
        <p:spPr>
          <a:xfrm>
            <a:off x="685800" y="5934075"/>
            <a:ext cx="2857500" cy="266700"/>
          </a:xfrm>
          <a:prstGeom prst="rect">
            <a:avLst/>
          </a:prstGeom>
          <a:noFill/>
          <a:ln w="0">
            <a:noFill/>
          </a:ln>
        </p:spPr>
        <p:txBody>
          <a:bodyPr wrap="square" lIns="0" tIns="0" rIns="0" bIns="0" anchor="t">
            <a:noAutofit/>
          </a:bodyPr>
          <a:lstStyle>
            <a:defPPr algn="l">
              <a:defRPr sz="1388" b="1">
                <a:solidFill>
                  <a:srgbClr val="277F89"/>
                </a:solidFill>
                <a:latin typeface="Arial"/>
                <a:ea typeface="Arial"/>
                <a:cs typeface="Arial"/>
              </a:defRPr>
            </a:defPPr>
          </a:lstStyle>
          <a:p>
            <a:pPr algn="l">
              <a:defRPr sz="1388" b="1">
                <a:solidFill>
                  <a:srgbClr val="277F89"/>
                </a:solidFill>
                <a:latin typeface="Arial"/>
                <a:ea typeface="Arial"/>
                <a:cs typeface="Arial"/>
              </a:defRPr>
            </a:pPr>
            <a:r>
              <a:rPr sz="1388" b="1">
                <a:solidFill>
                  <a:srgbClr val="277F89"/>
                </a:solidFill>
                <a:latin typeface="Arial"/>
                <a:ea typeface="Arial"/>
                <a:cs typeface="Arial"/>
              </a:rPr>
              <a:t>A / SIDE-WALL PLACEMENT</a:t>
            </a:r>
          </a:p>
        </p:txBody>
      </p:sp>
      <p:sp>
        <p:nvSpPr>
          <p:cNvPr id="10" name="candidate-label">
            <a:extLst>
              <a:ext uri="{FF2B5EF4-FFF2-40B4-BE49-F238E27FC236}">
                <a16:creationId xmlns:a16="http://schemas.microsoft.com/office/drawing/2014/main" id="{D9CDF36C-0C28-4FD4-AD9C-DDC65D0C0D41}"/>
              </a:ext>
            </a:extLst>
          </p:cNvPr>
          <p:cNvSpPr>
            <a:spLocks noGrp="1"/>
          </p:cNvSpPr>
          <p:nvPr/>
        </p:nvSpPr>
        <p:spPr>
          <a:xfrm>
            <a:off x="3781425" y="5934075"/>
            <a:ext cx="2924175" cy="266700"/>
          </a:xfrm>
          <a:prstGeom prst="rect">
            <a:avLst/>
          </a:prstGeom>
          <a:noFill/>
          <a:ln w="0">
            <a:noFill/>
          </a:ln>
        </p:spPr>
        <p:txBody>
          <a:bodyPr wrap="square" lIns="0" tIns="0" rIns="0" bIns="0" anchor="t">
            <a:noAutofit/>
          </a:bodyPr>
          <a:lstStyle>
            <a:defPPr algn="l">
              <a:defRPr sz="1388" b="1">
                <a:solidFill>
                  <a:srgbClr val="277F89"/>
                </a:solidFill>
                <a:latin typeface="Arial"/>
                <a:ea typeface="Arial"/>
                <a:cs typeface="Arial"/>
              </a:defRPr>
            </a:defPPr>
          </a:lstStyle>
          <a:p>
            <a:pPr algn="l">
              <a:defRPr sz="1388" b="1">
                <a:solidFill>
                  <a:srgbClr val="277F89"/>
                </a:solidFill>
                <a:latin typeface="Arial"/>
                <a:ea typeface="Arial"/>
                <a:cs typeface="Arial"/>
              </a:defRPr>
            </a:pPr>
            <a:r>
              <a:rPr sz="1388" b="1">
                <a:solidFill>
                  <a:srgbClr val="277F89"/>
                </a:solidFill>
                <a:latin typeface="Arial"/>
                <a:ea typeface="Arial"/>
                <a:cs typeface="Arial"/>
              </a:rPr>
              <a:t>B / REAR-WALL PLACEMENT</a:t>
            </a:r>
          </a:p>
        </p:txBody>
      </p:sp>
      <p:sp>
        <p:nvSpPr>
          <p:cNvPr id="11" name="scenario-question">
            <a:extLst>
              <a:ext uri="{FF2B5EF4-FFF2-40B4-BE49-F238E27FC236}">
                <a16:creationId xmlns:a16="http://schemas.microsoft.com/office/drawing/2014/main" id="{9A03C82D-67BC-4D2F-92B1-E29AB47B2C42}"/>
              </a:ext>
            </a:extLst>
          </p:cNvPr>
          <p:cNvSpPr>
            <a:spLocks noGrp="1"/>
          </p:cNvSpPr>
          <p:nvPr/>
        </p:nvSpPr>
        <p:spPr>
          <a:xfrm>
            <a:off x="685800" y="6276975"/>
            <a:ext cx="9810750" cy="295275"/>
          </a:xfrm>
          <a:prstGeom prst="rect">
            <a:avLst/>
          </a:prstGeom>
          <a:noFill/>
          <a:ln w="0">
            <a:noFill/>
          </a:ln>
        </p:spPr>
        <p:txBody>
          <a:bodyPr wrap="square" lIns="0" tIns="0" rIns="0" bIns="0" anchor="t">
            <a:noAutofit/>
          </a:bodyPr>
          <a:lstStyle>
            <a:defPPr algn="l">
              <a:defRPr sz="1725" b="1">
                <a:solidFill>
                  <a:srgbClr val="20282C"/>
                </a:solidFill>
                <a:latin typeface="Arial"/>
                <a:ea typeface="Arial"/>
                <a:cs typeface="Arial"/>
              </a:defRPr>
            </a:defPPr>
          </a:lstStyle>
          <a:p>
            <a:pPr algn="l">
              <a:defRPr sz="1725" b="1">
                <a:solidFill>
                  <a:srgbClr val="20282C"/>
                </a:solidFill>
                <a:latin typeface="Arial"/>
                <a:ea typeface="Arial"/>
                <a:cs typeface="Arial"/>
              </a:defRPr>
            </a:pPr>
            <a:r>
              <a:rPr sz="1725" b="1">
                <a:solidFill>
                  <a:srgbClr val="20282C"/>
                </a:solidFill>
                <a:latin typeface="Arial"/>
                <a:ea typeface="Arial"/>
                <a:cs typeface="Arial"/>
              </a:rPr>
              <a:t>Which placement balances comfort and electricity?</a:t>
            </a:r>
          </a:p>
        </p:txBody>
      </p:sp>
      <p:graphicFrame>
        <p:nvGraphicFramePr>
          <p:cNvPr id="12" name="configuration-inputs">
            <a:extLst>
              <a:ext uri="{FF2B5EF4-FFF2-40B4-BE49-F238E27FC236}">
                <a16:creationId xmlns:a16="http://schemas.microsoft.com/office/drawing/2014/main" id="{F7E017B7-6521-422D-A503-92141DDF03F5}"/>
              </a:ext>
            </a:extLst>
          </p:cNvPr>
          <p:cNvGraphicFramePr/>
          <p:nvPr/>
        </p:nvGraphicFramePr>
        <p:xfrm>
          <a:off x="6858000" y="2667000"/>
          <a:ext cx="4648200" cy="1619250"/>
        </p:xfrm>
        <a:graphic>
          <a:graphicData uri="http://schemas.openxmlformats.org/drawingml/2006/table">
            <a:tbl>
              <a:tblPr/>
              <a:tblGrid>
                <a:gridCol w="1924050">
                  <a:extLst>
                    <a:ext uri="{9D8B030D-6E8A-4147-A177-3AD203B41FA5}">
                      <a16:colId xmlns:a16="http://schemas.microsoft.com/office/drawing/2014/main" val="20000"/>
                    </a:ext>
                  </a:extLst>
                </a:gridCol>
                <a:gridCol w="1362075">
                  <a:extLst>
                    <a:ext uri="{9D8B030D-6E8A-4147-A177-3AD203B41FA5}">
                      <a16:colId xmlns:a16="http://schemas.microsoft.com/office/drawing/2014/main" val="20001"/>
                    </a:ext>
                  </a:extLst>
                </a:gridCol>
                <a:gridCol w="1362075">
                  <a:extLst>
                    <a:ext uri="{9D8B030D-6E8A-4147-A177-3AD203B41FA5}">
                      <a16:colId xmlns:a16="http://schemas.microsoft.com/office/drawing/2014/main" val="20002"/>
                    </a:ext>
                  </a:extLst>
                </a:gridCol>
              </a:tblGrid>
              <a:tr h="323850">
                <a:tc>
                  <a:txBody>
                    <a:bodyPr/>
                    <a:lstStyle/>
                    <a:p>
                      <a:pPr algn="l"/>
                      <a:r>
                        <a:rPr sz="1275" b="1">
                          <a:solidFill>
                            <a:srgbClr val="20282C"/>
                          </a:solidFill>
                          <a:latin typeface="Arial"/>
                          <a:ea typeface="Arial"/>
                          <a:cs typeface="Arial"/>
                        </a:rPr>
                        <a:t>Parameter</a:t>
                      </a:r>
                    </a:p>
                  </a:txBody>
                  <a:tcPr marL="95250" marR="76200" marT="47625" marB="47625" anchor="ctr">
                    <a:lnL w="0">
                      <a:solidFill>
                        <a:srgbClr val="FFFFFF"/>
                      </a:solidFill>
                    </a:lnL>
                    <a:lnT w="0">
                      <a:solidFill>
                        <a:srgbClr val="FFFFFF"/>
                      </a:solidFill>
                    </a:lnT>
                    <a:solidFill>
                      <a:srgbClr val="F1F4F5"/>
                    </a:solidFill>
                  </a:tcPr>
                </a:tc>
                <a:tc>
                  <a:txBody>
                    <a:bodyPr/>
                    <a:lstStyle/>
                    <a:p>
                      <a:pPr algn="l"/>
                      <a:r>
                        <a:rPr sz="1275" b="1">
                          <a:solidFill>
                            <a:srgbClr val="20282C"/>
                          </a:solidFill>
                          <a:latin typeface="Arial"/>
                          <a:ea typeface="Arial"/>
                          <a:cs typeface="Arial"/>
                        </a:rPr>
                        <a:t>A / Baseline</a:t>
                      </a:r>
                    </a:p>
                  </a:txBody>
                  <a:tcPr marL="95250" marR="76200" marT="47625" marB="47625" anchor="ctr">
                    <a:lnT w="0">
                      <a:solidFill>
                        <a:srgbClr val="FFFFFF"/>
                      </a:solidFill>
                    </a:lnT>
                    <a:solidFill>
                      <a:srgbClr val="F1F4F5"/>
                    </a:solidFill>
                  </a:tcPr>
                </a:tc>
                <a:tc>
                  <a:txBody>
                    <a:bodyPr/>
                    <a:lstStyle/>
                    <a:p>
                      <a:pPr algn="l"/>
                      <a:r>
                        <a:rPr sz="1275" b="1">
                          <a:solidFill>
                            <a:srgbClr val="20282C"/>
                          </a:solidFill>
                          <a:latin typeface="Arial"/>
                          <a:ea typeface="Arial"/>
                          <a:cs typeface="Arial"/>
                        </a:rPr>
                        <a:t>B / Candidate</a:t>
                      </a:r>
                    </a:p>
                  </a:txBody>
                  <a:tcPr marL="95250" marR="76200" marT="47625" marB="47625" anchor="ctr">
                    <a:lnR w="0">
                      <a:solidFill>
                        <a:srgbClr val="FFFFFF"/>
                      </a:solidFill>
                    </a:lnR>
                    <a:lnT w="0">
                      <a:solidFill>
                        <a:srgbClr val="FFFFFF"/>
                      </a:solidFill>
                    </a:lnT>
                    <a:solidFill>
                      <a:srgbClr val="F1F4F5"/>
                    </a:solidFill>
                  </a:tcPr>
                </a:tc>
                <a:extLst>
                  <a:ext uri="{0D108BD9-81ED-4DB2-BD59-A6C34878D82A}">
                    <a16:rowId xmlns:a16="http://schemas.microsoft.com/office/drawing/2014/main" val="10000"/>
                  </a:ext>
                </a:extLst>
              </a:tr>
              <a:tr h="323850">
                <a:tc>
                  <a:txBody>
                    <a:bodyPr/>
                    <a:lstStyle/>
                    <a:p>
                      <a:pPr algn="l"/>
                      <a:r>
                        <a:rPr sz="1313" b="1">
                          <a:solidFill>
                            <a:srgbClr val="20282C"/>
                          </a:solidFill>
                          <a:latin typeface="Arial"/>
                          <a:ea typeface="Arial"/>
                          <a:cs typeface="Arial"/>
                        </a:rPr>
                        <a:t>AC placement</a:t>
                      </a:r>
                    </a:p>
                  </a:txBody>
                  <a:tcPr marL="95250" marR="76200" marT="47625" marB="47625" anchor="ctr">
                    <a:lnL w="0">
                      <a:solidFill>
                        <a:srgbClr val="FFFFFF"/>
                      </a:solidFill>
                    </a:lnL>
                    <a:solidFill>
                      <a:srgbClr val="FFFFFF"/>
                    </a:solidFill>
                  </a:tcPr>
                </a:tc>
                <a:tc>
                  <a:txBody>
                    <a:bodyPr/>
                    <a:lstStyle/>
                    <a:p>
                      <a:pPr algn="l"/>
                      <a:r>
                        <a:rPr sz="1313" b="0">
                          <a:solidFill>
                            <a:srgbClr val="536069"/>
                          </a:solidFill>
                          <a:latin typeface="Arial"/>
                          <a:ea typeface="Arial"/>
                          <a:cs typeface="Arial"/>
                        </a:rPr>
                        <a:t>Side wall</a:t>
                      </a:r>
                    </a:p>
                  </a:txBody>
                  <a:tcPr marL="95250" marR="76200" marT="47625" marB="47625" anchor="ctr">
                    <a:solidFill>
                      <a:srgbClr val="FFFFFF"/>
                    </a:solidFill>
                  </a:tcPr>
                </a:tc>
                <a:tc>
                  <a:txBody>
                    <a:bodyPr/>
                    <a:lstStyle/>
                    <a:p>
                      <a:pPr algn="l"/>
                      <a:r>
                        <a:rPr sz="1313" b="0">
                          <a:solidFill>
                            <a:srgbClr val="536069"/>
                          </a:solidFill>
                          <a:latin typeface="Arial"/>
                          <a:ea typeface="Arial"/>
                          <a:cs typeface="Arial"/>
                        </a:rPr>
                        <a:t>Rear wall</a:t>
                      </a:r>
                    </a:p>
                  </a:txBody>
                  <a:tcPr marL="95250" marR="76200" marT="47625" marB="47625" anchor="ctr">
                    <a:lnR w="0">
                      <a:solidFill>
                        <a:srgbClr val="FFFFFF"/>
                      </a:solidFill>
                    </a:lnR>
                    <a:solidFill>
                      <a:srgbClr val="FFFFFF"/>
                    </a:solidFill>
                  </a:tcPr>
                </a:tc>
                <a:extLst>
                  <a:ext uri="{0D108BD9-81ED-4DB2-BD59-A6C34878D82A}">
                    <a16:rowId xmlns:a16="http://schemas.microsoft.com/office/drawing/2014/main" val="10001"/>
                  </a:ext>
                </a:extLst>
              </a:tr>
              <a:tr h="323850">
                <a:tc>
                  <a:txBody>
                    <a:bodyPr/>
                    <a:lstStyle/>
                    <a:p>
                      <a:pPr algn="l"/>
                      <a:r>
                        <a:rPr sz="1313" b="1">
                          <a:solidFill>
                            <a:srgbClr val="20282C"/>
                          </a:solidFill>
                          <a:latin typeface="Arial"/>
                          <a:ea typeface="Arial"/>
                          <a:cs typeface="Arial"/>
                        </a:rPr>
                        <a:t>Setpoint</a:t>
                      </a:r>
                    </a:p>
                  </a:txBody>
                  <a:tcPr marL="95250" marR="76200" marT="47625" marB="47625" anchor="ctr">
                    <a:lnL w="0">
                      <a:solidFill>
                        <a:srgbClr val="FFFFFF"/>
                      </a:solidFill>
                    </a:lnL>
                    <a:solidFill>
                      <a:srgbClr val="FFFFFF"/>
                    </a:solidFill>
                  </a:tcPr>
                </a:tc>
                <a:tc>
                  <a:txBody>
                    <a:bodyPr/>
                    <a:lstStyle/>
                    <a:p>
                      <a:pPr algn="l"/>
                      <a:r>
                        <a:rPr sz="1313" b="0">
                          <a:solidFill>
                            <a:srgbClr val="536069"/>
                          </a:solidFill>
                          <a:latin typeface="Arial"/>
                          <a:ea typeface="Arial"/>
                          <a:cs typeface="Arial"/>
                        </a:rPr>
                        <a:t>26 °C</a:t>
                      </a:r>
                    </a:p>
                  </a:txBody>
                  <a:tcPr marL="95250" marR="76200" marT="47625" marB="47625" anchor="ctr">
                    <a:solidFill>
                      <a:srgbClr val="FFFFFF"/>
                    </a:solidFill>
                  </a:tcPr>
                </a:tc>
                <a:tc>
                  <a:txBody>
                    <a:bodyPr/>
                    <a:lstStyle/>
                    <a:p>
                      <a:pPr algn="l"/>
                      <a:r>
                        <a:rPr sz="1313" b="0">
                          <a:solidFill>
                            <a:srgbClr val="536069"/>
                          </a:solidFill>
                          <a:latin typeface="Arial"/>
                          <a:ea typeface="Arial"/>
                          <a:cs typeface="Arial"/>
                        </a:rPr>
                        <a:t>26 °C</a:t>
                      </a:r>
                    </a:p>
                  </a:txBody>
                  <a:tcPr marL="95250" marR="76200" marT="47625" marB="47625" anchor="ctr">
                    <a:lnR w="0">
                      <a:solidFill>
                        <a:srgbClr val="FFFFFF"/>
                      </a:solidFill>
                    </a:lnR>
                    <a:solidFill>
                      <a:srgbClr val="FFFFFF"/>
                    </a:solidFill>
                  </a:tcPr>
                </a:tc>
                <a:extLst>
                  <a:ext uri="{0D108BD9-81ED-4DB2-BD59-A6C34878D82A}">
                    <a16:rowId xmlns:a16="http://schemas.microsoft.com/office/drawing/2014/main" val="10002"/>
                  </a:ext>
                </a:extLst>
              </a:tr>
              <a:tr h="323850">
                <a:tc>
                  <a:txBody>
                    <a:bodyPr/>
                    <a:lstStyle/>
                    <a:p>
                      <a:pPr algn="l"/>
                      <a:r>
                        <a:rPr sz="1313" b="1">
                          <a:solidFill>
                            <a:srgbClr val="20282C"/>
                          </a:solidFill>
                          <a:latin typeface="Arial"/>
                          <a:ea typeface="Arial"/>
                          <a:cs typeface="Arial"/>
                        </a:rPr>
                        <a:t>Supply airflow</a:t>
                      </a:r>
                    </a:p>
                  </a:txBody>
                  <a:tcPr marL="95250" marR="76200" marT="47625" marB="47625" anchor="ctr">
                    <a:lnL w="0">
                      <a:solidFill>
                        <a:srgbClr val="FFFFFF"/>
                      </a:solidFill>
                    </a:lnL>
                    <a:solidFill>
                      <a:srgbClr val="FFFFFF"/>
                    </a:solidFill>
                  </a:tcPr>
                </a:tc>
                <a:tc>
                  <a:txBody>
                    <a:bodyPr/>
                    <a:lstStyle/>
                    <a:p>
                      <a:pPr algn="l"/>
                      <a:r>
                        <a:rPr sz="1313" b="0">
                          <a:solidFill>
                            <a:srgbClr val="536069"/>
                          </a:solidFill>
                          <a:latin typeface="Arial"/>
                          <a:ea typeface="Arial"/>
                          <a:cs typeface="Arial"/>
                        </a:rPr>
                        <a:t>0.18 m³/s</a:t>
                      </a:r>
                    </a:p>
                  </a:txBody>
                  <a:tcPr marL="95250" marR="76200" marT="47625" marB="47625" anchor="ctr">
                    <a:solidFill>
                      <a:srgbClr val="FFFFFF"/>
                    </a:solidFill>
                  </a:tcPr>
                </a:tc>
                <a:tc>
                  <a:txBody>
                    <a:bodyPr/>
                    <a:lstStyle/>
                    <a:p>
                      <a:pPr algn="l"/>
                      <a:r>
                        <a:rPr sz="1313" b="0">
                          <a:solidFill>
                            <a:srgbClr val="536069"/>
                          </a:solidFill>
                          <a:latin typeface="Arial"/>
                          <a:ea typeface="Arial"/>
                          <a:cs typeface="Arial"/>
                        </a:rPr>
                        <a:t>0.18 m³/s</a:t>
                      </a:r>
                    </a:p>
                  </a:txBody>
                  <a:tcPr marL="95250" marR="76200" marT="47625" marB="47625" anchor="ctr">
                    <a:lnR w="0">
                      <a:solidFill>
                        <a:srgbClr val="FFFFFF"/>
                      </a:solidFill>
                    </a:lnR>
                    <a:solidFill>
                      <a:srgbClr val="FFFFFF"/>
                    </a:solidFill>
                  </a:tcPr>
                </a:tc>
                <a:extLst>
                  <a:ext uri="{0D108BD9-81ED-4DB2-BD59-A6C34878D82A}">
                    <a16:rowId xmlns:a16="http://schemas.microsoft.com/office/drawing/2014/main" val="10003"/>
                  </a:ext>
                </a:extLst>
              </a:tr>
              <a:tr h="323850">
                <a:tc>
                  <a:txBody>
                    <a:bodyPr/>
                    <a:lstStyle/>
                    <a:p>
                      <a:pPr algn="l"/>
                      <a:r>
                        <a:rPr sz="1313" b="1">
                          <a:solidFill>
                            <a:srgbClr val="20282C"/>
                          </a:solidFill>
                          <a:latin typeface="Arial"/>
                          <a:ea typeface="Arial"/>
                          <a:cs typeface="Arial"/>
                        </a:rPr>
                        <a:t>Operating period</a:t>
                      </a:r>
                    </a:p>
                  </a:txBody>
                  <a:tcPr marL="95250" marR="76200" marT="47625" marB="47625" anchor="ctr">
                    <a:lnL w="0">
                      <a:solidFill>
                        <a:srgbClr val="FFFFFF"/>
                      </a:solidFill>
                    </a:lnL>
                    <a:lnB w="6668">
                      <a:solidFill>
                        <a:srgbClr val="D7DFE3"/>
                      </a:solidFill>
                    </a:lnB>
                    <a:solidFill>
                      <a:srgbClr val="FFFFFF"/>
                    </a:solidFill>
                  </a:tcPr>
                </a:tc>
                <a:tc>
                  <a:txBody>
                    <a:bodyPr/>
                    <a:lstStyle/>
                    <a:p>
                      <a:pPr algn="l"/>
                      <a:r>
                        <a:rPr sz="1313" b="0">
                          <a:solidFill>
                            <a:srgbClr val="536069"/>
                          </a:solidFill>
                          <a:latin typeface="Arial"/>
                          <a:ea typeface="Arial"/>
                          <a:cs typeface="Arial"/>
                        </a:rPr>
                        <a:t>09:00–17:00</a:t>
                      </a:r>
                    </a:p>
                  </a:txBody>
                  <a:tcPr marL="95250" marR="76200" marT="47625" marB="47625" anchor="ctr">
                    <a:lnB w="6668">
                      <a:solidFill>
                        <a:srgbClr val="D7DFE3"/>
                      </a:solidFill>
                    </a:lnB>
                    <a:solidFill>
                      <a:srgbClr val="FFFFFF"/>
                    </a:solidFill>
                  </a:tcPr>
                </a:tc>
                <a:tc>
                  <a:txBody>
                    <a:bodyPr/>
                    <a:lstStyle/>
                    <a:p>
                      <a:pPr algn="l"/>
                      <a:r>
                        <a:rPr sz="1313" b="0">
                          <a:solidFill>
                            <a:srgbClr val="536069"/>
                          </a:solidFill>
                          <a:latin typeface="Arial"/>
                          <a:ea typeface="Arial"/>
                          <a:cs typeface="Arial"/>
                        </a:rPr>
                        <a:t>09:00–17:00</a:t>
                      </a:r>
                    </a:p>
                  </a:txBody>
                  <a:tcPr marL="95250" marR="76200" marT="47625" marB="47625" anchor="ctr">
                    <a:lnR w="0">
                      <a:solidFill>
                        <a:srgbClr val="FFFFFF"/>
                      </a:solidFill>
                    </a:lnR>
                    <a:lnB w="6668">
                      <a:solidFill>
                        <a:srgbClr val="D7DFE3"/>
                      </a:solidFill>
                    </a:lnB>
                    <a:solidFill>
                      <a:srgbClr val="FFFFFF"/>
                    </a:solidFill>
                  </a:tcPr>
                </a:tc>
                <a:extLst>
                  <a:ext uri="{0D108BD9-81ED-4DB2-BD59-A6C34878D82A}">
                    <a16:rowId xmlns:a16="http://schemas.microsoft.com/office/drawing/2014/main" val="10004"/>
                  </a:ext>
                </a:extLst>
              </a:tr>
            </a:tbl>
          </a:graphicData>
        </a:graphic>
      </p:graphicFrame>
      <p:sp>
        <p:nvSpPr>
          <p:cNvPr id="13" name="scenario-input-caption">
            <a:extLst>
              <a:ext uri="{FF2B5EF4-FFF2-40B4-BE49-F238E27FC236}">
                <a16:creationId xmlns:a16="http://schemas.microsoft.com/office/drawing/2014/main" id="{1620498A-6130-4F10-BD90-3372DB585929}"/>
              </a:ext>
            </a:extLst>
          </p:cNvPr>
          <p:cNvSpPr>
            <a:spLocks noGrp="1"/>
          </p:cNvSpPr>
          <p:nvPr/>
        </p:nvSpPr>
        <p:spPr>
          <a:xfrm>
            <a:off x="6858000" y="4371975"/>
            <a:ext cx="4648200" cy="228600"/>
          </a:xfrm>
          <a:prstGeom prst="rect">
            <a:avLst/>
          </a:prstGeom>
          <a:noFill/>
          <a:ln w="0">
            <a:noFill/>
          </a:ln>
        </p:spPr>
        <p:txBody>
          <a:bodyPr wrap="square" lIns="0" tIns="0" rIns="0" bIns="0" anchor="t">
            <a:noAutofit/>
          </a:bodyPr>
          <a:lstStyle>
            <a:defPPr algn="l">
              <a:defRPr sz="1088" b="0">
                <a:solidFill>
                  <a:srgbClr val="64727A"/>
                </a:solidFill>
                <a:latin typeface="Arial"/>
                <a:ea typeface="Arial"/>
                <a:cs typeface="Arial"/>
              </a:defRPr>
            </a:defPPr>
          </a:lstStyle>
          <a:p>
            <a:pPr algn="l">
              <a:defRPr sz="1088" b="0">
                <a:solidFill>
                  <a:srgbClr val="64727A"/>
                </a:solidFill>
                <a:latin typeface="Arial"/>
                <a:ea typeface="Arial"/>
                <a:cs typeface="Arial"/>
              </a:defRPr>
            </a:pPr>
            <a:r>
              <a:rPr sz="1088" b="0">
                <a:solidFill>
                  <a:srgbClr val="64727A"/>
                </a:solidFill>
                <a:latin typeface="Arial"/>
                <a:ea typeface="Arial"/>
                <a:cs typeface="Arial"/>
              </a:rPr>
              <a:t>Illustrative inputs. AC placement is the intended change.</a:t>
            </a:r>
          </a:p>
        </p:txBody>
      </p:sp>
      <p:sp>
        <p:nvSpPr>
          <p:cNvPr id="14" name="evidence-heading">
            <a:extLst>
              <a:ext uri="{FF2B5EF4-FFF2-40B4-BE49-F238E27FC236}">
                <a16:creationId xmlns:a16="http://schemas.microsoft.com/office/drawing/2014/main" id="{71622A18-5C31-4E26-BF54-33264645F774}"/>
              </a:ext>
            </a:extLst>
          </p:cNvPr>
          <p:cNvSpPr>
            <a:spLocks noGrp="1"/>
          </p:cNvSpPr>
          <p:nvPr/>
        </p:nvSpPr>
        <p:spPr>
          <a:xfrm>
            <a:off x="6858000" y="4629150"/>
            <a:ext cx="4648200" cy="266700"/>
          </a:xfrm>
          <a:prstGeom prst="rect">
            <a:avLst/>
          </a:prstGeom>
          <a:noFill/>
          <a:ln w="0">
            <a:noFill/>
          </a:ln>
        </p:spPr>
        <p:txBody>
          <a:bodyPr wrap="square" lIns="0" tIns="0" rIns="0" bIns="0" anchor="t">
            <a:noAutofit/>
          </a:bodyPr>
          <a:lstStyle>
            <a:defPPr algn="l">
              <a:defRPr sz="1500" b="1">
                <a:solidFill>
                  <a:srgbClr val="277F89"/>
                </a:solidFill>
                <a:latin typeface="Arial"/>
                <a:ea typeface="Arial"/>
                <a:cs typeface="Arial"/>
              </a:defRPr>
            </a:defPPr>
          </a:lstStyle>
          <a:p>
            <a:pPr algn="l">
              <a:defRPr sz="1500" b="1">
                <a:solidFill>
                  <a:srgbClr val="277F89"/>
                </a:solidFill>
                <a:latin typeface="Arial"/>
                <a:ea typeface="Arial"/>
                <a:cs typeface="Arial"/>
              </a:defRPr>
            </a:pPr>
            <a:r>
              <a:rPr sz="1500" b="1">
                <a:solidFill>
                  <a:srgbClr val="277F89"/>
                </a:solidFill>
                <a:latin typeface="Arial"/>
                <a:ea typeface="Arial"/>
                <a:cs typeface="Arial"/>
              </a:rPr>
              <a:t>EVALUATION / RESULTS PENDING</a:t>
            </a:r>
          </a:p>
        </p:txBody>
      </p:sp>
      <p:graphicFrame>
        <p:nvGraphicFramePr>
          <p:cNvPr id="15" name="scenario-evaluation">
            <a:extLst>
              <a:ext uri="{FF2B5EF4-FFF2-40B4-BE49-F238E27FC236}">
                <a16:creationId xmlns:a16="http://schemas.microsoft.com/office/drawing/2014/main" id="{678527E6-AF62-468C-BE7D-5948D9E1B9AE}"/>
              </a:ext>
            </a:extLst>
          </p:cNvPr>
          <p:cNvGraphicFramePr/>
          <p:nvPr/>
        </p:nvGraphicFramePr>
        <p:xfrm>
          <a:off x="6858000" y="4953000"/>
          <a:ext cx="4648200" cy="1276350"/>
        </p:xfrm>
        <a:graphic>
          <a:graphicData uri="http://schemas.openxmlformats.org/drawingml/2006/table">
            <a:tbl>
              <a:tblPr/>
              <a:tblGrid>
                <a:gridCol w="1428750">
                  <a:extLst>
                    <a:ext uri="{9D8B030D-6E8A-4147-A177-3AD203B41FA5}">
                      <a16:colId xmlns:a16="http://schemas.microsoft.com/office/drawing/2014/main" val="20000"/>
                    </a:ext>
                  </a:extLst>
                </a:gridCol>
                <a:gridCol w="3219450">
                  <a:extLst>
                    <a:ext uri="{9D8B030D-6E8A-4147-A177-3AD203B41FA5}">
                      <a16:colId xmlns:a16="http://schemas.microsoft.com/office/drawing/2014/main" val="20001"/>
                    </a:ext>
                  </a:extLst>
                </a:gridCol>
              </a:tblGrid>
              <a:tr h="533400">
                <a:tc>
                  <a:txBody>
                    <a:bodyPr/>
                    <a:lstStyle/>
                    <a:p>
                      <a:pPr algn="l"/>
                      <a:r>
                        <a:rPr sz="1275" b="1">
                          <a:solidFill>
                            <a:srgbClr val="20282C"/>
                          </a:solidFill>
                          <a:latin typeface="Arial"/>
                          <a:ea typeface="Arial"/>
                          <a:cs typeface="Arial"/>
                        </a:rPr>
                        <a:t>Seat comfort</a:t>
                      </a:r>
                    </a:p>
                  </a:txBody>
                  <a:tcPr marL="95250" marR="76200" marT="47625" marB="47625" anchor="ctr">
                    <a:lnL w="0">
                      <a:solidFill>
                        <a:srgbClr val="FFFFFF"/>
                      </a:solidFill>
                    </a:lnL>
                    <a:lnT w="0">
                      <a:solidFill>
                        <a:srgbClr val="FFFFFF"/>
                      </a:solidFill>
                    </a:lnT>
                    <a:solidFill>
                      <a:srgbClr val="F1F4F5"/>
                    </a:solidFill>
                  </a:tcPr>
                </a:tc>
                <a:tc>
                  <a:txBody>
                    <a:bodyPr/>
                    <a:lstStyle/>
                    <a:p>
                      <a:pPr algn="l"/>
                      <a:r>
                        <a:rPr sz="1238" b="0">
                          <a:solidFill>
                            <a:srgbClr val="536069"/>
                          </a:solidFill>
                          <a:latin typeface="Arial"/>
                          <a:ea typeface="Arial"/>
                          <a:cs typeface="Arial"/>
                        </a:rPr>
                        <a:t>Temperature, radiation, air speed</a:t>
                      </a:r>
                    </a:p>
                    <a:p>
                      <a:pPr algn="l"/>
                      <a:r>
                        <a:rPr sz="1238" b="0">
                          <a:solidFill>
                            <a:srgbClr val="536069"/>
                          </a:solidFill>
                          <a:latin typeface="Arial"/>
                          <a:ea typeface="Arial"/>
                          <a:cs typeface="Arial"/>
                        </a:rPr>
                        <a:t>Humidity, clothing, activity [6]</a:t>
                      </a:r>
                    </a:p>
                  </a:txBody>
                  <a:tcPr marL="95250" marR="76200" marT="47625" marB="47625" anchor="ctr">
                    <a:lnR w="0">
                      <a:solidFill>
                        <a:srgbClr val="FFFFFF"/>
                      </a:solidFill>
                    </a:lnR>
                    <a:lnT w="0">
                      <a:solidFill>
                        <a:srgbClr val="FFFFFF"/>
                      </a:solidFill>
                    </a:lnT>
                    <a:solidFill>
                      <a:srgbClr val="FFFFFF"/>
                    </a:solidFill>
                  </a:tcPr>
                </a:tc>
                <a:extLst>
                  <a:ext uri="{0D108BD9-81ED-4DB2-BD59-A6C34878D82A}">
                    <a16:rowId xmlns:a16="http://schemas.microsoft.com/office/drawing/2014/main" val="10000"/>
                  </a:ext>
                </a:extLst>
              </a:tr>
              <a:tr h="371475">
                <a:tc>
                  <a:txBody>
                    <a:bodyPr/>
                    <a:lstStyle/>
                    <a:p>
                      <a:pPr algn="l"/>
                      <a:r>
                        <a:rPr sz="1275" b="1">
                          <a:solidFill>
                            <a:srgbClr val="20282C"/>
                          </a:solidFill>
                          <a:latin typeface="Arial"/>
                          <a:ea typeface="Arial"/>
                          <a:cs typeface="Arial"/>
                        </a:rPr>
                        <a:t>Electricity</a:t>
                      </a:r>
                    </a:p>
                  </a:txBody>
                  <a:tcPr marL="95250" marR="76200" marT="47625" marB="47625" anchor="ctr">
                    <a:lnL w="0">
                      <a:solidFill>
                        <a:srgbClr val="FFFFFF"/>
                      </a:solidFill>
                    </a:lnL>
                    <a:solidFill>
                      <a:srgbClr val="F1F4F5"/>
                    </a:solidFill>
                  </a:tcPr>
                </a:tc>
                <a:tc>
                  <a:txBody>
                    <a:bodyPr/>
                    <a:lstStyle/>
                    <a:p>
                      <a:pPr algn="l"/>
                      <a:r>
                        <a:rPr sz="1238" b="0">
                          <a:solidFill>
                            <a:srgbClr val="536069"/>
                          </a:solidFill>
                          <a:latin typeface="Arial"/>
                          <a:ea typeface="Arial"/>
                          <a:cs typeface="Arial"/>
                        </a:rPr>
                        <a:t>Representative-day kWh</a:t>
                      </a:r>
                    </a:p>
                  </a:txBody>
                  <a:tcPr marL="95250" marR="76200" marT="47625" marB="47625" anchor="ctr">
                    <a:lnR w="0">
                      <a:solidFill>
                        <a:srgbClr val="FFFFFF"/>
                      </a:solidFill>
                    </a:lnR>
                    <a:solidFill>
                      <a:srgbClr val="FFFFFF"/>
                    </a:solidFill>
                  </a:tcPr>
                </a:tc>
                <a:extLst>
                  <a:ext uri="{0D108BD9-81ED-4DB2-BD59-A6C34878D82A}">
                    <a16:rowId xmlns:a16="http://schemas.microsoft.com/office/drawing/2014/main" val="10001"/>
                  </a:ext>
                </a:extLst>
              </a:tr>
              <a:tr h="371475">
                <a:tc>
                  <a:txBody>
                    <a:bodyPr/>
                    <a:lstStyle/>
                    <a:p>
                      <a:pPr algn="l"/>
                      <a:r>
                        <a:rPr sz="1275" b="1">
                          <a:solidFill>
                            <a:srgbClr val="20282C"/>
                          </a:solidFill>
                          <a:latin typeface="Arial"/>
                          <a:ea typeface="Arial"/>
                          <a:cs typeface="Arial"/>
                        </a:rPr>
                        <a:t>Operating cost</a:t>
                      </a:r>
                    </a:p>
                  </a:txBody>
                  <a:tcPr marL="95250" marR="76200" marT="47625" marB="47625" anchor="ctr">
                    <a:lnL w="0">
                      <a:solidFill>
                        <a:srgbClr val="FFFFFF"/>
                      </a:solidFill>
                    </a:lnL>
                    <a:lnB w="6668">
                      <a:solidFill>
                        <a:srgbClr val="D7DFE3"/>
                      </a:solidFill>
                    </a:lnB>
                    <a:solidFill>
                      <a:srgbClr val="F1F4F5"/>
                    </a:solidFill>
                  </a:tcPr>
                </a:tc>
                <a:tc>
                  <a:txBody>
                    <a:bodyPr/>
                    <a:lstStyle/>
                    <a:p>
                      <a:pPr algn="l"/>
                      <a:r>
                        <a:rPr sz="1238" b="0">
                          <a:solidFill>
                            <a:srgbClr val="536069"/>
                          </a:solidFill>
                          <a:latin typeface="Arial"/>
                          <a:ea typeface="Arial"/>
                          <a:cs typeface="Arial"/>
                        </a:rPr>
                        <a:t>Daily kWh × sourced tariff</a:t>
                      </a:r>
                    </a:p>
                  </a:txBody>
                  <a:tcPr marL="95250" marR="76200" marT="47625" marB="47625" anchor="ctr">
                    <a:lnR w="0">
                      <a:solidFill>
                        <a:srgbClr val="FFFFFF"/>
                      </a:solidFill>
                    </a:lnR>
                    <a:lnB w="6668">
                      <a:solidFill>
                        <a:srgbClr val="D7DFE3"/>
                      </a:solidFill>
                    </a:lnB>
                    <a:solidFill>
                      <a:srgbClr val="FFFFFF"/>
                    </a:solidFill>
                  </a:tcPr>
                </a:tc>
                <a:extLst>
                  <a:ext uri="{0D108BD9-81ED-4DB2-BD59-A6C34878D82A}">
                    <a16:rowId xmlns:a16="http://schemas.microsoft.com/office/drawing/2014/main" val="10002"/>
                  </a:ext>
                </a:extLst>
              </a:tr>
            </a:tbl>
          </a:graphicData>
        </a:graphic>
      </p:graphicFrame>
      <p:sp>
        <p:nvSpPr>
          <p:cNvPr id="16" name="scenario-page-number">
            <a:extLst>
              <a:ext uri="{FF2B5EF4-FFF2-40B4-BE49-F238E27FC236}">
                <a16:creationId xmlns:a16="http://schemas.microsoft.com/office/drawing/2014/main" id="{DF91FB9E-C2FC-41DB-9B0E-333FCC28BF14}"/>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05</a:t>
            </a:r>
          </a:p>
        </p:txBody>
      </p:sp>
      <p:sp>
        <p:nvSpPr>
          <p:cNvPr id="17" name="scenario-footer">
            <a:extLst>
              <a:ext uri="{FF2B5EF4-FFF2-40B4-BE49-F238E27FC236}">
                <a16:creationId xmlns:a16="http://schemas.microsoft.com/office/drawing/2014/main" id="{1DAD66A4-D527-4377-A12C-65FFA6834F6F}"/>
              </a:ext>
            </a:extLst>
          </p:cNvPr>
          <p:cNvSpPr>
            <a:spLocks noGrp="1"/>
          </p:cNvSpPr>
          <p:nvPr/>
        </p:nvSpPr>
        <p:spPr>
          <a:xfrm>
            <a:off x="685800" y="6619875"/>
            <a:ext cx="10668000" cy="190500"/>
          </a:xfrm>
          <a:prstGeom prst="rect">
            <a:avLst/>
          </a:prstGeom>
          <a:noFill/>
          <a:ln w="0">
            <a:noFill/>
          </a:ln>
        </p:spPr>
        <p:txBody>
          <a:bodyPr wrap="square" lIns="0" tIns="0" rIns="0" bIns="0" anchor="t">
            <a:noAutofit/>
          </a:bodyPr>
          <a:lstStyle>
            <a:defPPr algn="l">
              <a:defRPr sz="938" b="0">
                <a:solidFill>
                  <a:srgbClr val="64727A"/>
                </a:solidFill>
                <a:latin typeface="Arial"/>
                <a:ea typeface="Arial"/>
                <a:cs typeface="Arial"/>
              </a:defRPr>
            </a:defPPr>
          </a:lstStyle>
          <a:p>
            <a:pPr algn="l">
              <a:defRPr sz="938" b="0">
                <a:solidFill>
                  <a:srgbClr val="64727A"/>
                </a:solidFill>
                <a:latin typeface="Arial"/>
                <a:ea typeface="Arial"/>
                <a:cs typeface="Arial"/>
              </a:defRPr>
            </a:pPr>
            <a:r>
              <a:rPr sz="938" b="0">
                <a:solidFill>
                  <a:srgbClr val="64727A"/>
                </a:solidFill>
                <a:latin typeface="Arial"/>
                <a:ea typeface="Arial"/>
                <a:cs typeface="Arial"/>
              </a:rPr>
              <a:t>[4,6] Proposed evaluation. Geometry and input values are hypothetical. Complete inputs and valid runs are required before comparing results.</a:t>
            </a:r>
          </a:p>
        </p:txBody>
      </p:sp>
    </p:spTree>
    <p:extLst>
      <p:ext uri="{BB962C8B-B14F-4D97-AF65-F5344CB8AC3E}">
        <p14:creationId xmlns:p14="http://schemas.microsoft.com/office/powerpoint/2010/main" val="81657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Elbow Connector 1">
            <a:extLst>
              <a:ext uri="{FF2B5EF4-FFF2-40B4-BE49-F238E27FC236}">
                <a16:creationId xmlns:a16="http://schemas.microsoft.com/office/drawing/2014/main" id="{E66CDFD8-79DC-4EE0-B0FD-214F31D63B77}"/>
              </a:ext>
            </a:extLst>
          </p:cNvPr>
          <p:cNvCxnSpPr>
            <a:stCxn id="15" idx="3"/>
            <a:endCxn id="16" idx="1"/>
          </p:cNvCxnSpPr>
          <p:nvPr/>
        </p:nvCxnSpPr>
        <p:spPr>
          <a:xfrm flipV="1">
            <a:off x="7524750" y="4038600"/>
            <a:ext cx="609600" cy="752475"/>
          </a:xfrm>
          <a:prstGeom prst="bentConnector3">
            <a:avLst>
              <a:gd name="adj1" fmla="val 50000"/>
            </a:avLst>
          </a:prstGeom>
          <a:ln w="14288">
            <a:solidFill>
              <a:srgbClr val="277F89"/>
            </a:solidFill>
            <a:tailEnd type="triangle" w="sm" len="sm"/>
          </a:ln>
        </p:spPr>
      </p:cxnSp>
      <p:cxnSp>
        <p:nvCxnSpPr>
          <p:cNvPr id="3" name="Elbow Connector 2">
            <a:extLst>
              <a:ext uri="{FF2B5EF4-FFF2-40B4-BE49-F238E27FC236}">
                <a16:creationId xmlns:a16="http://schemas.microsoft.com/office/drawing/2014/main" id="{C39BF3DC-550B-4577-9FAC-C5FFE0C5A65F}"/>
              </a:ext>
            </a:extLst>
          </p:cNvPr>
          <p:cNvCxnSpPr>
            <a:stCxn id="14" idx="3"/>
            <a:endCxn id="16" idx="1"/>
          </p:cNvCxnSpPr>
          <p:nvPr/>
        </p:nvCxnSpPr>
        <p:spPr>
          <a:xfrm>
            <a:off x="7524750" y="3286125"/>
            <a:ext cx="609600" cy="752475"/>
          </a:xfrm>
          <a:prstGeom prst="bentConnector3">
            <a:avLst>
              <a:gd name="adj1" fmla="val 50000"/>
            </a:avLst>
          </a:prstGeom>
          <a:ln w="14288">
            <a:solidFill>
              <a:srgbClr val="277F89"/>
            </a:solidFill>
            <a:tailEnd type="triangle" w="sm" len="sm"/>
          </a:ln>
        </p:spPr>
      </p:cxnSp>
      <p:cxnSp>
        <p:nvCxnSpPr>
          <p:cNvPr id="4" name="Elbow Connector 3">
            <a:extLst>
              <a:ext uri="{FF2B5EF4-FFF2-40B4-BE49-F238E27FC236}">
                <a16:creationId xmlns:a16="http://schemas.microsoft.com/office/drawing/2014/main" id="{58638A4F-5FE2-4A5C-AA86-48A8D4D0AF6D}"/>
              </a:ext>
            </a:extLst>
          </p:cNvPr>
          <p:cNvCxnSpPr>
            <a:stCxn id="13" idx="3"/>
            <a:endCxn id="15" idx="1"/>
          </p:cNvCxnSpPr>
          <p:nvPr/>
        </p:nvCxnSpPr>
        <p:spPr>
          <a:xfrm>
            <a:off x="3486150" y="4038600"/>
            <a:ext cx="590550" cy="752475"/>
          </a:xfrm>
          <a:prstGeom prst="bentConnector3">
            <a:avLst>
              <a:gd name="adj1" fmla="val 50000"/>
            </a:avLst>
          </a:prstGeom>
          <a:ln w="14288">
            <a:solidFill>
              <a:srgbClr val="277F89"/>
            </a:solidFill>
            <a:tailEnd type="triangle" w="sm" len="sm"/>
          </a:ln>
        </p:spPr>
      </p:cxnSp>
      <p:cxnSp>
        <p:nvCxnSpPr>
          <p:cNvPr id="5" name="Elbow Connector 4">
            <a:extLst>
              <a:ext uri="{FF2B5EF4-FFF2-40B4-BE49-F238E27FC236}">
                <a16:creationId xmlns:a16="http://schemas.microsoft.com/office/drawing/2014/main" id="{93DADEDF-C33C-4737-980F-BAFF6AC9FC23}"/>
              </a:ext>
            </a:extLst>
          </p:cNvPr>
          <p:cNvCxnSpPr>
            <a:stCxn id="13" idx="3"/>
            <a:endCxn id="14" idx="1"/>
          </p:cNvCxnSpPr>
          <p:nvPr/>
        </p:nvCxnSpPr>
        <p:spPr>
          <a:xfrm flipV="1">
            <a:off x="3486150" y="3286125"/>
            <a:ext cx="590550" cy="752475"/>
          </a:xfrm>
          <a:prstGeom prst="bentConnector3">
            <a:avLst>
              <a:gd name="adj1" fmla="val 50000"/>
            </a:avLst>
          </a:prstGeom>
          <a:ln w="14288">
            <a:solidFill>
              <a:srgbClr val="277F89"/>
            </a:solidFill>
            <a:tailEnd type="triangle" w="sm" len="sm"/>
          </a:ln>
        </p:spPr>
      </p:cxnSp>
      <p:sp>
        <p:nvSpPr>
          <p:cNvPr id="6" name="simunow-brand">
            <a:extLst>
              <a:ext uri="{FF2B5EF4-FFF2-40B4-BE49-F238E27FC236}">
                <a16:creationId xmlns:a16="http://schemas.microsoft.com/office/drawing/2014/main" id="{ACF71A67-E267-4A22-B729-FB001E03DA3F}"/>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7" name="slide-title">
            <a:extLst>
              <a:ext uri="{FF2B5EF4-FFF2-40B4-BE49-F238E27FC236}">
                <a16:creationId xmlns:a16="http://schemas.microsoft.com/office/drawing/2014/main" id="{7E65E8ED-E6E7-464E-8942-A30B9D592EB1}"/>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Evaluation method</a:t>
            </a:r>
          </a:p>
        </p:txBody>
      </p:sp>
      <p:sp>
        <p:nvSpPr>
          <p:cNvPr id="8" name="slide-subtitle">
            <a:extLst>
              <a:ext uri="{FF2B5EF4-FFF2-40B4-BE49-F238E27FC236}">
                <a16:creationId xmlns:a16="http://schemas.microsoft.com/office/drawing/2014/main" id="{222BB53C-92EB-4277-9691-A2FA3DDC835C}"/>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1875" b="0">
                <a:solidFill>
                  <a:srgbClr val="536069"/>
                </a:solidFill>
                <a:latin typeface="Arial"/>
                <a:ea typeface="Arial"/>
                <a:cs typeface="Arial"/>
              </a:defRPr>
            </a:defPPr>
          </a:lstStyle>
          <a:p>
            <a:pPr algn="l">
              <a:defRPr sz="1875" b="0">
                <a:solidFill>
                  <a:srgbClr val="536069"/>
                </a:solidFill>
                <a:latin typeface="Arial"/>
                <a:ea typeface="Arial"/>
                <a:cs typeface="Arial"/>
              </a:defRPr>
            </a:pPr>
            <a:r>
              <a:rPr sz="1875" b="0">
                <a:solidFill>
                  <a:srgbClr val="536069"/>
                </a:solidFill>
                <a:latin typeface="Arial"/>
                <a:ea typeface="Arial"/>
                <a:cs typeface="Arial"/>
              </a:rPr>
              <a:t>Planned workflow for comparing baseline and candidate room configurations</a:t>
            </a:r>
          </a:p>
        </p:txBody>
      </p:sp>
      <p:sp>
        <p:nvSpPr>
          <p:cNvPr id="9" name="page-number">
            <a:extLst>
              <a:ext uri="{FF2B5EF4-FFF2-40B4-BE49-F238E27FC236}">
                <a16:creationId xmlns:a16="http://schemas.microsoft.com/office/drawing/2014/main" id="{41EA4181-3D88-4F58-9483-5D2A1A6CBA31}"/>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06</a:t>
            </a:r>
          </a:p>
        </p:txBody>
      </p:sp>
      <p:sp>
        <p:nvSpPr>
          <p:cNvPr id="10" name="inputs-heading">
            <a:extLst>
              <a:ext uri="{FF2B5EF4-FFF2-40B4-BE49-F238E27FC236}">
                <a16:creationId xmlns:a16="http://schemas.microsoft.com/office/drawing/2014/main" id="{083FFF7B-FFF3-43D2-9772-E1D1D4720189}"/>
              </a:ext>
            </a:extLst>
          </p:cNvPr>
          <p:cNvSpPr>
            <a:spLocks noGrp="1"/>
          </p:cNvSpPr>
          <p:nvPr/>
        </p:nvSpPr>
        <p:spPr>
          <a:xfrm>
            <a:off x="685800" y="2266950"/>
            <a:ext cx="28003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01 / SHARED INPUTS</a:t>
            </a:r>
          </a:p>
        </p:txBody>
      </p:sp>
      <p:sp>
        <p:nvSpPr>
          <p:cNvPr id="11" name="analysis-heading">
            <a:extLst>
              <a:ext uri="{FF2B5EF4-FFF2-40B4-BE49-F238E27FC236}">
                <a16:creationId xmlns:a16="http://schemas.microsoft.com/office/drawing/2014/main" id="{25E95995-A16B-4979-93B9-4C241024552E}"/>
              </a:ext>
            </a:extLst>
          </p:cNvPr>
          <p:cNvSpPr>
            <a:spLocks noGrp="1"/>
          </p:cNvSpPr>
          <p:nvPr/>
        </p:nvSpPr>
        <p:spPr>
          <a:xfrm>
            <a:off x="4076700" y="2266950"/>
            <a:ext cx="34480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02 / ANALYSIS SCOPES</a:t>
            </a:r>
          </a:p>
        </p:txBody>
      </p:sp>
      <p:sp>
        <p:nvSpPr>
          <p:cNvPr id="12" name="decision-heading">
            <a:extLst>
              <a:ext uri="{FF2B5EF4-FFF2-40B4-BE49-F238E27FC236}">
                <a16:creationId xmlns:a16="http://schemas.microsoft.com/office/drawing/2014/main" id="{D112B9B3-6580-4EB5-8BF8-24D98085F76E}"/>
              </a:ext>
            </a:extLst>
          </p:cNvPr>
          <p:cNvSpPr>
            <a:spLocks noGrp="1"/>
          </p:cNvSpPr>
          <p:nvPr/>
        </p:nvSpPr>
        <p:spPr>
          <a:xfrm>
            <a:off x="8134350" y="2266950"/>
            <a:ext cx="3371850" cy="295275"/>
          </a:xfrm>
          <a:prstGeom prst="rect">
            <a:avLst/>
          </a:prstGeom>
          <a:noFill/>
          <a:ln w="0">
            <a:noFill/>
          </a:ln>
        </p:spPr>
        <p:txBody>
          <a:bodyPr wrap="square" lIns="0" tIns="0" rIns="0" bIns="0" anchor="t">
            <a:noAutofit/>
          </a:bodyPr>
          <a:lstStyle>
            <a:defPPr algn="l">
              <a:defRPr sz="1650" b="1">
                <a:solidFill>
                  <a:srgbClr val="277F89"/>
                </a:solidFill>
                <a:latin typeface="Arial"/>
                <a:ea typeface="Arial"/>
                <a:cs typeface="Arial"/>
              </a:defRPr>
            </a:defPPr>
          </a:lstStyle>
          <a:p>
            <a:pPr algn="l">
              <a:defRPr sz="1650" b="1">
                <a:solidFill>
                  <a:srgbClr val="277F89"/>
                </a:solidFill>
                <a:latin typeface="Arial"/>
                <a:ea typeface="Arial"/>
                <a:cs typeface="Arial"/>
              </a:defRPr>
            </a:pPr>
            <a:r>
              <a:rPr sz="1650" b="1">
                <a:solidFill>
                  <a:srgbClr val="277F89"/>
                </a:solidFill>
                <a:latin typeface="Arial"/>
                <a:ea typeface="Arial"/>
                <a:cs typeface="Arial"/>
              </a:rPr>
              <a:t>03 / DECISION EVIDENCE</a:t>
            </a:r>
          </a:p>
        </p:txBody>
      </p:sp>
      <p:sp>
        <p:nvSpPr>
          <p:cNvPr id="13" name="shared-room-inputs">
            <a:extLst>
              <a:ext uri="{FF2B5EF4-FFF2-40B4-BE49-F238E27FC236}">
                <a16:creationId xmlns:a16="http://schemas.microsoft.com/office/drawing/2014/main" id="{A46428D6-5C99-4BD2-8B8A-14E6BC33173D}"/>
              </a:ext>
            </a:extLst>
          </p:cNvPr>
          <p:cNvSpPr>
            <a:spLocks noGrp="1"/>
          </p:cNvSpPr>
          <p:nvPr/>
        </p:nvSpPr>
        <p:spPr>
          <a:xfrm>
            <a:off x="685800" y="2667000"/>
            <a:ext cx="2800350" cy="2743200"/>
          </a:xfrm>
          <a:prstGeom prst="rect">
            <a:avLst/>
          </a:prstGeom>
          <a:solidFill>
            <a:srgbClr val="FFFFFF"/>
          </a:solidFill>
          <a:ln w="9525">
            <a:solidFill>
              <a:srgbClr val="D7DFE3"/>
            </a:solidFill>
          </a:ln>
        </p:spPr>
        <p:txBody>
          <a:bodyPr/>
          <a:lstStyle/>
          <a:p>
            <a:endParaRPr lang="zh-CN" altLang="en-US"/>
          </a:p>
        </p:txBody>
      </p:sp>
      <p:sp>
        <p:nvSpPr>
          <p:cNvPr id="14" name="planned-energy-analysis">
            <a:extLst>
              <a:ext uri="{FF2B5EF4-FFF2-40B4-BE49-F238E27FC236}">
                <a16:creationId xmlns:a16="http://schemas.microsoft.com/office/drawing/2014/main" id="{21675756-229C-4EDE-92C2-AB951A64603B}"/>
              </a:ext>
            </a:extLst>
          </p:cNvPr>
          <p:cNvSpPr>
            <a:spLocks noGrp="1"/>
          </p:cNvSpPr>
          <p:nvPr/>
        </p:nvSpPr>
        <p:spPr>
          <a:xfrm>
            <a:off x="4076700" y="2667000"/>
            <a:ext cx="3448050" cy="1238250"/>
          </a:xfrm>
          <a:prstGeom prst="rect">
            <a:avLst/>
          </a:prstGeom>
          <a:solidFill>
            <a:srgbClr val="EAF4F5"/>
          </a:solidFill>
          <a:ln w="9525">
            <a:solidFill>
              <a:srgbClr val="D7DFE3"/>
            </a:solidFill>
          </a:ln>
        </p:spPr>
        <p:txBody>
          <a:bodyPr/>
          <a:lstStyle/>
          <a:p>
            <a:endParaRPr lang="zh-CN" altLang="en-US"/>
          </a:p>
        </p:txBody>
      </p:sp>
      <p:sp>
        <p:nvSpPr>
          <p:cNvPr id="15" name="planned-spatial-analysis">
            <a:extLst>
              <a:ext uri="{FF2B5EF4-FFF2-40B4-BE49-F238E27FC236}">
                <a16:creationId xmlns:a16="http://schemas.microsoft.com/office/drawing/2014/main" id="{E2A1EC72-A0BA-4B36-97DA-8638295805DC}"/>
              </a:ext>
            </a:extLst>
          </p:cNvPr>
          <p:cNvSpPr>
            <a:spLocks noGrp="1"/>
          </p:cNvSpPr>
          <p:nvPr/>
        </p:nvSpPr>
        <p:spPr>
          <a:xfrm>
            <a:off x="4076700" y="4171950"/>
            <a:ext cx="3448050" cy="1238250"/>
          </a:xfrm>
          <a:prstGeom prst="rect">
            <a:avLst/>
          </a:prstGeom>
          <a:solidFill>
            <a:srgbClr val="EAF4F5"/>
          </a:solidFill>
          <a:ln w="9525">
            <a:solidFill>
              <a:srgbClr val="D7DFE3"/>
            </a:solidFill>
          </a:ln>
        </p:spPr>
        <p:txBody>
          <a:bodyPr/>
          <a:lstStyle/>
          <a:p>
            <a:endParaRPr lang="zh-CN" altLang="en-US"/>
          </a:p>
        </p:txBody>
      </p:sp>
      <p:sp>
        <p:nvSpPr>
          <p:cNvPr id="16" name="decision-evidence">
            <a:extLst>
              <a:ext uri="{FF2B5EF4-FFF2-40B4-BE49-F238E27FC236}">
                <a16:creationId xmlns:a16="http://schemas.microsoft.com/office/drawing/2014/main" id="{293F6FAF-1C3F-4DF6-8D01-E1351A979B1C}"/>
              </a:ext>
            </a:extLst>
          </p:cNvPr>
          <p:cNvSpPr>
            <a:spLocks noGrp="1"/>
          </p:cNvSpPr>
          <p:nvPr/>
        </p:nvSpPr>
        <p:spPr>
          <a:xfrm>
            <a:off x="8134350" y="2667000"/>
            <a:ext cx="3371850" cy="2743200"/>
          </a:xfrm>
          <a:prstGeom prst="rect">
            <a:avLst/>
          </a:prstGeom>
          <a:solidFill>
            <a:srgbClr val="F1F4F5"/>
          </a:solidFill>
          <a:ln w="9525">
            <a:solidFill>
              <a:srgbClr val="D7DFE3"/>
            </a:solidFill>
          </a:ln>
        </p:spPr>
        <p:txBody>
          <a:bodyPr/>
          <a:lstStyle/>
          <a:p>
            <a:endParaRPr lang="zh-CN" altLang="en-US"/>
          </a:p>
        </p:txBody>
      </p:sp>
      <p:pic>
        <p:nvPicPr>
          <p:cNvPr id="17" name="Picture 16">
            <a:extLst>
              <a:ext uri="{FF2B5EF4-FFF2-40B4-BE49-F238E27FC236}">
                <a16:creationId xmlns:a16="http://schemas.microsoft.com/office/drawing/2014/main" id="{460B108C-19B6-4C1B-8864-4F0BEA81D692}"/>
              </a:ext>
            </a:extLst>
          </p:cNvPr>
          <p:cNvPicPr>
            <a:picLocks noChangeAspect="1"/>
          </p:cNvPicPr>
          <p:nvPr/>
        </p:nvPicPr>
        <p:blipFill>
          <a:blip r:embed="rId3"/>
          <a:stretch/>
        </p:blipFill>
        <p:spPr>
          <a:xfrm>
            <a:off x="1050925" y="2781300"/>
            <a:ext cx="2070100" cy="1552575"/>
          </a:xfrm>
          <a:prstGeom prst="rect">
            <a:avLst/>
          </a:prstGeom>
        </p:spPr>
      </p:pic>
      <p:sp>
        <p:nvSpPr>
          <p:cNvPr id="18" name="sampling-caption">
            <a:extLst>
              <a:ext uri="{FF2B5EF4-FFF2-40B4-BE49-F238E27FC236}">
                <a16:creationId xmlns:a16="http://schemas.microsoft.com/office/drawing/2014/main" id="{0A833FEF-C070-4055-96E3-C7AC661FF37E}"/>
              </a:ext>
            </a:extLst>
          </p:cNvPr>
          <p:cNvSpPr>
            <a:spLocks noGrp="1"/>
          </p:cNvSpPr>
          <p:nvPr/>
        </p:nvSpPr>
        <p:spPr>
          <a:xfrm>
            <a:off x="819150" y="4438650"/>
            <a:ext cx="2533650" cy="219075"/>
          </a:xfrm>
          <a:prstGeom prst="rect">
            <a:avLst/>
          </a:prstGeom>
          <a:noFill/>
          <a:ln w="0">
            <a:noFill/>
          </a:ln>
        </p:spPr>
        <p:txBody>
          <a:bodyPr wrap="square" lIns="0" tIns="0" rIns="0" bIns="0" anchor="t">
            <a:noAutofit/>
          </a:bodyPr>
          <a:lstStyle>
            <a:defPPr algn="l">
              <a:defRPr sz="1088" b="0">
                <a:solidFill>
                  <a:srgbClr val="64727A"/>
                </a:solidFill>
                <a:latin typeface="Arial"/>
                <a:ea typeface="Arial"/>
                <a:cs typeface="Arial"/>
              </a:defRPr>
            </a:defPPr>
          </a:lstStyle>
          <a:p>
            <a:pPr algn="l">
              <a:defRPr sz="1088" b="0">
                <a:solidFill>
                  <a:srgbClr val="64727A"/>
                </a:solidFill>
                <a:latin typeface="Arial"/>
                <a:ea typeface="Arial"/>
                <a:cs typeface="Arial"/>
              </a:defRPr>
            </a:pPr>
            <a:r>
              <a:rPr sz="1088" b="0">
                <a:solidFill>
                  <a:srgbClr val="64727A"/>
                </a:solidFill>
                <a:latin typeface="Arial"/>
                <a:ea typeface="Arial"/>
                <a:cs typeface="Arial"/>
              </a:rPr>
              <a:t>Occupied-seat samples (concept)</a:t>
            </a:r>
          </a:p>
        </p:txBody>
      </p:sp>
      <p:sp>
        <p:nvSpPr>
          <p:cNvPr id="19" name="common-input-list">
            <a:extLst>
              <a:ext uri="{FF2B5EF4-FFF2-40B4-BE49-F238E27FC236}">
                <a16:creationId xmlns:a16="http://schemas.microsoft.com/office/drawing/2014/main" id="{AD11DD05-7D17-4F6B-9E43-83484C9C9065}"/>
              </a:ext>
            </a:extLst>
          </p:cNvPr>
          <p:cNvSpPr>
            <a:spLocks noGrp="1"/>
          </p:cNvSpPr>
          <p:nvPr/>
        </p:nvSpPr>
        <p:spPr>
          <a:xfrm>
            <a:off x="819150" y="4714875"/>
            <a:ext cx="2533650" cy="666750"/>
          </a:xfrm>
          <a:prstGeom prst="rect">
            <a:avLst/>
          </a:prstGeom>
          <a:noFill/>
          <a:ln w="0">
            <a:noFill/>
          </a:ln>
        </p:spPr>
        <p:txBody>
          <a:bodyPr wrap="square" lIns="0" tIns="0" rIns="0" bIns="0" anchor="t">
            <a:noAutofit/>
          </a:bodyPr>
          <a:lstStyle>
            <a:defPPr algn="l">
              <a:defRPr sz="1388" b="0">
                <a:solidFill>
                  <a:srgbClr val="536069"/>
                </a:solidFill>
                <a:latin typeface="Arial"/>
                <a:ea typeface="Arial"/>
                <a:cs typeface="Arial"/>
              </a:defRPr>
            </a:defPPr>
          </a:lstStyle>
          <a:p>
            <a:pPr algn="l">
              <a:defRPr sz="1388" b="0">
                <a:solidFill>
                  <a:srgbClr val="536069"/>
                </a:solidFill>
                <a:latin typeface="Arial"/>
                <a:ea typeface="Arial"/>
                <a:cs typeface="Arial"/>
              </a:defRPr>
            </a:pPr>
            <a:r>
              <a:rPr sz="1388" b="0">
                <a:solidFill>
                  <a:srgbClr val="536069"/>
                </a:solidFill>
                <a:latin typeface="Arial"/>
                <a:ea typeface="Arial"/>
                <a:cs typeface="Arial"/>
              </a:rPr>
              <a:t>Geometry + envelope</a:t>
            </a:r>
          </a:p>
          <a:p>
            <a:pPr algn="l">
              <a:defRPr sz="1388" b="0">
                <a:solidFill>
                  <a:srgbClr val="536069"/>
                </a:solidFill>
                <a:latin typeface="Arial"/>
                <a:ea typeface="Arial"/>
                <a:cs typeface="Arial"/>
              </a:defRPr>
            </a:pPr>
            <a:r>
              <a:rPr sz="1388" b="0">
                <a:solidFill>
                  <a:srgbClr val="536069"/>
                </a:solidFill>
                <a:latin typeface="Arial"/>
                <a:ea typeface="Arial"/>
                <a:cs typeface="Arial"/>
              </a:rPr>
              <a:t>Weather + internal loads</a:t>
            </a:r>
          </a:p>
          <a:p>
            <a:pPr algn="l">
              <a:defRPr sz="1388" b="0">
                <a:solidFill>
                  <a:srgbClr val="536069"/>
                </a:solidFill>
                <a:latin typeface="Arial"/>
                <a:ea typeface="Arial"/>
                <a:cs typeface="Arial"/>
              </a:defRPr>
            </a:pPr>
            <a:r>
              <a:rPr sz="1388" b="0">
                <a:solidFill>
                  <a:srgbClr val="536069"/>
                </a:solidFill>
                <a:latin typeface="Arial"/>
                <a:ea typeface="Arial"/>
                <a:cs typeface="Arial"/>
              </a:rPr>
              <a:t>AC settings + schedule</a:t>
            </a:r>
          </a:p>
        </p:txBody>
      </p:sp>
      <p:sp>
        <p:nvSpPr>
          <p:cNvPr id="20" name="energy-engine">
            <a:extLst>
              <a:ext uri="{FF2B5EF4-FFF2-40B4-BE49-F238E27FC236}">
                <a16:creationId xmlns:a16="http://schemas.microsoft.com/office/drawing/2014/main" id="{E50E8172-B579-47D6-AED4-8F503372DC8B}"/>
              </a:ext>
            </a:extLst>
          </p:cNvPr>
          <p:cNvSpPr>
            <a:spLocks noGrp="1"/>
          </p:cNvSpPr>
          <p:nvPr/>
        </p:nvSpPr>
        <p:spPr>
          <a:xfrm>
            <a:off x="4210050" y="2771775"/>
            <a:ext cx="3181350" cy="295275"/>
          </a:xfrm>
          <a:prstGeom prst="rect">
            <a:avLst/>
          </a:prstGeom>
          <a:noFill/>
          <a:ln w="0">
            <a:noFill/>
          </a:ln>
        </p:spPr>
        <p:txBody>
          <a:bodyPr wrap="square" lIns="0" tIns="0" rIns="0" bIns="0" anchor="t">
            <a:noAutofit/>
          </a:bodyPr>
          <a:lstStyle>
            <a:defPPr algn="l">
              <a:defRPr sz="1800" b="1">
                <a:solidFill>
                  <a:srgbClr val="20282C"/>
                </a:solidFill>
                <a:latin typeface="Arial"/>
                <a:ea typeface="Arial"/>
                <a:cs typeface="Arial"/>
              </a:defRPr>
            </a:defPPr>
          </a:lstStyle>
          <a:p>
            <a:pPr algn="l">
              <a:defRPr sz="1800" b="1">
                <a:solidFill>
                  <a:srgbClr val="20282C"/>
                </a:solidFill>
                <a:latin typeface="Arial"/>
                <a:ea typeface="Arial"/>
                <a:cs typeface="Arial"/>
              </a:defRPr>
            </a:pPr>
            <a:r>
              <a:rPr sz="1800" b="1">
                <a:solidFill>
                  <a:srgbClr val="20282C"/>
                </a:solidFill>
                <a:latin typeface="Arial"/>
                <a:ea typeface="Arial"/>
                <a:cs typeface="Arial"/>
              </a:rPr>
              <a:t>EnergyPlus [7,8]</a:t>
            </a:r>
          </a:p>
        </p:txBody>
      </p:sp>
      <p:sp>
        <p:nvSpPr>
          <p:cNvPr id="21" name="energy-scope">
            <a:extLst>
              <a:ext uri="{FF2B5EF4-FFF2-40B4-BE49-F238E27FC236}">
                <a16:creationId xmlns:a16="http://schemas.microsoft.com/office/drawing/2014/main" id="{0D7E01D4-52B6-4E62-8AA3-6CDFCC1129DD}"/>
              </a:ext>
            </a:extLst>
          </p:cNvPr>
          <p:cNvSpPr>
            <a:spLocks noGrp="1"/>
          </p:cNvSpPr>
          <p:nvPr/>
        </p:nvSpPr>
        <p:spPr>
          <a:xfrm>
            <a:off x="4210050" y="3133725"/>
            <a:ext cx="3181350" cy="238125"/>
          </a:xfrm>
          <a:prstGeom prst="rect">
            <a:avLst/>
          </a:prstGeom>
          <a:noFill/>
          <a:ln w="0">
            <a:noFill/>
          </a:ln>
        </p:spPr>
        <p:txBody>
          <a:bodyPr wrap="square" lIns="0" tIns="0" rIns="0" bIns="0" anchor="t">
            <a:noAutofit/>
          </a:bodyPr>
          <a:lstStyle>
            <a:defPPr algn="l">
              <a:defRPr sz="1388" b="1">
                <a:solidFill>
                  <a:srgbClr val="277F89"/>
                </a:solidFill>
                <a:latin typeface="Arial"/>
                <a:ea typeface="Arial"/>
                <a:cs typeface="Arial"/>
              </a:defRPr>
            </a:defPPr>
          </a:lstStyle>
          <a:p>
            <a:pPr algn="l">
              <a:defRPr sz="1388" b="1">
                <a:solidFill>
                  <a:srgbClr val="277F89"/>
                </a:solidFill>
                <a:latin typeface="Arial"/>
                <a:ea typeface="Arial"/>
                <a:cs typeface="Arial"/>
              </a:defRPr>
            </a:pPr>
            <a:r>
              <a:rPr sz="1388" b="1">
                <a:solidFill>
                  <a:srgbClr val="277F89"/>
                </a:solidFill>
                <a:latin typeface="Arial"/>
                <a:ea typeface="Arial"/>
                <a:cs typeface="Arial"/>
              </a:rPr>
              <a:t>Representative day</a:t>
            </a:r>
          </a:p>
        </p:txBody>
      </p:sp>
      <p:sp>
        <p:nvSpPr>
          <p:cNvPr id="22" name="energy-output">
            <a:extLst>
              <a:ext uri="{FF2B5EF4-FFF2-40B4-BE49-F238E27FC236}">
                <a16:creationId xmlns:a16="http://schemas.microsoft.com/office/drawing/2014/main" id="{158FAA1C-B6DF-4F67-AA4B-ECEB7AAD3F6F}"/>
              </a:ext>
            </a:extLst>
          </p:cNvPr>
          <p:cNvSpPr>
            <a:spLocks noGrp="1"/>
          </p:cNvSpPr>
          <p:nvPr/>
        </p:nvSpPr>
        <p:spPr>
          <a:xfrm>
            <a:off x="4210050" y="3409950"/>
            <a:ext cx="3181350" cy="247650"/>
          </a:xfrm>
          <a:prstGeom prst="rect">
            <a:avLst/>
          </a:prstGeom>
          <a:noFill/>
          <a:ln w="0">
            <a:noFill/>
          </a:ln>
        </p:spPr>
        <p:txBody>
          <a:bodyPr wrap="square" lIns="0" tIns="0" rIns="0" bIns="0" anchor="t">
            <a:noAutofit/>
          </a:bodyPr>
          <a:lstStyle>
            <a:defPPr algn="l">
              <a:defRPr sz="1425" b="0">
                <a:solidFill>
                  <a:srgbClr val="536069"/>
                </a:solidFill>
                <a:latin typeface="Arial"/>
                <a:ea typeface="Arial"/>
                <a:cs typeface="Arial"/>
              </a:defRPr>
            </a:defPPr>
          </a:lstStyle>
          <a:p>
            <a:pPr algn="l">
              <a:defRPr sz="1425" b="0">
                <a:solidFill>
                  <a:srgbClr val="536069"/>
                </a:solidFill>
                <a:latin typeface="Arial"/>
                <a:ea typeface="Arial"/>
                <a:cs typeface="Arial"/>
              </a:defRPr>
            </a:pPr>
            <a:r>
              <a:rPr sz="1425" b="0">
                <a:solidFill>
                  <a:srgbClr val="536069"/>
                </a:solidFill>
                <a:latin typeface="Arial"/>
                <a:ea typeface="Arial"/>
                <a:cs typeface="Arial"/>
              </a:rPr>
              <a:t>AC electricity (kWh/day)</a:t>
            </a:r>
          </a:p>
        </p:txBody>
      </p:sp>
      <p:sp>
        <p:nvSpPr>
          <p:cNvPr id="23" name="energy-scope-limit">
            <a:extLst>
              <a:ext uri="{FF2B5EF4-FFF2-40B4-BE49-F238E27FC236}">
                <a16:creationId xmlns:a16="http://schemas.microsoft.com/office/drawing/2014/main" id="{42455F91-2815-48B9-8CF6-5E60A7D5E8BA}"/>
              </a:ext>
            </a:extLst>
          </p:cNvPr>
          <p:cNvSpPr>
            <a:spLocks noGrp="1"/>
          </p:cNvSpPr>
          <p:nvPr/>
        </p:nvSpPr>
        <p:spPr>
          <a:xfrm>
            <a:off x="4210050" y="3695700"/>
            <a:ext cx="3181350" cy="209550"/>
          </a:xfrm>
          <a:prstGeom prst="rect">
            <a:avLst/>
          </a:prstGeom>
          <a:noFill/>
          <a:ln w="0">
            <a:noFill/>
          </a:ln>
        </p:spPr>
        <p:txBody>
          <a:bodyPr wrap="square" lIns="0" tIns="0" rIns="0" bIns="0" anchor="t">
            <a:noAutofit/>
          </a:bodyPr>
          <a:lstStyle>
            <a:defPPr algn="l">
              <a:defRPr sz="1163" b="0">
                <a:solidFill>
                  <a:srgbClr val="64727A"/>
                </a:solidFill>
                <a:latin typeface="Arial"/>
                <a:ea typeface="Arial"/>
                <a:cs typeface="Arial"/>
              </a:defRPr>
            </a:defPPr>
          </a:lstStyle>
          <a:p>
            <a:pPr algn="l">
              <a:defRPr sz="1163" b="0">
                <a:solidFill>
                  <a:srgbClr val="64727A"/>
                </a:solidFill>
                <a:latin typeface="Arial"/>
                <a:ea typeface="Arial"/>
                <a:cs typeface="Arial"/>
              </a:defRPr>
            </a:pPr>
            <a:r>
              <a:rPr sz="1163" b="0">
                <a:solidFill>
                  <a:srgbClr val="64727A"/>
                </a:solidFill>
                <a:latin typeface="Arial"/>
                <a:ea typeface="Arial"/>
                <a:cs typeface="Arial"/>
              </a:rPr>
              <a:t>Annual savings need an annual basis</a:t>
            </a:r>
          </a:p>
        </p:txBody>
      </p:sp>
      <p:sp>
        <p:nvSpPr>
          <p:cNvPr id="24" name="airflow-engine">
            <a:extLst>
              <a:ext uri="{FF2B5EF4-FFF2-40B4-BE49-F238E27FC236}">
                <a16:creationId xmlns:a16="http://schemas.microsoft.com/office/drawing/2014/main" id="{E698E245-D500-43FC-B11E-B98E8FA7DA0B}"/>
              </a:ext>
            </a:extLst>
          </p:cNvPr>
          <p:cNvSpPr>
            <a:spLocks noGrp="1"/>
          </p:cNvSpPr>
          <p:nvPr/>
        </p:nvSpPr>
        <p:spPr>
          <a:xfrm>
            <a:off x="4210050" y="4276725"/>
            <a:ext cx="3181350" cy="295275"/>
          </a:xfrm>
          <a:prstGeom prst="rect">
            <a:avLst/>
          </a:prstGeom>
          <a:noFill/>
          <a:ln w="0">
            <a:noFill/>
          </a:ln>
        </p:spPr>
        <p:txBody>
          <a:bodyPr wrap="square" lIns="0" tIns="0" rIns="0" bIns="0" anchor="t">
            <a:noAutofit/>
          </a:bodyPr>
          <a:lstStyle>
            <a:defPPr algn="l">
              <a:defRPr sz="1800" b="1">
                <a:solidFill>
                  <a:srgbClr val="20282C"/>
                </a:solidFill>
                <a:latin typeface="Arial"/>
                <a:ea typeface="Arial"/>
                <a:cs typeface="Arial"/>
              </a:defRPr>
            </a:defPPr>
          </a:lstStyle>
          <a:p>
            <a:pPr algn="l">
              <a:defRPr sz="1800" b="1">
                <a:solidFill>
                  <a:srgbClr val="20282C"/>
                </a:solidFill>
                <a:latin typeface="Arial"/>
                <a:ea typeface="Arial"/>
                <a:cs typeface="Arial"/>
              </a:defRPr>
            </a:pPr>
            <a:r>
              <a:rPr sz="1800" b="1">
                <a:solidFill>
                  <a:srgbClr val="20282C"/>
                </a:solidFill>
                <a:latin typeface="Arial"/>
                <a:ea typeface="Arial"/>
                <a:cs typeface="Arial"/>
              </a:rPr>
              <a:t>OpenFOAM [9]</a:t>
            </a:r>
          </a:p>
        </p:txBody>
      </p:sp>
      <p:sp>
        <p:nvSpPr>
          <p:cNvPr id="25" name="airflow-scope">
            <a:extLst>
              <a:ext uri="{FF2B5EF4-FFF2-40B4-BE49-F238E27FC236}">
                <a16:creationId xmlns:a16="http://schemas.microsoft.com/office/drawing/2014/main" id="{17E4E20C-1093-4A18-A480-511DBECAC19E}"/>
              </a:ext>
            </a:extLst>
          </p:cNvPr>
          <p:cNvSpPr>
            <a:spLocks noGrp="1"/>
          </p:cNvSpPr>
          <p:nvPr/>
        </p:nvSpPr>
        <p:spPr>
          <a:xfrm>
            <a:off x="4210050" y="4638675"/>
            <a:ext cx="3181350" cy="238125"/>
          </a:xfrm>
          <a:prstGeom prst="rect">
            <a:avLst/>
          </a:prstGeom>
          <a:noFill/>
          <a:ln w="0">
            <a:noFill/>
          </a:ln>
        </p:spPr>
        <p:txBody>
          <a:bodyPr wrap="square" lIns="0" tIns="0" rIns="0" bIns="0" anchor="t">
            <a:noAutofit/>
          </a:bodyPr>
          <a:lstStyle>
            <a:defPPr algn="l">
              <a:defRPr sz="1388" b="1">
                <a:solidFill>
                  <a:srgbClr val="277F89"/>
                </a:solidFill>
                <a:latin typeface="Arial"/>
                <a:ea typeface="Arial"/>
                <a:cs typeface="Arial"/>
              </a:defRPr>
            </a:defPPr>
          </a:lstStyle>
          <a:p>
            <a:pPr algn="l">
              <a:defRPr sz="1388" b="1">
                <a:solidFill>
                  <a:srgbClr val="277F89"/>
                </a:solidFill>
                <a:latin typeface="Arial"/>
                <a:ea typeface="Arial"/>
                <a:cs typeface="Arial"/>
              </a:defRPr>
            </a:pPr>
            <a:r>
              <a:rPr sz="1388" b="1">
                <a:solidFill>
                  <a:srgbClr val="277F89"/>
                </a:solidFill>
                <a:latin typeface="Arial"/>
                <a:ea typeface="Arial"/>
                <a:cs typeface="Arial"/>
              </a:rPr>
              <a:t>Representative steady state</a:t>
            </a:r>
          </a:p>
        </p:txBody>
      </p:sp>
      <p:sp>
        <p:nvSpPr>
          <p:cNvPr id="26" name="airflow-output">
            <a:extLst>
              <a:ext uri="{FF2B5EF4-FFF2-40B4-BE49-F238E27FC236}">
                <a16:creationId xmlns:a16="http://schemas.microsoft.com/office/drawing/2014/main" id="{0E4F51EC-5F28-4B5F-B764-D25590FF0D0F}"/>
              </a:ext>
            </a:extLst>
          </p:cNvPr>
          <p:cNvSpPr>
            <a:spLocks noGrp="1"/>
          </p:cNvSpPr>
          <p:nvPr/>
        </p:nvSpPr>
        <p:spPr>
          <a:xfrm>
            <a:off x="4210050" y="4914900"/>
            <a:ext cx="3181350" cy="238125"/>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Air temperature (°C) + air speed (m/s)</a:t>
            </a:r>
          </a:p>
        </p:txBody>
      </p:sp>
      <p:sp>
        <p:nvSpPr>
          <p:cNvPr id="27" name="airflow-scope-limit">
            <a:extLst>
              <a:ext uri="{FF2B5EF4-FFF2-40B4-BE49-F238E27FC236}">
                <a16:creationId xmlns:a16="http://schemas.microsoft.com/office/drawing/2014/main" id="{17B453F0-19FE-4D9E-9434-98859D1A90F7}"/>
              </a:ext>
            </a:extLst>
          </p:cNvPr>
          <p:cNvSpPr>
            <a:spLocks noGrp="1"/>
          </p:cNvSpPr>
          <p:nvPr/>
        </p:nvSpPr>
        <p:spPr>
          <a:xfrm>
            <a:off x="4210050" y="5191125"/>
            <a:ext cx="3181350" cy="209550"/>
          </a:xfrm>
          <a:prstGeom prst="rect">
            <a:avLst/>
          </a:prstGeom>
          <a:noFill/>
          <a:ln w="0">
            <a:noFill/>
          </a:ln>
        </p:spPr>
        <p:txBody>
          <a:bodyPr wrap="square" lIns="0" tIns="0" rIns="0" bIns="0" anchor="t">
            <a:noAutofit/>
          </a:bodyPr>
          <a:lstStyle>
            <a:defPPr algn="l">
              <a:defRPr sz="1163" b="0">
                <a:solidFill>
                  <a:srgbClr val="64727A"/>
                </a:solidFill>
                <a:latin typeface="Arial"/>
                <a:ea typeface="Arial"/>
                <a:cs typeface="Arial"/>
              </a:defRPr>
            </a:defPPr>
          </a:lstStyle>
          <a:p>
            <a:pPr algn="l">
              <a:defRPr sz="1163" b="0">
                <a:solidFill>
                  <a:srgbClr val="64727A"/>
                </a:solidFill>
                <a:latin typeface="Arial"/>
                <a:ea typeface="Arial"/>
                <a:cs typeface="Arial"/>
              </a:defRPr>
            </a:pPr>
            <a:r>
              <a:rPr sz="1163" b="0">
                <a:solidFill>
                  <a:srgbClr val="64727A"/>
                </a:solidFill>
                <a:latin typeface="Arial"/>
                <a:ea typeface="Arial"/>
                <a:cs typeface="Arial"/>
              </a:rPr>
              <a:t>Cooldown time needs transient analysis</a:t>
            </a:r>
          </a:p>
        </p:txBody>
      </p:sp>
      <p:sp>
        <p:nvSpPr>
          <p:cNvPr id="28" name="comfort-heading">
            <a:extLst>
              <a:ext uri="{FF2B5EF4-FFF2-40B4-BE49-F238E27FC236}">
                <a16:creationId xmlns:a16="http://schemas.microsoft.com/office/drawing/2014/main" id="{27280EB4-BA06-48A8-95F4-44E609442078}"/>
              </a:ext>
            </a:extLst>
          </p:cNvPr>
          <p:cNvSpPr>
            <a:spLocks noGrp="1"/>
          </p:cNvSpPr>
          <p:nvPr/>
        </p:nvSpPr>
        <p:spPr>
          <a:xfrm>
            <a:off x="8267700" y="2790825"/>
            <a:ext cx="3105150" cy="276225"/>
          </a:xfrm>
          <a:prstGeom prst="rect">
            <a:avLst/>
          </a:prstGeom>
          <a:noFill/>
          <a:ln w="0">
            <a:noFill/>
          </a:ln>
        </p:spPr>
        <p:txBody>
          <a:bodyPr wrap="square" lIns="0" tIns="0" rIns="0" bIns="0" anchor="t">
            <a:noAutofit/>
          </a:bodyPr>
          <a:lstStyle>
            <a:defPPr algn="l">
              <a:defRPr sz="1538" b="1">
                <a:solidFill>
                  <a:srgbClr val="277F89"/>
                </a:solidFill>
                <a:latin typeface="Arial"/>
                <a:ea typeface="Arial"/>
                <a:cs typeface="Arial"/>
              </a:defRPr>
            </a:defPPr>
          </a:lstStyle>
          <a:p>
            <a:pPr algn="l">
              <a:defRPr sz="1538" b="1">
                <a:solidFill>
                  <a:srgbClr val="277F89"/>
                </a:solidFill>
                <a:latin typeface="Arial"/>
                <a:ea typeface="Arial"/>
                <a:cs typeface="Arial"/>
              </a:defRPr>
            </a:pPr>
            <a:r>
              <a:rPr sz="1538" b="1">
                <a:solidFill>
                  <a:srgbClr val="277F89"/>
                </a:solidFill>
                <a:latin typeface="Arial"/>
                <a:ea typeface="Arial"/>
                <a:cs typeface="Arial"/>
              </a:rPr>
              <a:t>Position-level comfort [6]</a:t>
            </a:r>
          </a:p>
        </p:txBody>
      </p:sp>
      <p:sp>
        <p:nvSpPr>
          <p:cNvPr id="29" name="comfort-required-inputs">
            <a:extLst>
              <a:ext uri="{FF2B5EF4-FFF2-40B4-BE49-F238E27FC236}">
                <a16:creationId xmlns:a16="http://schemas.microsoft.com/office/drawing/2014/main" id="{B0435DAB-DD4B-45CA-9004-F8D77415D954}"/>
              </a:ext>
            </a:extLst>
          </p:cNvPr>
          <p:cNvSpPr>
            <a:spLocks noGrp="1"/>
          </p:cNvSpPr>
          <p:nvPr/>
        </p:nvSpPr>
        <p:spPr>
          <a:xfrm>
            <a:off x="8267700" y="3124200"/>
            <a:ext cx="3105150" cy="638175"/>
          </a:xfrm>
          <a:prstGeom prst="rect">
            <a:avLst/>
          </a:prstGeom>
          <a:noFill/>
          <a:ln w="0">
            <a:noFill/>
          </a:ln>
        </p:spPr>
        <p:txBody>
          <a:bodyPr wrap="square" lIns="0" tIns="0" rIns="0" bIns="0" anchor="t">
            <a:noAutofit/>
          </a:bodyPr>
          <a:lstStyle>
            <a:defPPr algn="l">
              <a:defRPr sz="1350" b="0">
                <a:solidFill>
                  <a:srgbClr val="536069"/>
                </a:solidFill>
                <a:latin typeface="Arial"/>
                <a:ea typeface="Arial"/>
                <a:cs typeface="Arial"/>
              </a:defRPr>
            </a:defPPr>
          </a:lstStyle>
          <a:p>
            <a:pPr algn="l">
              <a:defRPr sz="1350" b="0">
                <a:solidFill>
                  <a:srgbClr val="536069"/>
                </a:solidFill>
                <a:latin typeface="Arial"/>
                <a:ea typeface="Arial"/>
                <a:cs typeface="Arial"/>
              </a:defRPr>
            </a:pPr>
            <a:r>
              <a:rPr sz="1350" b="0">
                <a:solidFill>
                  <a:srgbClr val="536069"/>
                </a:solidFill>
                <a:latin typeface="Arial"/>
                <a:ea typeface="Arial"/>
                <a:cs typeface="Arial"/>
              </a:rPr>
              <a:t>Air + mean radiant temperature</a:t>
            </a:r>
          </a:p>
          <a:p>
            <a:pPr algn="l">
              <a:defRPr sz="1350" b="0">
                <a:solidFill>
                  <a:srgbClr val="536069"/>
                </a:solidFill>
                <a:latin typeface="Arial"/>
                <a:ea typeface="Arial"/>
                <a:cs typeface="Arial"/>
              </a:defRPr>
            </a:pPr>
            <a:r>
              <a:rPr sz="1350" b="0">
                <a:solidFill>
                  <a:srgbClr val="536069"/>
                </a:solidFill>
                <a:latin typeface="Arial"/>
                <a:ea typeface="Arial"/>
                <a:cs typeface="Arial"/>
              </a:rPr>
              <a:t>Air speed + humidity</a:t>
            </a:r>
          </a:p>
          <a:p>
            <a:pPr algn="l">
              <a:defRPr sz="1350" b="0">
                <a:solidFill>
                  <a:srgbClr val="536069"/>
                </a:solidFill>
                <a:latin typeface="Arial"/>
                <a:ea typeface="Arial"/>
                <a:cs typeface="Arial"/>
              </a:defRPr>
            </a:pPr>
            <a:r>
              <a:rPr sz="1350" b="0">
                <a:solidFill>
                  <a:srgbClr val="536069"/>
                </a:solidFill>
                <a:latin typeface="Arial"/>
                <a:ea typeface="Arial"/>
                <a:cs typeface="Arial"/>
              </a:rPr>
              <a:t>Clothing + activity</a:t>
            </a:r>
          </a:p>
        </p:txBody>
      </p:sp>
      <p:sp>
        <p:nvSpPr>
          <p:cNvPr id="30" name="daily-energy-heading">
            <a:extLst>
              <a:ext uri="{FF2B5EF4-FFF2-40B4-BE49-F238E27FC236}">
                <a16:creationId xmlns:a16="http://schemas.microsoft.com/office/drawing/2014/main" id="{C80914E7-6829-4BC6-8417-62885139EE44}"/>
              </a:ext>
            </a:extLst>
          </p:cNvPr>
          <p:cNvSpPr>
            <a:spLocks noGrp="1"/>
          </p:cNvSpPr>
          <p:nvPr/>
        </p:nvSpPr>
        <p:spPr>
          <a:xfrm>
            <a:off x="8267700" y="3905250"/>
            <a:ext cx="3105150" cy="257175"/>
          </a:xfrm>
          <a:prstGeom prst="rect">
            <a:avLst/>
          </a:prstGeom>
          <a:noFill/>
          <a:ln w="0">
            <a:noFill/>
          </a:ln>
        </p:spPr>
        <p:txBody>
          <a:bodyPr wrap="square" lIns="0" tIns="0" rIns="0" bIns="0" anchor="t">
            <a:noAutofit/>
          </a:bodyPr>
          <a:lstStyle>
            <a:defPPr algn="l">
              <a:defRPr sz="1538" b="1">
                <a:solidFill>
                  <a:srgbClr val="277F89"/>
                </a:solidFill>
                <a:latin typeface="Arial"/>
                <a:ea typeface="Arial"/>
                <a:cs typeface="Arial"/>
              </a:defRPr>
            </a:defPPr>
          </a:lstStyle>
          <a:p>
            <a:pPr algn="l">
              <a:defRPr sz="1538" b="1">
                <a:solidFill>
                  <a:srgbClr val="277F89"/>
                </a:solidFill>
                <a:latin typeface="Arial"/>
                <a:ea typeface="Arial"/>
                <a:cs typeface="Arial"/>
              </a:defRPr>
            </a:pPr>
            <a:r>
              <a:rPr sz="1538" b="1">
                <a:solidFill>
                  <a:srgbClr val="277F89"/>
                </a:solidFill>
                <a:latin typeface="Arial"/>
                <a:ea typeface="Arial"/>
                <a:cs typeface="Arial"/>
              </a:rPr>
              <a:t>Daily AC electricity</a:t>
            </a:r>
          </a:p>
        </p:txBody>
      </p:sp>
      <p:sp>
        <p:nvSpPr>
          <p:cNvPr id="31" name="daily-energy-detail">
            <a:extLst>
              <a:ext uri="{FF2B5EF4-FFF2-40B4-BE49-F238E27FC236}">
                <a16:creationId xmlns:a16="http://schemas.microsoft.com/office/drawing/2014/main" id="{B7A30249-4E72-4F1E-A6DA-274E33039631}"/>
              </a:ext>
            </a:extLst>
          </p:cNvPr>
          <p:cNvSpPr>
            <a:spLocks noGrp="1"/>
          </p:cNvSpPr>
          <p:nvPr/>
        </p:nvSpPr>
        <p:spPr>
          <a:xfrm>
            <a:off x="8267700" y="4191000"/>
            <a:ext cx="3105150" cy="247650"/>
          </a:xfrm>
          <a:prstGeom prst="rect">
            <a:avLst/>
          </a:prstGeom>
          <a:noFill/>
          <a:ln w="0">
            <a:noFill/>
          </a:ln>
        </p:spPr>
        <p:txBody>
          <a:bodyPr wrap="square" lIns="0" tIns="0" rIns="0" bIns="0" anchor="t">
            <a:noAutofit/>
          </a:bodyPr>
          <a:lstStyle>
            <a:defPPr algn="l">
              <a:defRPr sz="1350" b="0">
                <a:solidFill>
                  <a:srgbClr val="536069"/>
                </a:solidFill>
                <a:latin typeface="Arial"/>
                <a:ea typeface="Arial"/>
                <a:cs typeface="Arial"/>
              </a:defRPr>
            </a:defPPr>
          </a:lstStyle>
          <a:p>
            <a:pPr algn="l">
              <a:defRPr sz="1350" b="0">
                <a:solidFill>
                  <a:srgbClr val="536069"/>
                </a:solidFill>
                <a:latin typeface="Arial"/>
                <a:ea typeface="Arial"/>
                <a:cs typeface="Arial"/>
              </a:defRPr>
            </a:pPr>
            <a:r>
              <a:rPr sz="1350" b="0">
                <a:solidFill>
                  <a:srgbClr val="536069"/>
                </a:solidFill>
                <a:latin typeface="Arial"/>
                <a:ea typeface="Arial"/>
                <a:cs typeface="Arial"/>
              </a:rPr>
              <a:t>Representative-day kWh</a:t>
            </a:r>
          </a:p>
        </p:txBody>
      </p:sp>
      <p:sp>
        <p:nvSpPr>
          <p:cNvPr id="32" name="cost-heading">
            <a:extLst>
              <a:ext uri="{FF2B5EF4-FFF2-40B4-BE49-F238E27FC236}">
                <a16:creationId xmlns:a16="http://schemas.microsoft.com/office/drawing/2014/main" id="{36D21F95-FBA9-406B-B4A7-5B00055D3B32}"/>
              </a:ext>
            </a:extLst>
          </p:cNvPr>
          <p:cNvSpPr>
            <a:spLocks noGrp="1"/>
          </p:cNvSpPr>
          <p:nvPr/>
        </p:nvSpPr>
        <p:spPr>
          <a:xfrm>
            <a:off x="8267700" y="4648200"/>
            <a:ext cx="3105150" cy="257175"/>
          </a:xfrm>
          <a:prstGeom prst="rect">
            <a:avLst/>
          </a:prstGeom>
          <a:noFill/>
          <a:ln w="0">
            <a:noFill/>
          </a:ln>
        </p:spPr>
        <p:txBody>
          <a:bodyPr wrap="square" lIns="0" tIns="0" rIns="0" bIns="0" anchor="t">
            <a:noAutofit/>
          </a:bodyPr>
          <a:lstStyle>
            <a:defPPr algn="l">
              <a:defRPr sz="1538" b="1">
                <a:solidFill>
                  <a:srgbClr val="277F89"/>
                </a:solidFill>
                <a:latin typeface="Arial"/>
                <a:ea typeface="Arial"/>
                <a:cs typeface="Arial"/>
              </a:defRPr>
            </a:defPPr>
          </a:lstStyle>
          <a:p>
            <a:pPr algn="l">
              <a:defRPr sz="1538" b="1">
                <a:solidFill>
                  <a:srgbClr val="277F89"/>
                </a:solidFill>
                <a:latin typeface="Arial"/>
                <a:ea typeface="Arial"/>
                <a:cs typeface="Arial"/>
              </a:defRPr>
            </a:pPr>
            <a:r>
              <a:rPr sz="1538" b="1">
                <a:solidFill>
                  <a:srgbClr val="277F89"/>
                </a:solidFill>
                <a:latin typeface="Arial"/>
                <a:ea typeface="Arial"/>
                <a:cs typeface="Arial"/>
              </a:rPr>
              <a:t>Operating cost</a:t>
            </a:r>
          </a:p>
        </p:txBody>
      </p:sp>
      <p:sp>
        <p:nvSpPr>
          <p:cNvPr id="33" name="cost-detail">
            <a:extLst>
              <a:ext uri="{FF2B5EF4-FFF2-40B4-BE49-F238E27FC236}">
                <a16:creationId xmlns:a16="http://schemas.microsoft.com/office/drawing/2014/main" id="{FA78DEE6-7402-42EE-A83D-083C65D24129}"/>
              </a:ext>
            </a:extLst>
          </p:cNvPr>
          <p:cNvSpPr>
            <a:spLocks noGrp="1"/>
          </p:cNvSpPr>
          <p:nvPr/>
        </p:nvSpPr>
        <p:spPr>
          <a:xfrm>
            <a:off x="8267700" y="4943475"/>
            <a:ext cx="3105150" cy="247650"/>
          </a:xfrm>
          <a:prstGeom prst="rect">
            <a:avLst/>
          </a:prstGeom>
          <a:noFill/>
          <a:ln w="0">
            <a:noFill/>
          </a:ln>
        </p:spPr>
        <p:txBody>
          <a:bodyPr wrap="square" lIns="0" tIns="0" rIns="0" bIns="0" anchor="t">
            <a:noAutofit/>
          </a:bodyPr>
          <a:lstStyle>
            <a:defPPr algn="l">
              <a:defRPr sz="1350" b="0">
                <a:solidFill>
                  <a:srgbClr val="536069"/>
                </a:solidFill>
                <a:latin typeface="Arial"/>
                <a:ea typeface="Arial"/>
                <a:cs typeface="Arial"/>
              </a:defRPr>
            </a:defPPr>
          </a:lstStyle>
          <a:p>
            <a:pPr algn="l">
              <a:defRPr sz="1350" b="0">
                <a:solidFill>
                  <a:srgbClr val="536069"/>
                </a:solidFill>
                <a:latin typeface="Arial"/>
                <a:ea typeface="Arial"/>
                <a:cs typeface="Arial"/>
              </a:defRPr>
            </a:pPr>
            <a:r>
              <a:rPr sz="1350" b="0">
                <a:solidFill>
                  <a:srgbClr val="536069"/>
                </a:solidFill>
                <a:latin typeface="Arial"/>
                <a:ea typeface="Arial"/>
                <a:cs typeface="Arial"/>
              </a:rPr>
              <a:t>Valid kWh + sourced tariff</a:t>
            </a:r>
          </a:p>
        </p:txBody>
      </p:sp>
      <p:sp>
        <p:nvSpPr>
          <p:cNvPr id="34" name="quality-heading">
            <a:extLst>
              <a:ext uri="{FF2B5EF4-FFF2-40B4-BE49-F238E27FC236}">
                <a16:creationId xmlns:a16="http://schemas.microsoft.com/office/drawing/2014/main" id="{A8D8FE46-4162-4645-9C7F-5E463A5686D7}"/>
              </a:ext>
            </a:extLst>
          </p:cNvPr>
          <p:cNvSpPr>
            <a:spLocks noGrp="1"/>
          </p:cNvSpPr>
          <p:nvPr/>
        </p:nvSpPr>
        <p:spPr>
          <a:xfrm>
            <a:off x="685800" y="5657850"/>
            <a:ext cx="10820400" cy="276225"/>
          </a:xfrm>
          <a:prstGeom prst="rect">
            <a:avLst/>
          </a:prstGeom>
          <a:noFill/>
          <a:ln w="0">
            <a:noFill/>
          </a:ln>
        </p:spPr>
        <p:txBody>
          <a:bodyPr wrap="square" lIns="0" tIns="0" rIns="0" bIns="0" anchor="t">
            <a:noAutofit/>
          </a:bodyPr>
          <a:lstStyle>
            <a:defPPr algn="l">
              <a:defRPr sz="1538" b="1">
                <a:solidFill>
                  <a:srgbClr val="277F89"/>
                </a:solidFill>
                <a:latin typeface="Arial"/>
                <a:ea typeface="Arial"/>
                <a:cs typeface="Arial"/>
              </a:defRPr>
            </a:defPPr>
          </a:lstStyle>
          <a:p>
            <a:pPr algn="l">
              <a:defRPr sz="1538" b="1">
                <a:solidFill>
                  <a:srgbClr val="277F89"/>
                </a:solidFill>
                <a:latin typeface="Arial"/>
                <a:ea typeface="Arial"/>
                <a:cs typeface="Arial"/>
              </a:defRPr>
            </a:pPr>
            <a:r>
              <a:rPr sz="1538" b="1">
                <a:solidFill>
                  <a:srgbClr val="277F89"/>
                </a:solidFill>
                <a:latin typeface="Arial"/>
                <a:ea typeface="Arial"/>
                <a:cs typeface="Arial"/>
              </a:rPr>
              <a:t>EVIDENCE BEFORE COMPARISON [4]</a:t>
            </a:r>
          </a:p>
        </p:txBody>
      </p:sp>
      <p:sp>
        <p:nvSpPr>
          <p:cNvPr id="35" name="check-0-label">
            <a:extLst>
              <a:ext uri="{FF2B5EF4-FFF2-40B4-BE49-F238E27FC236}">
                <a16:creationId xmlns:a16="http://schemas.microsoft.com/office/drawing/2014/main" id="{55378415-3A42-4ED3-91B3-40D4DE3676DA}"/>
              </a:ext>
            </a:extLst>
          </p:cNvPr>
          <p:cNvSpPr>
            <a:spLocks noGrp="1"/>
          </p:cNvSpPr>
          <p:nvPr/>
        </p:nvSpPr>
        <p:spPr>
          <a:xfrm>
            <a:off x="685800" y="6000750"/>
            <a:ext cx="2419350" cy="266700"/>
          </a:xfrm>
          <a:prstGeom prst="rect">
            <a:avLst/>
          </a:prstGeom>
          <a:noFill/>
          <a:ln w="0">
            <a:noFill/>
          </a:ln>
        </p:spPr>
        <p:txBody>
          <a:bodyPr wrap="square" lIns="0" tIns="0" rIns="0" bIns="0" anchor="t">
            <a:noAutofit/>
          </a:bodyPr>
          <a:lstStyle>
            <a:defPPr algn="l">
              <a:defRPr sz="1425" b="1">
                <a:solidFill>
                  <a:srgbClr val="20282C"/>
                </a:solidFill>
                <a:latin typeface="Arial"/>
                <a:ea typeface="Arial"/>
                <a:cs typeface="Arial"/>
              </a:defRPr>
            </a:defPPr>
          </a:lstStyle>
          <a:p>
            <a:pPr algn="l">
              <a:defRPr sz="1425" b="1">
                <a:solidFill>
                  <a:srgbClr val="20282C"/>
                </a:solidFill>
                <a:latin typeface="Arial"/>
                <a:ea typeface="Arial"/>
                <a:cs typeface="Arial"/>
              </a:defRPr>
            </a:pPr>
            <a:r>
              <a:rPr sz="1425" b="1">
                <a:solidFill>
                  <a:srgbClr val="20282C"/>
                </a:solidFill>
                <a:latin typeface="Arial"/>
                <a:ea typeface="Arial"/>
                <a:cs typeface="Arial"/>
              </a:rPr>
              <a:t>Inputs complete</a:t>
            </a:r>
          </a:p>
        </p:txBody>
      </p:sp>
      <p:sp>
        <p:nvSpPr>
          <p:cNvPr id="36" name="check-0-detail">
            <a:extLst>
              <a:ext uri="{FF2B5EF4-FFF2-40B4-BE49-F238E27FC236}">
                <a16:creationId xmlns:a16="http://schemas.microsoft.com/office/drawing/2014/main" id="{BE1E9F6D-E6A0-4187-AB37-07C5C4961C07}"/>
              </a:ext>
            </a:extLst>
          </p:cNvPr>
          <p:cNvSpPr>
            <a:spLocks noGrp="1"/>
          </p:cNvSpPr>
          <p:nvPr/>
        </p:nvSpPr>
        <p:spPr>
          <a:xfrm>
            <a:off x="685800" y="6286500"/>
            <a:ext cx="2419350" cy="228600"/>
          </a:xfrm>
          <a:prstGeom prst="rect">
            <a:avLst/>
          </a:prstGeom>
          <a:noFill/>
          <a:ln w="0">
            <a:noFill/>
          </a:ln>
        </p:spPr>
        <p:txBody>
          <a:bodyPr wrap="square" lIns="0" tIns="0" rIns="0" bIns="0" anchor="t">
            <a:noAutofit/>
          </a:bodyPr>
          <a:lstStyle>
            <a:defPPr algn="l">
              <a:defRPr sz="1163" b="0">
                <a:solidFill>
                  <a:srgbClr val="536069"/>
                </a:solidFill>
                <a:latin typeface="Arial"/>
                <a:ea typeface="Arial"/>
                <a:cs typeface="Arial"/>
              </a:defRPr>
            </a:defPPr>
          </a:lstStyle>
          <a:p>
            <a:pPr algn="l">
              <a:defRPr sz="1163" b="0">
                <a:solidFill>
                  <a:srgbClr val="536069"/>
                </a:solidFill>
                <a:latin typeface="Arial"/>
                <a:ea typeface="Arial"/>
                <a:cs typeface="Arial"/>
              </a:defRPr>
            </a:pPr>
            <a:r>
              <a:rPr sz="1163" b="0">
                <a:solidFill>
                  <a:srgbClr val="536069"/>
                </a:solidFill>
                <a:latin typeface="Arial"/>
                <a:ea typeface="Arial"/>
                <a:cs typeface="Arial"/>
              </a:rPr>
              <a:t>Snapshot + run ID</a:t>
            </a:r>
          </a:p>
        </p:txBody>
      </p:sp>
      <p:sp>
        <p:nvSpPr>
          <p:cNvPr id="37" name="check-1-label">
            <a:extLst>
              <a:ext uri="{FF2B5EF4-FFF2-40B4-BE49-F238E27FC236}">
                <a16:creationId xmlns:a16="http://schemas.microsoft.com/office/drawing/2014/main" id="{F3969DD8-EE58-42C6-8756-5FAEBA762968}"/>
              </a:ext>
            </a:extLst>
          </p:cNvPr>
          <p:cNvSpPr>
            <a:spLocks noGrp="1"/>
          </p:cNvSpPr>
          <p:nvPr/>
        </p:nvSpPr>
        <p:spPr>
          <a:xfrm>
            <a:off x="3390900" y="6000750"/>
            <a:ext cx="2419350" cy="266700"/>
          </a:xfrm>
          <a:prstGeom prst="rect">
            <a:avLst/>
          </a:prstGeom>
          <a:noFill/>
          <a:ln w="0">
            <a:noFill/>
          </a:ln>
        </p:spPr>
        <p:txBody>
          <a:bodyPr wrap="square" lIns="0" tIns="0" rIns="0" bIns="0" anchor="t">
            <a:noAutofit/>
          </a:bodyPr>
          <a:lstStyle>
            <a:defPPr algn="l">
              <a:defRPr sz="1425" b="1">
                <a:solidFill>
                  <a:srgbClr val="20282C"/>
                </a:solidFill>
                <a:latin typeface="Arial"/>
                <a:ea typeface="Arial"/>
                <a:cs typeface="Arial"/>
              </a:defRPr>
            </a:defPPr>
          </a:lstStyle>
          <a:p>
            <a:pPr algn="l">
              <a:defRPr sz="1425" b="1">
                <a:solidFill>
                  <a:srgbClr val="20282C"/>
                </a:solidFill>
                <a:latin typeface="Arial"/>
                <a:ea typeface="Arial"/>
                <a:cs typeface="Arial"/>
              </a:defRPr>
            </a:pPr>
            <a:r>
              <a:rPr sz="1425" b="1">
                <a:solidFill>
                  <a:srgbClr val="20282C"/>
                </a:solidFill>
                <a:latin typeface="Arial"/>
                <a:ea typeface="Arial"/>
                <a:cs typeface="Arial"/>
              </a:rPr>
              <a:t>Quality passed</a:t>
            </a:r>
          </a:p>
        </p:txBody>
      </p:sp>
      <p:sp>
        <p:nvSpPr>
          <p:cNvPr id="38" name="check-1-detail">
            <a:extLst>
              <a:ext uri="{FF2B5EF4-FFF2-40B4-BE49-F238E27FC236}">
                <a16:creationId xmlns:a16="http://schemas.microsoft.com/office/drawing/2014/main" id="{C7128679-5FC8-490D-854E-2BE7CDABF6AD}"/>
              </a:ext>
            </a:extLst>
          </p:cNvPr>
          <p:cNvSpPr>
            <a:spLocks noGrp="1"/>
          </p:cNvSpPr>
          <p:nvPr/>
        </p:nvSpPr>
        <p:spPr>
          <a:xfrm>
            <a:off x="3390900" y="6286500"/>
            <a:ext cx="2419350" cy="228600"/>
          </a:xfrm>
          <a:prstGeom prst="rect">
            <a:avLst/>
          </a:prstGeom>
          <a:noFill/>
          <a:ln w="0">
            <a:noFill/>
          </a:ln>
        </p:spPr>
        <p:txBody>
          <a:bodyPr wrap="square" lIns="0" tIns="0" rIns="0" bIns="0" anchor="t">
            <a:noAutofit/>
          </a:bodyPr>
          <a:lstStyle>
            <a:defPPr algn="l">
              <a:defRPr sz="1163" b="0">
                <a:solidFill>
                  <a:srgbClr val="536069"/>
                </a:solidFill>
                <a:latin typeface="Arial"/>
                <a:ea typeface="Arial"/>
                <a:cs typeface="Arial"/>
              </a:defRPr>
            </a:defPPr>
          </a:lstStyle>
          <a:p>
            <a:pPr algn="l">
              <a:defRPr sz="1163" b="0">
                <a:solidFill>
                  <a:srgbClr val="536069"/>
                </a:solidFill>
                <a:latin typeface="Arial"/>
                <a:ea typeface="Arial"/>
                <a:cs typeface="Arial"/>
              </a:defRPr>
            </a:pPr>
            <a:r>
              <a:rPr sz="1163" b="0">
                <a:solidFill>
                  <a:srgbClr val="536069"/>
                </a:solidFill>
                <a:latin typeface="Arial"/>
                <a:ea typeface="Arial"/>
                <a:cs typeface="Arial"/>
              </a:rPr>
              <a:t>Convergence + balance</a:t>
            </a:r>
          </a:p>
        </p:txBody>
      </p:sp>
      <p:sp>
        <p:nvSpPr>
          <p:cNvPr id="39" name="check-2-label">
            <a:extLst>
              <a:ext uri="{FF2B5EF4-FFF2-40B4-BE49-F238E27FC236}">
                <a16:creationId xmlns:a16="http://schemas.microsoft.com/office/drawing/2014/main" id="{2E5FC1B3-D114-4DBB-9813-1410352772F7}"/>
              </a:ext>
            </a:extLst>
          </p:cNvPr>
          <p:cNvSpPr>
            <a:spLocks noGrp="1"/>
          </p:cNvSpPr>
          <p:nvPr/>
        </p:nvSpPr>
        <p:spPr>
          <a:xfrm>
            <a:off x="6096000" y="6000750"/>
            <a:ext cx="2419350" cy="266700"/>
          </a:xfrm>
          <a:prstGeom prst="rect">
            <a:avLst/>
          </a:prstGeom>
          <a:noFill/>
          <a:ln w="0">
            <a:noFill/>
          </a:ln>
        </p:spPr>
        <p:txBody>
          <a:bodyPr wrap="square" lIns="0" tIns="0" rIns="0" bIns="0" anchor="t">
            <a:noAutofit/>
          </a:bodyPr>
          <a:lstStyle>
            <a:defPPr algn="l">
              <a:defRPr sz="1425" b="1">
                <a:solidFill>
                  <a:srgbClr val="20282C"/>
                </a:solidFill>
                <a:latin typeface="Arial"/>
                <a:ea typeface="Arial"/>
                <a:cs typeface="Arial"/>
              </a:defRPr>
            </a:defPPr>
          </a:lstStyle>
          <a:p>
            <a:pPr algn="l">
              <a:defRPr sz="1425" b="1">
                <a:solidFill>
                  <a:srgbClr val="20282C"/>
                </a:solidFill>
                <a:latin typeface="Arial"/>
                <a:ea typeface="Arial"/>
                <a:cs typeface="Arial"/>
              </a:defRPr>
            </a:pPr>
            <a:r>
              <a:rPr sz="1425" b="1">
                <a:solidFill>
                  <a:srgbClr val="20282C"/>
                </a:solidFill>
                <a:latin typeface="Arial"/>
                <a:ea typeface="Arial"/>
                <a:cs typeface="Arial"/>
              </a:rPr>
              <a:t>Results current</a:t>
            </a:r>
          </a:p>
        </p:txBody>
      </p:sp>
      <p:sp>
        <p:nvSpPr>
          <p:cNvPr id="40" name="check-2-detail">
            <a:extLst>
              <a:ext uri="{FF2B5EF4-FFF2-40B4-BE49-F238E27FC236}">
                <a16:creationId xmlns:a16="http://schemas.microsoft.com/office/drawing/2014/main" id="{B40DD697-51D8-4151-B7C2-6D8E3BC66B83}"/>
              </a:ext>
            </a:extLst>
          </p:cNvPr>
          <p:cNvSpPr>
            <a:spLocks noGrp="1"/>
          </p:cNvSpPr>
          <p:nvPr/>
        </p:nvSpPr>
        <p:spPr>
          <a:xfrm>
            <a:off x="6096000" y="6286500"/>
            <a:ext cx="2419350" cy="228600"/>
          </a:xfrm>
          <a:prstGeom prst="rect">
            <a:avLst/>
          </a:prstGeom>
          <a:noFill/>
          <a:ln w="0">
            <a:noFill/>
          </a:ln>
        </p:spPr>
        <p:txBody>
          <a:bodyPr wrap="square" lIns="0" tIns="0" rIns="0" bIns="0" anchor="t">
            <a:noAutofit/>
          </a:bodyPr>
          <a:lstStyle>
            <a:defPPr algn="l">
              <a:defRPr sz="1163" b="0">
                <a:solidFill>
                  <a:srgbClr val="536069"/>
                </a:solidFill>
                <a:latin typeface="Arial"/>
                <a:ea typeface="Arial"/>
                <a:cs typeface="Arial"/>
              </a:defRPr>
            </a:defPPr>
          </a:lstStyle>
          <a:p>
            <a:pPr algn="l">
              <a:defRPr sz="1163" b="0">
                <a:solidFill>
                  <a:srgbClr val="536069"/>
                </a:solidFill>
                <a:latin typeface="Arial"/>
                <a:ea typeface="Arial"/>
                <a:cs typeface="Arial"/>
              </a:defRPr>
            </a:pPr>
            <a:r>
              <a:rPr sz="1163" b="0">
                <a:solidFill>
                  <a:srgbClr val="536069"/>
                </a:solidFill>
                <a:latin typeface="Arial"/>
                <a:ea typeface="Arial"/>
                <a:cs typeface="Arial"/>
              </a:rPr>
              <a:t>Same input hash</a:t>
            </a:r>
          </a:p>
        </p:txBody>
      </p:sp>
      <p:sp>
        <p:nvSpPr>
          <p:cNvPr id="41" name="check-3-label">
            <a:extLst>
              <a:ext uri="{FF2B5EF4-FFF2-40B4-BE49-F238E27FC236}">
                <a16:creationId xmlns:a16="http://schemas.microsoft.com/office/drawing/2014/main" id="{CC48E9D9-3EC9-44BA-84D3-46E9D0D752EC}"/>
              </a:ext>
            </a:extLst>
          </p:cNvPr>
          <p:cNvSpPr>
            <a:spLocks noGrp="1"/>
          </p:cNvSpPr>
          <p:nvPr/>
        </p:nvSpPr>
        <p:spPr>
          <a:xfrm>
            <a:off x="8801100" y="6000750"/>
            <a:ext cx="2419350" cy="266700"/>
          </a:xfrm>
          <a:prstGeom prst="rect">
            <a:avLst/>
          </a:prstGeom>
          <a:noFill/>
          <a:ln w="0">
            <a:noFill/>
          </a:ln>
        </p:spPr>
        <p:txBody>
          <a:bodyPr wrap="square" lIns="0" tIns="0" rIns="0" bIns="0" anchor="t">
            <a:noAutofit/>
          </a:bodyPr>
          <a:lstStyle>
            <a:defPPr algn="l">
              <a:defRPr sz="1425" b="1">
                <a:solidFill>
                  <a:srgbClr val="20282C"/>
                </a:solidFill>
                <a:latin typeface="Arial"/>
                <a:ea typeface="Arial"/>
                <a:cs typeface="Arial"/>
              </a:defRPr>
            </a:defPPr>
          </a:lstStyle>
          <a:p>
            <a:pPr algn="l">
              <a:defRPr sz="1425" b="1">
                <a:solidFill>
                  <a:srgbClr val="20282C"/>
                </a:solidFill>
                <a:latin typeface="Arial"/>
                <a:ea typeface="Arial"/>
                <a:cs typeface="Arial"/>
              </a:defRPr>
            </a:pPr>
            <a:r>
              <a:rPr sz="1425" b="1">
                <a:solidFill>
                  <a:srgbClr val="20282C"/>
                </a:solidFill>
                <a:latin typeface="Arial"/>
                <a:ea typeface="Arial"/>
                <a:cs typeface="Arial"/>
              </a:rPr>
              <a:t>Seat samples valid</a:t>
            </a:r>
          </a:p>
        </p:txBody>
      </p:sp>
      <p:sp>
        <p:nvSpPr>
          <p:cNvPr id="42" name="check-3-detail">
            <a:extLst>
              <a:ext uri="{FF2B5EF4-FFF2-40B4-BE49-F238E27FC236}">
                <a16:creationId xmlns:a16="http://schemas.microsoft.com/office/drawing/2014/main" id="{19097871-C557-4CC7-9FE7-38F9BCC901B3}"/>
              </a:ext>
            </a:extLst>
          </p:cNvPr>
          <p:cNvSpPr>
            <a:spLocks noGrp="1"/>
          </p:cNvSpPr>
          <p:nvPr/>
        </p:nvSpPr>
        <p:spPr>
          <a:xfrm>
            <a:off x="8801100" y="6286500"/>
            <a:ext cx="2419350" cy="228600"/>
          </a:xfrm>
          <a:prstGeom prst="rect">
            <a:avLst/>
          </a:prstGeom>
          <a:noFill/>
          <a:ln w="0">
            <a:noFill/>
          </a:ln>
        </p:spPr>
        <p:txBody>
          <a:bodyPr wrap="square" lIns="0" tIns="0" rIns="0" bIns="0" anchor="t">
            <a:noAutofit/>
          </a:bodyPr>
          <a:lstStyle>
            <a:defPPr algn="l">
              <a:defRPr sz="1163" b="0">
                <a:solidFill>
                  <a:srgbClr val="536069"/>
                </a:solidFill>
                <a:latin typeface="Arial"/>
                <a:ea typeface="Arial"/>
                <a:cs typeface="Arial"/>
              </a:defRPr>
            </a:defPPr>
          </a:lstStyle>
          <a:p>
            <a:pPr algn="l">
              <a:defRPr sz="1163" b="0">
                <a:solidFill>
                  <a:srgbClr val="536069"/>
                </a:solidFill>
                <a:latin typeface="Arial"/>
                <a:ea typeface="Arial"/>
                <a:cs typeface="Arial"/>
              </a:defRPr>
            </a:pPr>
            <a:r>
              <a:rPr sz="1163" b="0">
                <a:solidFill>
                  <a:srgbClr val="536069"/>
                </a:solidFill>
                <a:latin typeface="Arial"/>
                <a:ea typeface="Arial"/>
                <a:cs typeface="Arial"/>
              </a:rPr>
              <a:t>Outside solid geometry</a:t>
            </a:r>
          </a:p>
        </p:txBody>
      </p:sp>
      <p:sp>
        <p:nvSpPr>
          <p:cNvPr id="43" name="method-disclosure">
            <a:extLst>
              <a:ext uri="{FF2B5EF4-FFF2-40B4-BE49-F238E27FC236}">
                <a16:creationId xmlns:a16="http://schemas.microsoft.com/office/drawing/2014/main" id="{2389C732-4456-4342-A840-B3D802610F13}"/>
              </a:ext>
            </a:extLst>
          </p:cNvPr>
          <p:cNvSpPr>
            <a:spLocks noGrp="1"/>
          </p:cNvSpPr>
          <p:nvPr/>
        </p:nvSpPr>
        <p:spPr>
          <a:xfrm>
            <a:off x="685800" y="6619875"/>
            <a:ext cx="10668000" cy="190500"/>
          </a:xfrm>
          <a:prstGeom prst="rect">
            <a:avLst/>
          </a:prstGeom>
          <a:noFill/>
          <a:ln w="0">
            <a:noFill/>
          </a:ln>
        </p:spPr>
        <p:txBody>
          <a:bodyPr wrap="square" lIns="0" tIns="0" rIns="0" bIns="0" anchor="t">
            <a:noAutofit/>
          </a:bodyPr>
          <a:lstStyle>
            <a:defPPr algn="l">
              <a:defRPr sz="938" b="0">
                <a:solidFill>
                  <a:srgbClr val="64727A"/>
                </a:solidFill>
                <a:latin typeface="Arial"/>
                <a:ea typeface="Arial"/>
                <a:cs typeface="Arial"/>
              </a:defRPr>
            </a:defPPr>
          </a:lstStyle>
          <a:p>
            <a:pPr algn="l">
              <a:defRPr sz="938" b="0">
                <a:solidFill>
                  <a:srgbClr val="64727A"/>
                </a:solidFill>
                <a:latin typeface="Arial"/>
                <a:ea typeface="Arial"/>
                <a:cs typeface="Arial"/>
              </a:defRPr>
            </a:pPr>
            <a:r>
              <a:rPr sz="938" b="0">
                <a:solidFill>
                  <a:srgbClr val="64727A"/>
                </a:solidFill>
                <a:latin typeface="Arial"/>
                <a:ea typeface="Arial"/>
                <a:cs typeface="Arial"/>
              </a:rPr>
              <a:t>[4,6–9] Planned method. No computed fields or outcome claims. Scope and quality checks are required for comparison.</a:t>
            </a:r>
          </a:p>
        </p:txBody>
      </p:sp>
    </p:spTree>
    <p:extLst>
      <p:ext uri="{BB962C8B-B14F-4D97-AF65-F5344CB8AC3E}">
        <p14:creationId xmlns:p14="http://schemas.microsoft.com/office/powerpoint/2010/main" val="1343599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imunow-brand">
            <a:extLst>
              <a:ext uri="{FF2B5EF4-FFF2-40B4-BE49-F238E27FC236}">
                <a16:creationId xmlns:a16="http://schemas.microsoft.com/office/drawing/2014/main" id="{F4CB7329-526B-4BC2-B394-BDF36618D9D2}"/>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3" name="slide-title">
            <a:extLst>
              <a:ext uri="{FF2B5EF4-FFF2-40B4-BE49-F238E27FC236}">
                <a16:creationId xmlns:a16="http://schemas.microsoft.com/office/drawing/2014/main" id="{511E9E1E-51C2-4A52-BF10-904A73B8C7F6}"/>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Local preview and scenario comparison</a:t>
            </a:r>
          </a:p>
        </p:txBody>
      </p:sp>
      <p:sp>
        <p:nvSpPr>
          <p:cNvPr id="4" name="slide-subtitle">
            <a:extLst>
              <a:ext uri="{FF2B5EF4-FFF2-40B4-BE49-F238E27FC236}">
                <a16:creationId xmlns:a16="http://schemas.microsoft.com/office/drawing/2014/main" id="{F845EAFE-71EF-4DB5-AD65-EA171E4F92D6}"/>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1875" b="0">
                <a:solidFill>
                  <a:srgbClr val="536069"/>
                </a:solidFill>
                <a:latin typeface="Arial"/>
                <a:ea typeface="Arial"/>
                <a:cs typeface="Arial"/>
              </a:defRPr>
            </a:defPPr>
          </a:lstStyle>
          <a:p>
            <a:pPr algn="l">
              <a:defRPr sz="1875" b="0">
                <a:solidFill>
                  <a:srgbClr val="536069"/>
                </a:solidFill>
                <a:latin typeface="Arial"/>
                <a:ea typeface="Arial"/>
                <a:cs typeface="Arial"/>
              </a:defRPr>
            </a:pPr>
            <a:r>
              <a:rPr sz="1875" b="0">
                <a:solidFill>
                  <a:srgbClr val="536069"/>
                </a:solidFill>
                <a:latin typeface="Arial"/>
                <a:ea typeface="Arial"/>
                <a:cs typeface="Arial"/>
              </a:rPr>
              <a:t>Explore room configurations with visible assumptions and transparent estimates</a:t>
            </a:r>
          </a:p>
        </p:txBody>
      </p:sp>
      <p:sp>
        <p:nvSpPr>
          <p:cNvPr id="5" name="local-room-heading">
            <a:extLst>
              <a:ext uri="{FF2B5EF4-FFF2-40B4-BE49-F238E27FC236}">
                <a16:creationId xmlns:a16="http://schemas.microsoft.com/office/drawing/2014/main" id="{EE90B08E-86E9-4CCA-BD72-E19EB0ED3F71}"/>
              </a:ext>
            </a:extLst>
          </p:cNvPr>
          <p:cNvSpPr>
            <a:spLocks noGrp="1"/>
          </p:cNvSpPr>
          <p:nvPr/>
        </p:nvSpPr>
        <p:spPr>
          <a:xfrm>
            <a:off x="685800" y="2266950"/>
            <a:ext cx="5562600" cy="285750"/>
          </a:xfrm>
          <a:prstGeom prst="rect">
            <a:avLst/>
          </a:prstGeom>
          <a:noFill/>
          <a:ln w="0">
            <a:noFill/>
          </a:ln>
        </p:spPr>
        <p:txBody>
          <a:bodyPr wrap="square" lIns="0" tIns="0" rIns="0" bIns="0" anchor="t">
            <a:noAutofit/>
          </a:bodyPr>
          <a:lstStyle>
            <a:defPPr algn="l">
              <a:defRPr sz="1538" b="1">
                <a:solidFill>
                  <a:srgbClr val="277F89"/>
                </a:solidFill>
                <a:latin typeface="Arial"/>
                <a:ea typeface="Arial"/>
                <a:cs typeface="Arial"/>
              </a:defRPr>
            </a:defPPr>
          </a:lstStyle>
          <a:p>
            <a:pPr algn="l">
              <a:defRPr sz="1538" b="1">
                <a:solidFill>
                  <a:srgbClr val="277F89"/>
                </a:solidFill>
                <a:latin typeface="Arial"/>
                <a:ea typeface="Arial"/>
                <a:cs typeface="Arial"/>
              </a:defRPr>
            </a:pPr>
            <a:r>
              <a:rPr sz="1538" b="1">
                <a:solidFill>
                  <a:srgbClr val="277F89"/>
                </a:solidFill>
                <a:latin typeface="Arial"/>
                <a:ea typeface="Arial"/>
                <a:cs typeface="Arial"/>
              </a:rPr>
              <a:t>ONE OFFICE / GEOMETRIC PREVIEW</a:t>
            </a:r>
          </a:p>
        </p:txBody>
      </p:sp>
      <p:pic>
        <p:nvPicPr>
          <p:cNvPr id="6" name="Picture 5">
            <a:extLst>
              <a:ext uri="{FF2B5EF4-FFF2-40B4-BE49-F238E27FC236}">
                <a16:creationId xmlns:a16="http://schemas.microsoft.com/office/drawing/2014/main" id="{CB0418BF-24F4-4606-BC46-5870F5D02B7B}"/>
              </a:ext>
            </a:extLst>
          </p:cNvPr>
          <p:cNvPicPr>
            <a:picLocks noChangeAspect="1"/>
          </p:cNvPicPr>
          <p:nvPr/>
        </p:nvPicPr>
        <p:blipFill>
          <a:blip r:embed="rId3"/>
          <a:stretch/>
        </p:blipFill>
        <p:spPr>
          <a:xfrm>
            <a:off x="1181100" y="2628900"/>
            <a:ext cx="4572000" cy="3429000"/>
          </a:xfrm>
          <a:prstGeom prst="rect">
            <a:avLst/>
          </a:prstGeom>
        </p:spPr>
      </p:pic>
      <p:sp>
        <p:nvSpPr>
          <p:cNvPr id="7" name="illustration-caption">
            <a:extLst>
              <a:ext uri="{FF2B5EF4-FFF2-40B4-BE49-F238E27FC236}">
                <a16:creationId xmlns:a16="http://schemas.microsoft.com/office/drawing/2014/main" id="{6544B1CE-A470-4A35-B278-DE3D8B7F6E12}"/>
              </a:ext>
            </a:extLst>
          </p:cNvPr>
          <p:cNvSpPr>
            <a:spLocks noGrp="1"/>
          </p:cNvSpPr>
          <p:nvPr/>
        </p:nvSpPr>
        <p:spPr>
          <a:xfrm>
            <a:off x="685800" y="6153150"/>
            <a:ext cx="5638800" cy="257175"/>
          </a:xfrm>
          <a:prstGeom prst="rect">
            <a:avLst/>
          </a:prstGeom>
          <a:noFill/>
          <a:ln w="0">
            <a:noFill/>
          </a:ln>
        </p:spPr>
        <p:txBody>
          <a:bodyPr wrap="square" lIns="0" tIns="0" rIns="0" bIns="0" anchor="t">
            <a:noAutofit/>
          </a:bodyPr>
          <a:lstStyle>
            <a:defPPr algn="l">
              <a:defRPr sz="1088" b="0">
                <a:solidFill>
                  <a:srgbClr val="64727A"/>
                </a:solidFill>
                <a:latin typeface="Arial"/>
                <a:ea typeface="Arial"/>
                <a:cs typeface="Arial"/>
              </a:defRPr>
            </a:defPPr>
          </a:lstStyle>
          <a:p>
            <a:pPr algn="l">
              <a:defRPr sz="1088" b="0">
                <a:solidFill>
                  <a:srgbClr val="64727A"/>
                </a:solidFill>
                <a:latin typeface="Arial"/>
                <a:ea typeface="Arial"/>
                <a:cs typeface="Arial"/>
              </a:defRPr>
            </a:pPr>
            <a:r>
              <a:rPr sz="1088" b="0">
                <a:solidFill>
                  <a:srgbClr val="64727A"/>
                </a:solidFill>
                <a:latin typeface="Arial"/>
                <a:ea typeface="Arial"/>
                <a:cs typeface="Arial"/>
              </a:rPr>
              <a:t>Room concept. Paths stop at furniture; markers show occupied positions.</a:t>
            </a:r>
          </a:p>
        </p:txBody>
      </p:sp>
      <p:sp>
        <p:nvSpPr>
          <p:cNvPr id="8" name="preview-heading">
            <a:extLst>
              <a:ext uri="{FF2B5EF4-FFF2-40B4-BE49-F238E27FC236}">
                <a16:creationId xmlns:a16="http://schemas.microsoft.com/office/drawing/2014/main" id="{5CFD99AC-EFF0-4E24-B2CD-349F9E4D19D0}"/>
              </a:ext>
            </a:extLst>
          </p:cNvPr>
          <p:cNvSpPr>
            <a:spLocks noGrp="1"/>
          </p:cNvSpPr>
          <p:nvPr/>
        </p:nvSpPr>
        <p:spPr>
          <a:xfrm>
            <a:off x="6819900" y="2266950"/>
            <a:ext cx="4686300" cy="314325"/>
          </a:xfrm>
          <a:prstGeom prst="rect">
            <a:avLst/>
          </a:prstGeom>
          <a:noFill/>
          <a:ln w="0">
            <a:noFill/>
          </a:ln>
        </p:spPr>
        <p:txBody>
          <a:bodyPr wrap="square" lIns="0" tIns="0" rIns="0" bIns="0" anchor="t">
            <a:noAutofit/>
          </a:bodyPr>
          <a:lstStyle>
            <a:defPPr algn="l">
              <a:defRPr sz="1800" b="1">
                <a:solidFill>
                  <a:srgbClr val="277F89"/>
                </a:solidFill>
                <a:latin typeface="Arial"/>
                <a:ea typeface="Arial"/>
                <a:cs typeface="Arial"/>
              </a:defRPr>
            </a:defPPr>
          </a:lstStyle>
          <a:p>
            <a:pPr algn="l">
              <a:defRPr sz="1800" b="1">
                <a:solidFill>
                  <a:srgbClr val="277F89"/>
                </a:solidFill>
                <a:latin typeface="Arial"/>
                <a:ea typeface="Arial"/>
                <a:cs typeface="Arial"/>
              </a:defRPr>
            </a:pPr>
            <a:r>
              <a:rPr sz="1800" b="1">
                <a:solidFill>
                  <a:srgbClr val="277F89"/>
                </a:solidFill>
                <a:latin typeface="Arial"/>
                <a:ea typeface="Arial"/>
                <a:cs typeface="Arial"/>
              </a:rPr>
              <a:t>Room and airflow preview</a:t>
            </a:r>
          </a:p>
        </p:txBody>
      </p:sp>
      <p:sp>
        <p:nvSpPr>
          <p:cNvPr id="9" name="preview-details">
            <a:extLst>
              <a:ext uri="{FF2B5EF4-FFF2-40B4-BE49-F238E27FC236}">
                <a16:creationId xmlns:a16="http://schemas.microsoft.com/office/drawing/2014/main" id="{5AF9AC36-B66F-4DB4-B656-B3212E5AC9FE}"/>
              </a:ext>
            </a:extLst>
          </p:cNvPr>
          <p:cNvSpPr>
            <a:spLocks noGrp="1"/>
          </p:cNvSpPr>
          <p:nvPr/>
        </p:nvSpPr>
        <p:spPr>
          <a:xfrm>
            <a:off x="6819900" y="2667000"/>
            <a:ext cx="4686300" cy="857250"/>
          </a:xfrm>
          <a:prstGeom prst="rect">
            <a:avLst/>
          </a:prstGeom>
          <a:noFill/>
          <a:ln w="0">
            <a:noFill/>
          </a:ln>
        </p:spPr>
        <p:txBody>
          <a:bodyPr wrap="square" lIns="0" tIns="0" rIns="0" bIns="0" anchor="t">
            <a:noAutofit/>
          </a:bodyPr>
          <a:lstStyle>
            <a:defPPr algn="l">
              <a:defRPr sz="1500" b="0">
                <a:solidFill>
                  <a:srgbClr val="536069"/>
                </a:solidFill>
                <a:latin typeface="Arial"/>
                <a:ea typeface="Arial"/>
                <a:cs typeface="Arial"/>
              </a:defRPr>
            </a:defPPr>
          </a:lstStyle>
          <a:p>
            <a:pPr algn="l">
              <a:defRPr sz="1500" b="0">
                <a:solidFill>
                  <a:srgbClr val="536069"/>
                </a:solidFill>
                <a:latin typeface="Arial"/>
                <a:ea typeface="Arial"/>
                <a:cs typeface="Arial"/>
              </a:defRPr>
            </a:pPr>
            <a:r>
              <a:rPr sz="1500" b="0">
                <a:solidFill>
                  <a:srgbClr val="536069"/>
                </a:solidFill>
                <a:latin typeface="Arial"/>
                <a:ea typeface="Arial"/>
                <a:cs typeface="Arial"/>
              </a:rPr>
              <a:t>Inspect the room in 3D. Adjust direction</a:t>
            </a:r>
          </a:p>
          <a:p>
            <a:pPr algn="l">
              <a:defRPr sz="1500" b="0">
                <a:solidFill>
                  <a:srgbClr val="536069"/>
                </a:solidFill>
                <a:latin typeface="Arial"/>
                <a:ea typeface="Arial"/>
                <a:cs typeface="Arial"/>
              </a:defRPr>
            </a:pPr>
            <a:r>
              <a:rPr sz="1500" b="0">
                <a:solidFill>
                  <a:srgbClr val="536069"/>
                </a:solidFill>
                <a:latin typeface="Arial"/>
                <a:ea typeface="Arial"/>
                <a:cs typeface="Arial"/>
              </a:rPr>
              <a:t>and review rule-based paths, furniture</a:t>
            </a:r>
          </a:p>
          <a:p>
            <a:pPr algn="l">
              <a:defRPr sz="1500" b="0">
                <a:solidFill>
                  <a:srgbClr val="536069"/>
                </a:solidFill>
                <a:latin typeface="Arial"/>
                <a:ea typeface="Arial"/>
                <a:cs typeface="Arial"/>
              </a:defRPr>
            </a:pPr>
            <a:r>
              <a:rPr sz="1500" b="0">
                <a:solidFill>
                  <a:srgbClr val="536069"/>
                </a:solidFill>
                <a:latin typeface="Arial"/>
                <a:ea typeface="Arial"/>
                <a:cs typeface="Arial"/>
              </a:rPr>
              <a:t>obstruction and occupied positions.</a:t>
            </a:r>
          </a:p>
        </p:txBody>
      </p:sp>
      <p:sp>
        <p:nvSpPr>
          <p:cNvPr id="10" name="estimates-heading">
            <a:extLst>
              <a:ext uri="{FF2B5EF4-FFF2-40B4-BE49-F238E27FC236}">
                <a16:creationId xmlns:a16="http://schemas.microsoft.com/office/drawing/2014/main" id="{2068180F-9F61-4353-9852-415C3EF0B8D7}"/>
              </a:ext>
            </a:extLst>
          </p:cNvPr>
          <p:cNvSpPr>
            <a:spLocks noGrp="1"/>
          </p:cNvSpPr>
          <p:nvPr/>
        </p:nvSpPr>
        <p:spPr>
          <a:xfrm>
            <a:off x="6819900" y="3724275"/>
            <a:ext cx="4686300" cy="323850"/>
          </a:xfrm>
          <a:prstGeom prst="rect">
            <a:avLst/>
          </a:prstGeom>
          <a:noFill/>
          <a:ln w="0">
            <a:noFill/>
          </a:ln>
        </p:spPr>
        <p:txBody>
          <a:bodyPr wrap="square" lIns="0" tIns="0" rIns="0" bIns="0" anchor="t">
            <a:noAutofit/>
          </a:bodyPr>
          <a:lstStyle>
            <a:defPPr algn="l">
              <a:defRPr sz="1800" b="1">
                <a:solidFill>
                  <a:srgbClr val="277F89"/>
                </a:solidFill>
                <a:latin typeface="Arial"/>
                <a:ea typeface="Arial"/>
                <a:cs typeface="Arial"/>
              </a:defRPr>
            </a:defPPr>
          </a:lstStyle>
          <a:p>
            <a:pPr algn="l">
              <a:defRPr sz="1800" b="1">
                <a:solidFill>
                  <a:srgbClr val="277F89"/>
                </a:solidFill>
                <a:latin typeface="Arial"/>
                <a:ea typeface="Arial"/>
                <a:cs typeface="Arial"/>
              </a:defRPr>
            </a:pPr>
            <a:r>
              <a:rPr sz="1800" b="1">
                <a:solidFill>
                  <a:srgbClr val="277F89"/>
                </a:solidFill>
                <a:latin typeface="Arial"/>
                <a:ea typeface="Arial"/>
                <a:cs typeface="Arial"/>
              </a:rPr>
              <a:t>Transparent operating estimates</a:t>
            </a:r>
          </a:p>
        </p:txBody>
      </p:sp>
      <p:sp>
        <p:nvSpPr>
          <p:cNvPr id="11" name="estimates-details">
            <a:extLst>
              <a:ext uri="{FF2B5EF4-FFF2-40B4-BE49-F238E27FC236}">
                <a16:creationId xmlns:a16="http://schemas.microsoft.com/office/drawing/2014/main" id="{68230FE0-D5E9-4EDF-993F-278C0D65D355}"/>
              </a:ext>
            </a:extLst>
          </p:cNvPr>
          <p:cNvSpPr>
            <a:spLocks noGrp="1"/>
          </p:cNvSpPr>
          <p:nvPr/>
        </p:nvSpPr>
        <p:spPr>
          <a:xfrm>
            <a:off x="6819900" y="4124325"/>
            <a:ext cx="4686300" cy="866775"/>
          </a:xfrm>
          <a:prstGeom prst="rect">
            <a:avLst/>
          </a:prstGeom>
          <a:noFill/>
          <a:ln w="0">
            <a:noFill/>
          </a:ln>
        </p:spPr>
        <p:txBody>
          <a:bodyPr wrap="square" lIns="0" tIns="0" rIns="0" bIns="0" anchor="t">
            <a:noAutofit/>
          </a:bodyPr>
          <a:lstStyle>
            <a:defPPr algn="l">
              <a:defRPr sz="1500" b="0">
                <a:solidFill>
                  <a:srgbClr val="536069"/>
                </a:solidFill>
                <a:latin typeface="Arial"/>
                <a:ea typeface="Arial"/>
                <a:cs typeface="Arial"/>
              </a:defRPr>
            </a:defPPr>
          </a:lstStyle>
          <a:p>
            <a:pPr algn="l">
              <a:defRPr sz="1500" b="0">
                <a:solidFill>
                  <a:srgbClr val="536069"/>
                </a:solidFill>
                <a:latin typeface="Arial"/>
                <a:ea typeface="Arial"/>
                <a:cs typeface="Arial"/>
              </a:defRPr>
            </a:pPr>
            <a:r>
              <a:rPr sz="1500" b="0">
                <a:solidFill>
                  <a:srgbClr val="536069"/>
                </a:solidFill>
                <a:latin typeface="Arial"/>
                <a:ea typeface="Arial"/>
                <a:cs typeface="Arial"/>
              </a:rPr>
              <a:t>Electricity from stated power and time.</a:t>
            </a:r>
          </a:p>
          <a:p>
            <a:pPr algn="l">
              <a:defRPr sz="1500" b="0">
                <a:solidFill>
                  <a:srgbClr val="536069"/>
                </a:solidFill>
                <a:latin typeface="Arial"/>
                <a:ea typeface="Arial"/>
                <a:cs typeface="Arial"/>
              </a:defRPr>
            </a:pPr>
            <a:r>
              <a:rPr sz="1500" b="0">
                <a:solidFill>
                  <a:srgbClr val="536069"/>
                </a:solidFill>
                <a:latin typeface="Arial"/>
                <a:ea typeface="Arial"/>
                <a:cs typeface="Arial"/>
              </a:rPr>
              <a:t>Cost from sourced tariffs.</a:t>
            </a:r>
          </a:p>
          <a:p>
            <a:pPr algn="l">
              <a:defRPr sz="1500" b="0">
                <a:solidFill>
                  <a:srgbClr val="536069"/>
                </a:solidFill>
                <a:latin typeface="Arial"/>
                <a:ea typeface="Arial"/>
                <a:cs typeface="Arial"/>
              </a:defRPr>
            </a:pPr>
            <a:r>
              <a:rPr sz="1500" b="0">
                <a:solidFill>
                  <a:srgbClr val="536069"/>
                </a:solidFill>
                <a:latin typeface="Arial"/>
                <a:ea typeface="Arial"/>
                <a:cs typeface="Arial"/>
              </a:rPr>
              <a:t>Sensible heat from explicit thermal inputs.</a:t>
            </a:r>
          </a:p>
        </p:txBody>
      </p:sp>
      <p:sp>
        <p:nvSpPr>
          <p:cNvPr id="12" name="comparison-heading">
            <a:extLst>
              <a:ext uri="{FF2B5EF4-FFF2-40B4-BE49-F238E27FC236}">
                <a16:creationId xmlns:a16="http://schemas.microsoft.com/office/drawing/2014/main" id="{00D5D874-6A54-41FF-B968-C7B889DA6EEA}"/>
              </a:ext>
            </a:extLst>
          </p:cNvPr>
          <p:cNvSpPr>
            <a:spLocks noGrp="1"/>
          </p:cNvSpPr>
          <p:nvPr/>
        </p:nvSpPr>
        <p:spPr>
          <a:xfrm>
            <a:off x="6819900" y="5162550"/>
            <a:ext cx="4686300" cy="323850"/>
          </a:xfrm>
          <a:prstGeom prst="rect">
            <a:avLst/>
          </a:prstGeom>
          <a:noFill/>
          <a:ln w="0">
            <a:noFill/>
          </a:ln>
        </p:spPr>
        <p:txBody>
          <a:bodyPr wrap="square" lIns="0" tIns="0" rIns="0" bIns="0" anchor="t">
            <a:noAutofit/>
          </a:bodyPr>
          <a:lstStyle>
            <a:defPPr algn="l">
              <a:defRPr sz="1800" b="1">
                <a:solidFill>
                  <a:srgbClr val="277F89"/>
                </a:solidFill>
                <a:latin typeface="Arial"/>
                <a:ea typeface="Arial"/>
                <a:cs typeface="Arial"/>
              </a:defRPr>
            </a:defPPr>
          </a:lstStyle>
          <a:p>
            <a:pPr algn="l">
              <a:defRPr sz="1800" b="1">
                <a:solidFill>
                  <a:srgbClr val="277F89"/>
                </a:solidFill>
                <a:latin typeface="Arial"/>
                <a:ea typeface="Arial"/>
                <a:cs typeface="Arial"/>
              </a:defRPr>
            </a:pPr>
            <a:r>
              <a:rPr sz="1800" b="1">
                <a:solidFill>
                  <a:srgbClr val="277F89"/>
                </a:solidFill>
                <a:latin typeface="Arial"/>
                <a:ea typeface="Arial"/>
                <a:cs typeface="Arial"/>
              </a:rPr>
              <a:t>Baseline and alternatives</a:t>
            </a:r>
          </a:p>
        </p:txBody>
      </p:sp>
      <p:sp>
        <p:nvSpPr>
          <p:cNvPr id="13" name="comparison-details">
            <a:extLst>
              <a:ext uri="{FF2B5EF4-FFF2-40B4-BE49-F238E27FC236}">
                <a16:creationId xmlns:a16="http://schemas.microsoft.com/office/drawing/2014/main" id="{BD2D3628-D624-4A62-983B-4D2DACABE864}"/>
              </a:ext>
            </a:extLst>
          </p:cNvPr>
          <p:cNvSpPr>
            <a:spLocks noGrp="1"/>
          </p:cNvSpPr>
          <p:nvPr/>
        </p:nvSpPr>
        <p:spPr>
          <a:xfrm>
            <a:off x="6819900" y="5562600"/>
            <a:ext cx="4686300" cy="838200"/>
          </a:xfrm>
          <a:prstGeom prst="rect">
            <a:avLst/>
          </a:prstGeom>
          <a:noFill/>
          <a:ln w="0">
            <a:noFill/>
          </a:ln>
        </p:spPr>
        <p:txBody>
          <a:bodyPr wrap="square" lIns="0" tIns="0" rIns="0" bIns="0" anchor="t">
            <a:noAutofit/>
          </a:bodyPr>
          <a:lstStyle>
            <a:defPPr algn="l">
              <a:defRPr sz="1500" b="0">
                <a:solidFill>
                  <a:srgbClr val="536069"/>
                </a:solidFill>
                <a:latin typeface="Arial"/>
                <a:ea typeface="Arial"/>
                <a:cs typeface="Arial"/>
              </a:defRPr>
            </a:defPPr>
          </a:lstStyle>
          <a:p>
            <a:pPr algn="l">
              <a:defRPr sz="1500" b="0">
                <a:solidFill>
                  <a:srgbClr val="536069"/>
                </a:solidFill>
                <a:latin typeface="Arial"/>
                <a:ea typeface="Arial"/>
                <a:cs typeface="Arial"/>
              </a:defRPr>
            </a:pPr>
            <a:r>
              <a:rPr sz="1500" b="0">
                <a:solidFill>
                  <a:srgbClr val="536069"/>
                </a:solidFill>
                <a:latin typeface="Arial"/>
                <a:ea typeface="Arial"/>
                <a:cs typeface="Arial"/>
              </a:rPr>
              <a:t>Compare a baseline with two alternatives.</a:t>
            </a:r>
          </a:p>
          <a:p>
            <a:pPr algn="l">
              <a:defRPr sz="1500" b="0">
                <a:solidFill>
                  <a:srgbClr val="536069"/>
                </a:solidFill>
                <a:latin typeface="Arial"/>
                <a:ea typeface="Arial"/>
                <a:cs typeface="Arial"/>
              </a:defRPr>
            </a:pPr>
            <a:r>
              <a:rPr sz="1500" b="0">
                <a:solidFill>
                  <a:srgbClr val="536069"/>
                </a:solidFill>
                <a:latin typeface="Arial"/>
                <a:ea typeface="Arial"/>
                <a:cs typeface="Arial"/>
              </a:rPr>
              <a:t>Review path differences and estimates</a:t>
            </a:r>
          </a:p>
          <a:p>
            <a:pPr algn="l">
              <a:defRPr sz="1500" b="0">
                <a:solidFill>
                  <a:srgbClr val="536069"/>
                </a:solidFill>
                <a:latin typeface="Arial"/>
                <a:ea typeface="Arial"/>
                <a:cs typeface="Arial"/>
              </a:defRPr>
            </a:pPr>
            <a:r>
              <a:rPr sz="1500" b="0">
                <a:solidFill>
                  <a:srgbClr val="536069"/>
                </a:solidFill>
                <a:latin typeface="Arial"/>
                <a:ea typeface="Arial"/>
                <a:cs typeface="Arial"/>
              </a:rPr>
              <a:t>with the adopted inputs and assumptions.</a:t>
            </a:r>
          </a:p>
        </p:txBody>
      </p:sp>
      <p:sp>
        <p:nvSpPr>
          <p:cNvPr id="14" name="page-number">
            <a:extLst>
              <a:ext uri="{FF2B5EF4-FFF2-40B4-BE49-F238E27FC236}">
                <a16:creationId xmlns:a16="http://schemas.microsoft.com/office/drawing/2014/main" id="{8A85A393-6576-4426-8825-EA603DE83D04}"/>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07</a:t>
            </a:r>
          </a:p>
        </p:txBody>
      </p:sp>
      <p:sp>
        <p:nvSpPr>
          <p:cNvPr id="15" name="method-disclosure">
            <a:extLst>
              <a:ext uri="{FF2B5EF4-FFF2-40B4-BE49-F238E27FC236}">
                <a16:creationId xmlns:a16="http://schemas.microsoft.com/office/drawing/2014/main" id="{D8C5DBFB-93BB-4618-BC09-1DC9BCD7E715}"/>
              </a:ext>
            </a:extLst>
          </p:cNvPr>
          <p:cNvSpPr>
            <a:spLocks noGrp="1"/>
          </p:cNvSpPr>
          <p:nvPr/>
        </p:nvSpPr>
        <p:spPr>
          <a:xfrm>
            <a:off x="685800" y="6619875"/>
            <a:ext cx="10668000" cy="190500"/>
          </a:xfrm>
          <a:prstGeom prst="rect">
            <a:avLst/>
          </a:prstGeom>
          <a:noFill/>
          <a:ln w="0">
            <a:noFill/>
          </a:ln>
        </p:spPr>
        <p:txBody>
          <a:bodyPr wrap="square" lIns="0" tIns="0" rIns="0" bIns="0" anchor="t">
            <a:noAutofit/>
          </a:bodyPr>
          <a:lstStyle>
            <a:defPPr algn="l">
              <a:defRPr sz="938" b="0">
                <a:solidFill>
                  <a:srgbClr val="64727A"/>
                </a:solidFill>
                <a:latin typeface="Arial"/>
                <a:ea typeface="Arial"/>
                <a:cs typeface="Arial"/>
              </a:defRPr>
            </a:defPPr>
          </a:lstStyle>
          <a:p>
            <a:pPr algn="l">
              <a:defRPr sz="938" b="0">
                <a:solidFill>
                  <a:srgbClr val="64727A"/>
                </a:solidFill>
                <a:latin typeface="Arial"/>
                <a:ea typeface="Arial"/>
                <a:cs typeface="Arial"/>
              </a:defRPr>
            </a:pPr>
            <a:r>
              <a:rPr sz="938" b="0">
                <a:solidFill>
                  <a:srgbClr val="64727A"/>
                </a:solidFill>
                <a:latin typeface="Arial"/>
                <a:ea typeface="Arial"/>
                <a:cs typeface="Arial"/>
              </a:rPr>
              <a:t>[4] Product under development. Rule previews and simplified estimates; numerical verification and full comfort evaluation are future extensions.</a:t>
            </a:r>
          </a:p>
        </p:txBody>
      </p:sp>
    </p:spTree>
    <p:extLst>
      <p:ext uri="{BB962C8B-B14F-4D97-AF65-F5344CB8AC3E}">
        <p14:creationId xmlns:p14="http://schemas.microsoft.com/office/powerpoint/2010/main" val="2122911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D7BF2E-242D-4EBB-8AE2-9453364BD1E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7" name="placeholder_1">
            <a:extLst>
              <a:ext uri="{FF2B5EF4-FFF2-40B4-BE49-F238E27FC236}">
                <a16:creationId xmlns:a16="http://schemas.microsoft.com/office/drawing/2014/main" id="{0FDC631F-A683-4BEA-8575-494FFC17358D}"/>
              </a:ext>
            </a:extLst>
          </p:cNvPr>
          <p:cNvSpPr>
            <a:spLocks noGrp="1"/>
          </p:cNvSpPr>
          <p:nvPr>
            <p:ph type="title"/>
          </p:nvPr>
        </p:nvSpPr>
        <p:spPr>
          <a:prstGeom prst="rect">
            <a:avLst/>
          </a:prstGeom>
          <a:noFill/>
          <a:ln w="0">
            <a:noFill/>
          </a:ln>
        </p:spPr>
        <p:txBody>
          <a:bodyPr lIns="0" tIns="0" rIns="0" bIns="0" anchor="t">
            <a:noAutofit/>
          </a:bodyPr>
          <a:lstStyle>
            <a:defPPr>
              <a:defRPr sz="4800" b="1">
                <a:solidFill>
                  <a:srgbClr val="20282C"/>
                </a:solidFill>
                <a:latin typeface="Arial"/>
                <a:ea typeface="Arial"/>
                <a:cs typeface="Arial"/>
              </a:defRPr>
            </a:defPPr>
          </a:lstStyle>
          <a:p>
            <a:pPr>
              <a:buNone/>
              <a:defRPr sz="4800" b="1">
                <a:solidFill>
                  <a:srgbClr val="20282C"/>
                </a:solidFill>
                <a:latin typeface="Arial"/>
                <a:ea typeface="Arial"/>
                <a:cs typeface="Arial"/>
              </a:defRPr>
            </a:pPr>
            <a:r>
              <a:rPr sz="4800" b="1">
                <a:solidFill>
                  <a:srgbClr val="20282C"/>
                </a:solidFill>
                <a:latin typeface="Arial"/>
                <a:ea typeface="Arial"/>
                <a:cs typeface="Arial"/>
              </a:rPr>
              <a:t>Let's validate</a:t>
            </a:r>
          </a:p>
          <a:p>
            <a:pPr>
              <a:buNone/>
              <a:defRPr sz="4800" b="1">
                <a:solidFill>
                  <a:srgbClr val="20282C"/>
                </a:solidFill>
                <a:latin typeface="Arial"/>
                <a:ea typeface="Arial"/>
                <a:cs typeface="Arial"/>
              </a:defRPr>
            </a:pPr>
            <a:r>
              <a:rPr sz="4800" b="1">
                <a:solidFill>
                  <a:srgbClr val="20282C"/>
                </a:solidFill>
                <a:latin typeface="Arial"/>
                <a:ea typeface="Arial"/>
                <a:cs typeface="Arial"/>
              </a:rPr>
              <a:t>one real room</a:t>
            </a:r>
          </a:p>
        </p:txBody>
      </p:sp>
      <p:sp>
        <p:nvSpPr>
          <p:cNvPr id="3" name="closing-brand">
            <a:extLst>
              <a:ext uri="{FF2B5EF4-FFF2-40B4-BE49-F238E27FC236}">
                <a16:creationId xmlns:a16="http://schemas.microsoft.com/office/drawing/2014/main" id="{A3E484FA-29E9-44D6-9941-57F4FF3A386E}"/>
              </a:ext>
            </a:extLst>
          </p:cNvPr>
          <p:cNvSpPr>
            <a:spLocks noGrp="1"/>
          </p:cNvSpPr>
          <p:nvPr/>
        </p:nvSpPr>
        <p:spPr>
          <a:xfrm>
            <a:off x="685800" y="457200"/>
            <a:ext cx="2857500" cy="400050"/>
          </a:xfrm>
          <a:prstGeom prst="rect">
            <a:avLst/>
          </a:prstGeom>
          <a:noFill/>
          <a:ln w="0">
            <a:noFill/>
          </a:ln>
        </p:spPr>
        <p:txBody>
          <a:bodyPr wrap="square" lIns="0" tIns="0" rIns="0" bIns="0" anchor="t">
            <a:noAutofit/>
          </a:bodyPr>
          <a:lstStyle>
            <a:defPPr algn="l">
              <a:defRPr sz="2100" b="1">
                <a:solidFill>
                  <a:srgbClr val="20282C"/>
                </a:solidFill>
                <a:latin typeface="Arial"/>
                <a:ea typeface="Arial"/>
                <a:cs typeface="Arial"/>
              </a:defRPr>
            </a:defPPr>
          </a:lstStyle>
          <a:p>
            <a:pPr algn="l">
              <a:buNone/>
              <a:defRPr sz="2100" b="1">
                <a:solidFill>
                  <a:srgbClr val="20282C"/>
                </a:solidFill>
                <a:latin typeface="Arial"/>
                <a:ea typeface="Arial"/>
                <a:cs typeface="Arial"/>
              </a:defRPr>
            </a:pPr>
            <a:r>
              <a:rPr sz="2100" b="1">
                <a:solidFill>
                  <a:srgbClr val="20282C"/>
                </a:solidFill>
                <a:latin typeface="Arial"/>
                <a:ea typeface="Arial"/>
                <a:cs typeface="Arial"/>
              </a:rPr>
              <a:t>SimuNow</a:t>
            </a:r>
          </a:p>
        </p:txBody>
      </p:sp>
      <p:sp>
        <p:nvSpPr>
          <p:cNvPr id="4" name="closing-invitation">
            <a:extLst>
              <a:ext uri="{FF2B5EF4-FFF2-40B4-BE49-F238E27FC236}">
                <a16:creationId xmlns:a16="http://schemas.microsoft.com/office/drawing/2014/main" id="{6F0CE226-89E7-4712-B259-566689EEB40D}"/>
              </a:ext>
            </a:extLst>
          </p:cNvPr>
          <p:cNvSpPr>
            <a:spLocks noGrp="1"/>
          </p:cNvSpPr>
          <p:nvPr/>
        </p:nvSpPr>
        <p:spPr>
          <a:xfrm>
            <a:off x="704850" y="3867150"/>
            <a:ext cx="4038600" cy="952500"/>
          </a:xfrm>
          <a:prstGeom prst="rect">
            <a:avLst/>
          </a:prstGeom>
          <a:noFill/>
          <a:ln w="0">
            <a:noFill/>
          </a:ln>
        </p:spPr>
        <p:txBody>
          <a:bodyPr wrap="square" lIns="0" tIns="0" rIns="0" bIns="0" anchor="t">
            <a:noAutofit/>
          </a:bodyPr>
          <a:lstStyle>
            <a:defPPr algn="l">
              <a:defRPr sz="2025" b="0">
                <a:solidFill>
                  <a:srgbClr val="536069"/>
                </a:solidFill>
                <a:latin typeface="Arial"/>
                <a:ea typeface="Arial"/>
                <a:cs typeface="Arial"/>
              </a:defRPr>
            </a:defPPr>
          </a:lstStyle>
          <a:p>
            <a:pPr algn="l">
              <a:buNone/>
              <a:defRPr sz="2025" b="0">
                <a:solidFill>
                  <a:srgbClr val="536069"/>
                </a:solidFill>
                <a:latin typeface="Arial"/>
                <a:ea typeface="Arial"/>
                <a:cs typeface="Arial"/>
              </a:defRPr>
            </a:pPr>
            <a:r>
              <a:rPr sz="2025" b="0">
                <a:solidFill>
                  <a:srgbClr val="536069"/>
                </a:solidFill>
                <a:latin typeface="Arial"/>
                <a:ea typeface="Arial"/>
                <a:cs typeface="Arial"/>
              </a:rPr>
              <a:t>Seeking a pilot office</a:t>
            </a:r>
          </a:p>
          <a:p>
            <a:pPr algn="l">
              <a:buNone/>
              <a:defRPr sz="2025" b="0">
                <a:solidFill>
                  <a:srgbClr val="536069"/>
                </a:solidFill>
                <a:latin typeface="Arial"/>
                <a:ea typeface="Arial"/>
                <a:cs typeface="Arial"/>
              </a:defRPr>
            </a:pPr>
            <a:r>
              <a:rPr sz="2025" b="0">
                <a:solidFill>
                  <a:srgbClr val="536069"/>
                </a:solidFill>
                <a:latin typeface="Arial"/>
                <a:ea typeface="Arial"/>
                <a:cs typeface="Arial"/>
              </a:rPr>
              <a:t>and measurement access.</a:t>
            </a:r>
          </a:p>
        </p:txBody>
      </p:sp>
      <p:sp>
        <p:nvSpPr>
          <p:cNvPr id="5" name="closing-disclosure">
            <a:extLst>
              <a:ext uri="{FF2B5EF4-FFF2-40B4-BE49-F238E27FC236}">
                <a16:creationId xmlns:a16="http://schemas.microsoft.com/office/drawing/2014/main" id="{6FFC6D4F-E9E8-4481-B8C1-793B8188379B}"/>
              </a:ext>
            </a:extLst>
          </p:cNvPr>
          <p:cNvSpPr>
            <a:spLocks noGrp="1"/>
          </p:cNvSpPr>
          <p:nvPr/>
        </p:nvSpPr>
        <p:spPr>
          <a:xfrm>
            <a:off x="685800" y="6334125"/>
            <a:ext cx="9715500" cy="238125"/>
          </a:xfrm>
          <a:prstGeom prst="rect">
            <a:avLst/>
          </a:prstGeom>
          <a:noFill/>
          <a:ln w="0">
            <a:noFill/>
          </a:ln>
        </p:spPr>
        <p:txBody>
          <a:bodyPr wrap="square" lIns="0" tIns="0" rIns="0" bIns="0" anchor="t">
            <a:noAutofit/>
          </a:bodyPr>
          <a:lstStyle>
            <a:defPPr algn="l">
              <a:defRPr sz="1200" b="0">
                <a:solidFill>
                  <a:srgbClr val="64727A"/>
                </a:solidFill>
                <a:latin typeface="Arial"/>
                <a:ea typeface="Arial"/>
                <a:cs typeface="Arial"/>
              </a:defRPr>
            </a:defPPr>
          </a:lstStyle>
          <a:p>
            <a:pPr algn="l">
              <a:buNone/>
              <a:defRPr sz="1200" b="0">
                <a:solidFill>
                  <a:srgbClr val="64727A"/>
                </a:solidFill>
                <a:latin typeface="Arial"/>
                <a:ea typeface="Arial"/>
                <a:cs typeface="Arial"/>
              </a:defRPr>
            </a:pPr>
            <a:r>
              <a:rPr sz="1200" b="0">
                <a:solidFill>
                  <a:srgbClr val="64727A"/>
                </a:solidFill>
                <a:latin typeface="Arial"/>
                <a:ea typeface="Arial"/>
                <a:cs typeface="Arial"/>
              </a:rPr>
              <a:t>Concept illustration · not a simulation result</a:t>
            </a:r>
          </a:p>
        </p:txBody>
      </p:sp>
      <p:sp>
        <p:nvSpPr>
          <p:cNvPr id="6" name="closing-page">
            <a:extLst>
              <a:ext uri="{FF2B5EF4-FFF2-40B4-BE49-F238E27FC236}">
                <a16:creationId xmlns:a16="http://schemas.microsoft.com/office/drawing/2014/main" id="{160488B5-B438-4CFE-869B-0CF503B8DB68}"/>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buNone/>
              <a:defRPr sz="1125" b="0">
                <a:solidFill>
                  <a:srgbClr val="64727A"/>
                </a:solidFill>
                <a:latin typeface="Arial"/>
                <a:ea typeface="Arial"/>
                <a:cs typeface="Arial"/>
              </a:defRPr>
            </a:pPr>
            <a:r>
              <a:rPr sz="1125" b="0">
                <a:solidFill>
                  <a:srgbClr val="64727A"/>
                </a:solidFill>
                <a:latin typeface="Arial"/>
                <a:ea typeface="Arial"/>
                <a:cs typeface="Arial"/>
              </a:rPr>
              <a:t>13</a:t>
            </a:r>
          </a:p>
        </p:txBody>
      </p:sp>
    </p:spTree>
    <p:extLst>
      <p:ext uri="{BB962C8B-B14F-4D97-AF65-F5344CB8AC3E}">
        <p14:creationId xmlns:p14="http://schemas.microsoft.com/office/powerpoint/2010/main" val="142254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imunow-brand">
            <a:extLst>
              <a:ext uri="{FF2B5EF4-FFF2-40B4-BE49-F238E27FC236}">
                <a16:creationId xmlns:a16="http://schemas.microsoft.com/office/drawing/2014/main" id="{95789854-C266-4753-BE71-B7018651C025}"/>
              </a:ext>
            </a:extLst>
          </p:cNvPr>
          <p:cNvSpPr>
            <a:spLocks noGrp="1"/>
          </p:cNvSpPr>
          <p:nvPr/>
        </p:nvSpPr>
        <p:spPr>
          <a:xfrm>
            <a:off x="685800" y="361950"/>
            <a:ext cx="2095500" cy="266700"/>
          </a:xfrm>
          <a:prstGeom prst="rect">
            <a:avLst/>
          </a:prstGeom>
          <a:noFill/>
          <a:ln w="0">
            <a:noFill/>
          </a:ln>
        </p:spPr>
        <p:txBody>
          <a:bodyPr wrap="square" lIns="0" tIns="0" rIns="0" bIns="0" anchor="t">
            <a:noAutofit/>
          </a:bodyPr>
          <a:lstStyle>
            <a:defPPr algn="l">
              <a:defRPr sz="1500" b="1">
                <a:solidFill>
                  <a:srgbClr val="20282C"/>
                </a:solidFill>
                <a:latin typeface="Arial"/>
                <a:ea typeface="Arial"/>
                <a:cs typeface="Arial"/>
              </a:defRPr>
            </a:defPPr>
          </a:lstStyle>
          <a:p>
            <a:pPr algn="l">
              <a:defRPr sz="1500" b="1">
                <a:solidFill>
                  <a:srgbClr val="20282C"/>
                </a:solidFill>
                <a:latin typeface="Arial"/>
                <a:ea typeface="Arial"/>
                <a:cs typeface="Arial"/>
              </a:defRPr>
            </a:pPr>
            <a:r>
              <a:rPr sz="1500" b="1">
                <a:solidFill>
                  <a:srgbClr val="20282C"/>
                </a:solidFill>
                <a:latin typeface="Arial"/>
                <a:ea typeface="Arial"/>
                <a:cs typeface="Arial"/>
              </a:rPr>
              <a:t>SimuNow</a:t>
            </a:r>
          </a:p>
        </p:txBody>
      </p:sp>
      <p:sp>
        <p:nvSpPr>
          <p:cNvPr id="3" name="slide-title">
            <a:extLst>
              <a:ext uri="{FF2B5EF4-FFF2-40B4-BE49-F238E27FC236}">
                <a16:creationId xmlns:a16="http://schemas.microsoft.com/office/drawing/2014/main" id="{2FE94DA7-8FD2-4B49-A126-5462CF6DD832}"/>
              </a:ext>
            </a:extLst>
          </p:cNvPr>
          <p:cNvSpPr>
            <a:spLocks noGrp="1"/>
          </p:cNvSpPr>
          <p:nvPr/>
        </p:nvSpPr>
        <p:spPr>
          <a:xfrm>
            <a:off x="685800" y="1019175"/>
            <a:ext cx="10820400" cy="647700"/>
          </a:xfrm>
          <a:prstGeom prst="rect">
            <a:avLst/>
          </a:prstGeom>
          <a:noFill/>
          <a:ln w="0">
            <a:noFill/>
          </a:ln>
        </p:spPr>
        <p:txBody>
          <a:bodyPr wrap="square" lIns="0" tIns="0" rIns="0" bIns="0" anchor="t">
            <a:noAutofit/>
          </a:bodyPr>
          <a:lstStyle>
            <a:defPPr algn="l">
              <a:defRPr sz="3900" b="1">
                <a:solidFill>
                  <a:srgbClr val="20282C"/>
                </a:solidFill>
                <a:latin typeface="Arial"/>
                <a:ea typeface="Arial"/>
                <a:cs typeface="Arial"/>
              </a:defRPr>
            </a:defPPr>
          </a:lstStyle>
          <a:p>
            <a:pPr algn="l">
              <a:defRPr sz="3900" b="1">
                <a:solidFill>
                  <a:srgbClr val="20282C"/>
                </a:solidFill>
                <a:latin typeface="Arial"/>
                <a:ea typeface="Arial"/>
                <a:cs typeface="Arial"/>
              </a:defRPr>
            </a:pPr>
            <a:r>
              <a:rPr sz="3900" b="1">
                <a:solidFill>
                  <a:srgbClr val="20282C"/>
                </a:solidFill>
                <a:latin typeface="Arial"/>
                <a:ea typeface="Arial"/>
                <a:cs typeface="Arial"/>
              </a:rPr>
              <a:t>References</a:t>
            </a:r>
          </a:p>
        </p:txBody>
      </p:sp>
      <p:sp>
        <p:nvSpPr>
          <p:cNvPr id="4" name="slide-subtitle">
            <a:extLst>
              <a:ext uri="{FF2B5EF4-FFF2-40B4-BE49-F238E27FC236}">
                <a16:creationId xmlns:a16="http://schemas.microsoft.com/office/drawing/2014/main" id="{49AD80ED-3BC0-4C8F-9F00-3CDA7EE41B8B}"/>
              </a:ext>
            </a:extLst>
          </p:cNvPr>
          <p:cNvSpPr>
            <a:spLocks noGrp="1"/>
          </p:cNvSpPr>
          <p:nvPr/>
        </p:nvSpPr>
        <p:spPr>
          <a:xfrm>
            <a:off x="685800" y="1704975"/>
            <a:ext cx="10820400" cy="352425"/>
          </a:xfrm>
          <a:prstGeom prst="rect">
            <a:avLst/>
          </a:prstGeom>
          <a:noFill/>
          <a:ln w="0">
            <a:noFill/>
          </a:ln>
        </p:spPr>
        <p:txBody>
          <a:bodyPr wrap="square" lIns="0" tIns="0" rIns="0" bIns="0" anchor="t">
            <a:noAutofit/>
          </a:bodyPr>
          <a:lstStyle>
            <a:defPPr algn="l">
              <a:defRPr sz="1875" b="0">
                <a:solidFill>
                  <a:srgbClr val="536069"/>
                </a:solidFill>
                <a:latin typeface="Arial"/>
                <a:ea typeface="Arial"/>
                <a:cs typeface="Arial"/>
              </a:defRPr>
            </a:defPPr>
          </a:lstStyle>
          <a:p>
            <a:pPr algn="l">
              <a:defRPr sz="1875" b="0">
                <a:solidFill>
                  <a:srgbClr val="536069"/>
                </a:solidFill>
                <a:latin typeface="Arial"/>
                <a:ea typeface="Arial"/>
                <a:cs typeface="Arial"/>
              </a:defRPr>
            </a:pPr>
            <a:r>
              <a:rPr sz="1875" b="0">
                <a:solidFill>
                  <a:srgbClr val="536069"/>
                </a:solidFill>
                <a:latin typeface="Arial"/>
                <a:ea typeface="Arial"/>
                <a:cs typeface="Arial"/>
              </a:rPr>
              <a:t>Statistical sources, technical basis, project evidence and illustration provenance</a:t>
            </a:r>
          </a:p>
        </p:txBody>
      </p:sp>
      <p:sp>
        <p:nvSpPr>
          <p:cNvPr id="5" name="page-number">
            <a:extLst>
              <a:ext uri="{FF2B5EF4-FFF2-40B4-BE49-F238E27FC236}">
                <a16:creationId xmlns:a16="http://schemas.microsoft.com/office/drawing/2014/main" id="{3BE5F22E-1B84-4AD3-893A-9F0FB8086D9E}"/>
              </a:ext>
            </a:extLst>
          </p:cNvPr>
          <p:cNvSpPr>
            <a:spLocks noGrp="1"/>
          </p:cNvSpPr>
          <p:nvPr/>
        </p:nvSpPr>
        <p:spPr>
          <a:xfrm>
            <a:off x="11106150" y="6334125"/>
            <a:ext cx="400050" cy="228600"/>
          </a:xfrm>
          <a:prstGeom prst="rect">
            <a:avLst/>
          </a:prstGeom>
          <a:noFill/>
          <a:ln w="0">
            <a:noFill/>
          </a:ln>
        </p:spPr>
        <p:txBody>
          <a:bodyPr wrap="square" lIns="0" tIns="0" rIns="0" bIns="0" anchor="t">
            <a:noAutofit/>
          </a:bodyPr>
          <a:lstStyle>
            <a:defPPr algn="r">
              <a:defRPr sz="1125" b="0">
                <a:solidFill>
                  <a:srgbClr val="64727A"/>
                </a:solidFill>
                <a:latin typeface="Arial"/>
                <a:ea typeface="Arial"/>
                <a:cs typeface="Arial"/>
              </a:defRPr>
            </a:defPPr>
          </a:lstStyle>
          <a:p>
            <a:pPr algn="r">
              <a:defRPr sz="1125" b="0">
                <a:solidFill>
                  <a:srgbClr val="64727A"/>
                </a:solidFill>
                <a:latin typeface="Arial"/>
                <a:ea typeface="Arial"/>
                <a:cs typeface="Arial"/>
              </a:defRPr>
            </a:pPr>
            <a:r>
              <a:rPr sz="1125" b="0">
                <a:solidFill>
                  <a:srgbClr val="64727A"/>
                </a:solidFill>
                <a:latin typeface="Arial"/>
                <a:ea typeface="Arial"/>
                <a:cs typeface="Arial"/>
              </a:rPr>
              <a:t>14</a:t>
            </a:r>
          </a:p>
        </p:txBody>
      </p:sp>
      <p:sp>
        <p:nvSpPr>
          <p:cNvPr id="6" name="ref1-title">
            <a:extLst>
              <a:ext uri="{FF2B5EF4-FFF2-40B4-BE49-F238E27FC236}">
                <a16:creationId xmlns:a16="http://schemas.microsoft.com/office/drawing/2014/main" id="{4552227F-45C0-40F8-91BF-20079E31A069}"/>
              </a:ext>
            </a:extLst>
          </p:cNvPr>
          <p:cNvSpPr>
            <a:spLocks noGrp="1"/>
          </p:cNvSpPr>
          <p:nvPr/>
        </p:nvSpPr>
        <p:spPr>
          <a:xfrm>
            <a:off x="685800" y="226695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[1] EMSD (2026)</a:t>
            </a:r>
          </a:p>
        </p:txBody>
      </p:sp>
      <p:sp>
        <p:nvSpPr>
          <p:cNvPr id="7" name="ref1-body">
            <a:extLst>
              <a:ext uri="{FF2B5EF4-FFF2-40B4-BE49-F238E27FC236}">
                <a16:creationId xmlns:a16="http://schemas.microsoft.com/office/drawing/2014/main" id="{CF4648A8-8B0E-4F80-B380-DE3983A7102F}"/>
              </a:ext>
            </a:extLst>
          </p:cNvPr>
          <p:cNvSpPr>
            <a:spLocks noGrp="1"/>
          </p:cNvSpPr>
          <p:nvPr/>
        </p:nvSpPr>
        <p:spPr>
          <a:xfrm>
            <a:off x="685800" y="262890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Hong Kong Energy End-use Data 2026</a:t>
            </a:r>
          </a:p>
          <a:p>
            <a:pPr algn="l">
              <a:defRPr sz="1313" b="0">
                <a:solidFill>
                  <a:srgbClr val="536069"/>
                </a:solidFill>
                <a:latin typeface="Arial"/>
                <a:ea typeface="Arial"/>
                <a:cs typeface="Arial"/>
              </a:defRPr>
            </a:pPr>
            <a:r>
              <a:rPr sz="1313" b="0">
                <a:solidFill>
                  <a:srgbClr val="536069"/>
                </a:solidFill>
                <a:latin typeface="Arial"/>
                <a:ea typeface="Arial"/>
                <a:cs typeface="Arial"/>
              </a:rPr>
              <a:t>2024 statistics. Tables 12 and 39</a:t>
            </a:r>
          </a:p>
          <a:p>
            <a:pPr algn="l">
              <a:defRPr sz="1313" b="0">
                <a:solidFill>
                  <a:srgbClr val="536069"/>
                </a:solidFill>
                <a:latin typeface="Arial"/>
                <a:ea typeface="Arial"/>
                <a:cs typeface="Arial"/>
              </a:defRPr>
            </a:pPr>
            <a:r>
              <a:rPr sz="1313" b="0">
                <a:solidFill>
                  <a:srgbClr val="536069"/>
                </a:solidFill>
                <a:latin typeface="Arial"/>
                <a:ea typeface="Arial"/>
                <a:cs typeface="Arial"/>
              </a:rPr>
              <a:t>pp. 27 and 54. Definition: p. 78.</a:t>
            </a:r>
          </a:p>
        </p:txBody>
      </p:sp>
      <p:sp>
        <p:nvSpPr>
          <p:cNvPr id="8" name="ref1-link">
            <a:extLst>
              <a:ext uri="{FF2B5EF4-FFF2-40B4-BE49-F238E27FC236}">
                <a16:creationId xmlns:a16="http://schemas.microsoft.com/office/drawing/2014/main" id="{6E0D5508-CC26-4A50-AE4C-A96A75A071EE}"/>
              </a:ext>
            </a:extLst>
          </p:cNvPr>
          <p:cNvSpPr>
            <a:spLocks noGrp="1"/>
          </p:cNvSpPr>
          <p:nvPr/>
        </p:nvSpPr>
        <p:spPr>
          <a:xfrm>
            <a:off x="685800" y="3343275"/>
            <a:ext cx="3276600" cy="247650"/>
          </a:xfrm>
          <a:prstGeom prst="rect">
            <a:avLst/>
          </a:prstGeom>
          <a:noFill/>
          <a:ln w="0">
            <a:noFill/>
          </a:ln>
        </p:spPr>
        <p:txBody>
          <a:bodyPr wrap="square" lIns="0" tIns="0" rIns="0" bIns="0" anchor="t">
            <a:noAutofit/>
          </a:bodyPr>
          <a:lstStyle>
            <a:defPPr algn="l">
              <a:defRPr sz="1275" b="0">
                <a:solidFill>
                  <a:srgbClr val="277F89"/>
                </a:solidFill>
                <a:latin typeface="Arial"/>
                <a:ea typeface="Arial"/>
                <a:cs typeface="Arial"/>
              </a:defRPr>
            </a:defPPr>
          </a:lstStyle>
          <a:p>
            <a:pPr algn="l">
              <a:defRPr sz="1275" b="0">
                <a:solidFill>
                  <a:srgbClr val="277F89"/>
                </a:solidFill>
                <a:latin typeface="Arial"/>
                <a:ea typeface="Arial"/>
                <a:cs typeface="Arial"/>
              </a:defRPr>
            </a:pPr>
            <a:r>
              <a:rPr sz="1275" b="0">
                <a:solidFill>
                  <a:srgbClr val="277F89"/>
                </a:solidFill>
                <a:latin typeface="Arial"/>
                <a:ea typeface="Arial"/>
                <a:cs typeface="Arial"/>
                <a:hlinkClick r:id="rId3"/>
              </a:rPr>
              <a:t>EMSD official report (PDF)</a:t>
            </a:r>
          </a:p>
        </p:txBody>
      </p:sp>
      <p:sp>
        <p:nvSpPr>
          <p:cNvPr id="9" name="ref2-title">
            <a:extLst>
              <a:ext uri="{FF2B5EF4-FFF2-40B4-BE49-F238E27FC236}">
                <a16:creationId xmlns:a16="http://schemas.microsoft.com/office/drawing/2014/main" id="{41B600E8-DF69-420D-BBA8-274C565C4E62}"/>
              </a:ext>
            </a:extLst>
          </p:cNvPr>
          <p:cNvSpPr>
            <a:spLocks noGrp="1"/>
          </p:cNvSpPr>
          <p:nvPr/>
        </p:nvSpPr>
        <p:spPr>
          <a:xfrm>
            <a:off x="685800" y="379095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[2] IEA (2026)</a:t>
            </a:r>
          </a:p>
        </p:txBody>
      </p:sp>
      <p:sp>
        <p:nvSpPr>
          <p:cNvPr id="10" name="ref2-body">
            <a:extLst>
              <a:ext uri="{FF2B5EF4-FFF2-40B4-BE49-F238E27FC236}">
                <a16:creationId xmlns:a16="http://schemas.microsoft.com/office/drawing/2014/main" id="{F6F57CC3-CA12-47D0-9C51-5850206D40F4}"/>
              </a:ext>
            </a:extLst>
          </p:cNvPr>
          <p:cNvSpPr>
            <a:spLocks noGrp="1"/>
          </p:cNvSpPr>
          <p:nvPr/>
        </p:nvSpPr>
        <p:spPr>
          <a:xfrm>
            <a:off x="685800" y="415290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Cooling a hotter world: El Niño meets</a:t>
            </a:r>
          </a:p>
          <a:p>
            <a:pPr algn="l">
              <a:defRPr sz="1313" b="0">
                <a:solidFill>
                  <a:srgbClr val="536069"/>
                </a:solidFill>
                <a:latin typeface="Arial"/>
                <a:ea typeface="Arial"/>
                <a:cs typeface="Arial"/>
              </a:defRPr>
            </a:pPr>
            <a:r>
              <a:rPr sz="1313" b="0">
                <a:solidFill>
                  <a:srgbClr val="536069"/>
                </a:solidFill>
                <a:latin typeface="Arial"/>
                <a:ea typeface="Arial"/>
                <a:cs typeface="Arial"/>
              </a:rPr>
              <a:t>strong growth in electricity demand</a:t>
            </a:r>
          </a:p>
          <a:p>
            <a:pPr algn="l">
              <a:defRPr sz="1313" b="0">
                <a:solidFill>
                  <a:srgbClr val="536069"/>
                </a:solidFill>
                <a:latin typeface="Arial"/>
                <a:ea typeface="Arial"/>
                <a:cs typeface="Arial"/>
              </a:defRPr>
            </a:pPr>
            <a:r>
              <a:rPr sz="1313" b="0">
                <a:solidFill>
                  <a:srgbClr val="536069"/>
                </a:solidFill>
                <a:latin typeface="Arial"/>
                <a:ea typeface="Arial"/>
                <a:cs typeface="Arial"/>
              </a:rPr>
              <a:t>10 July 2026. CC BY 4.0.</a:t>
            </a:r>
          </a:p>
        </p:txBody>
      </p:sp>
      <p:sp>
        <p:nvSpPr>
          <p:cNvPr id="11" name="ref2-link">
            <a:extLst>
              <a:ext uri="{FF2B5EF4-FFF2-40B4-BE49-F238E27FC236}">
                <a16:creationId xmlns:a16="http://schemas.microsoft.com/office/drawing/2014/main" id="{F35C2A1B-B5A6-4F7B-A792-8705AF948CCA}"/>
              </a:ext>
            </a:extLst>
          </p:cNvPr>
          <p:cNvSpPr>
            <a:spLocks noGrp="1"/>
          </p:cNvSpPr>
          <p:nvPr/>
        </p:nvSpPr>
        <p:spPr>
          <a:xfrm>
            <a:off x="685800" y="4867275"/>
            <a:ext cx="3276600" cy="247650"/>
          </a:xfrm>
          <a:prstGeom prst="rect">
            <a:avLst/>
          </a:prstGeom>
          <a:noFill/>
          <a:ln w="0">
            <a:noFill/>
          </a:ln>
        </p:spPr>
        <p:txBody>
          <a:bodyPr wrap="square" lIns="0" tIns="0" rIns="0" bIns="0" anchor="t">
            <a:noAutofit/>
          </a:bodyPr>
          <a:lstStyle>
            <a:defPPr algn="l">
              <a:defRPr sz="1275" b="0">
                <a:solidFill>
                  <a:srgbClr val="277F89"/>
                </a:solidFill>
                <a:latin typeface="Arial"/>
                <a:ea typeface="Arial"/>
                <a:cs typeface="Arial"/>
              </a:defRPr>
            </a:defPPr>
          </a:lstStyle>
          <a:p>
            <a:pPr algn="l">
              <a:defRPr sz="1275" b="0">
                <a:solidFill>
                  <a:srgbClr val="277F89"/>
                </a:solidFill>
                <a:latin typeface="Arial"/>
                <a:ea typeface="Arial"/>
                <a:cs typeface="Arial"/>
              </a:defRPr>
            </a:pPr>
            <a:r>
              <a:rPr sz="1275" b="0">
                <a:solidFill>
                  <a:srgbClr val="277F89"/>
                </a:solidFill>
                <a:latin typeface="Arial"/>
                <a:ea typeface="Arial"/>
                <a:cs typeface="Arial"/>
                <a:hlinkClick r:id="rId4"/>
              </a:rPr>
              <a:t>IEA official commentary</a:t>
            </a:r>
          </a:p>
        </p:txBody>
      </p:sp>
      <p:sp>
        <p:nvSpPr>
          <p:cNvPr id="12" name="ref6-title">
            <a:extLst>
              <a:ext uri="{FF2B5EF4-FFF2-40B4-BE49-F238E27FC236}">
                <a16:creationId xmlns:a16="http://schemas.microsoft.com/office/drawing/2014/main" id="{FD172A1A-5340-4200-B33A-BC0B5BB06D16}"/>
              </a:ext>
            </a:extLst>
          </p:cNvPr>
          <p:cNvSpPr>
            <a:spLocks noGrp="1"/>
          </p:cNvSpPr>
          <p:nvPr/>
        </p:nvSpPr>
        <p:spPr>
          <a:xfrm>
            <a:off x="685800" y="521970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[6] ASHRAE (2023)</a:t>
            </a:r>
          </a:p>
        </p:txBody>
      </p:sp>
      <p:sp>
        <p:nvSpPr>
          <p:cNvPr id="13" name="ref6-body">
            <a:extLst>
              <a:ext uri="{FF2B5EF4-FFF2-40B4-BE49-F238E27FC236}">
                <a16:creationId xmlns:a16="http://schemas.microsoft.com/office/drawing/2014/main" id="{C3E6993D-E983-475D-BEAE-366E853F4AFC}"/>
              </a:ext>
            </a:extLst>
          </p:cNvPr>
          <p:cNvSpPr>
            <a:spLocks noGrp="1"/>
          </p:cNvSpPr>
          <p:nvPr/>
        </p:nvSpPr>
        <p:spPr>
          <a:xfrm>
            <a:off x="685800" y="558165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ANSI/ASHRAE Standard 55-2023</a:t>
            </a:r>
          </a:p>
          <a:p>
            <a:pPr algn="l">
              <a:defRPr sz="1313" b="0">
                <a:solidFill>
                  <a:srgbClr val="536069"/>
                </a:solidFill>
                <a:latin typeface="Arial"/>
                <a:ea typeface="Arial"/>
                <a:cs typeface="Arial"/>
              </a:defRPr>
            </a:pPr>
            <a:r>
              <a:rPr sz="1313" b="0">
                <a:solidFill>
                  <a:srgbClr val="536069"/>
                </a:solidFill>
                <a:latin typeface="Arial"/>
                <a:ea typeface="Arial"/>
                <a:cs typeface="Arial"/>
              </a:rPr>
              <a:t>Thermal Environmental Conditions</a:t>
            </a:r>
          </a:p>
          <a:p>
            <a:pPr algn="l">
              <a:defRPr sz="1313" b="0">
                <a:solidFill>
                  <a:srgbClr val="536069"/>
                </a:solidFill>
                <a:latin typeface="Arial"/>
                <a:ea typeface="Arial"/>
                <a:cs typeface="Arial"/>
              </a:defRPr>
            </a:pPr>
            <a:r>
              <a:rPr sz="1313" b="0">
                <a:solidFill>
                  <a:srgbClr val="536069"/>
                </a:solidFill>
                <a:latin typeface="Arial"/>
                <a:ea typeface="Arial"/>
                <a:cs typeface="Arial"/>
              </a:rPr>
              <a:t>for Human Occupancy</a:t>
            </a:r>
          </a:p>
        </p:txBody>
      </p:sp>
      <p:sp>
        <p:nvSpPr>
          <p:cNvPr id="14" name="ref6-link">
            <a:extLst>
              <a:ext uri="{FF2B5EF4-FFF2-40B4-BE49-F238E27FC236}">
                <a16:creationId xmlns:a16="http://schemas.microsoft.com/office/drawing/2014/main" id="{B98D6DA0-39C5-42E8-9AE8-E58EBC4EAB56}"/>
              </a:ext>
            </a:extLst>
          </p:cNvPr>
          <p:cNvSpPr>
            <a:spLocks noGrp="1"/>
          </p:cNvSpPr>
          <p:nvPr/>
        </p:nvSpPr>
        <p:spPr>
          <a:xfrm>
            <a:off x="685800" y="6305550"/>
            <a:ext cx="3276600" cy="247650"/>
          </a:xfrm>
          <a:prstGeom prst="rect">
            <a:avLst/>
          </a:prstGeom>
          <a:noFill/>
          <a:ln w="0">
            <a:noFill/>
          </a:ln>
        </p:spPr>
        <p:txBody>
          <a:bodyPr wrap="square" lIns="0" tIns="0" rIns="0" bIns="0" anchor="t">
            <a:noAutofit/>
          </a:bodyPr>
          <a:lstStyle>
            <a:defPPr algn="l">
              <a:defRPr sz="1275" b="0">
                <a:solidFill>
                  <a:srgbClr val="277F89"/>
                </a:solidFill>
                <a:latin typeface="Arial"/>
                <a:ea typeface="Arial"/>
                <a:cs typeface="Arial"/>
              </a:defRPr>
            </a:defPPr>
          </a:lstStyle>
          <a:p>
            <a:pPr algn="l">
              <a:defRPr sz="1275" b="0">
                <a:solidFill>
                  <a:srgbClr val="277F89"/>
                </a:solidFill>
                <a:latin typeface="Arial"/>
                <a:ea typeface="Arial"/>
                <a:cs typeface="Arial"/>
              </a:defRPr>
            </a:pPr>
            <a:r>
              <a:rPr sz="1275" b="0">
                <a:solidFill>
                  <a:srgbClr val="277F89"/>
                </a:solidFill>
                <a:latin typeface="Arial"/>
                <a:ea typeface="Arial"/>
                <a:cs typeface="Arial"/>
                <a:hlinkClick r:id="rId5"/>
              </a:rPr>
              <a:t>Standard 55 official overview</a:t>
            </a:r>
          </a:p>
        </p:txBody>
      </p:sp>
      <p:sp>
        <p:nvSpPr>
          <p:cNvPr id="15" name="ref7-title">
            <a:extLst>
              <a:ext uri="{FF2B5EF4-FFF2-40B4-BE49-F238E27FC236}">
                <a16:creationId xmlns:a16="http://schemas.microsoft.com/office/drawing/2014/main" id="{7B027384-957D-4C17-AE04-C7DE13C69A63}"/>
              </a:ext>
            </a:extLst>
          </p:cNvPr>
          <p:cNvSpPr>
            <a:spLocks noGrp="1"/>
          </p:cNvSpPr>
          <p:nvPr/>
        </p:nvSpPr>
        <p:spPr>
          <a:xfrm>
            <a:off x="4457700" y="226695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[7] EnergyPlus Engineering Ref.</a:t>
            </a:r>
          </a:p>
        </p:txBody>
      </p:sp>
      <p:sp>
        <p:nvSpPr>
          <p:cNvPr id="16" name="ref7-body">
            <a:extLst>
              <a:ext uri="{FF2B5EF4-FFF2-40B4-BE49-F238E27FC236}">
                <a16:creationId xmlns:a16="http://schemas.microsoft.com/office/drawing/2014/main" id="{CE62074A-FB7C-4C52-846C-D81B1FD50108}"/>
              </a:ext>
            </a:extLst>
          </p:cNvPr>
          <p:cNvSpPr>
            <a:spLocks noGrp="1"/>
          </p:cNvSpPr>
          <p:nvPr/>
        </p:nvSpPr>
        <p:spPr>
          <a:xfrm>
            <a:off x="4457700" y="262890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Engineering Reference</a:t>
            </a:r>
          </a:p>
          <a:p>
            <a:pPr algn="l">
              <a:defRPr sz="1313" b="0">
                <a:solidFill>
                  <a:srgbClr val="536069"/>
                </a:solidFill>
                <a:latin typeface="Arial"/>
                <a:ea typeface="Arial"/>
                <a:cs typeface="Arial"/>
              </a:defRPr>
            </a:pPr>
            <a:r>
              <a:rPr sz="1313" b="0">
                <a:solidFill>
                  <a:srgbClr val="536069"/>
                </a:solidFill>
                <a:latin typeface="Arial"/>
                <a:ea typeface="Arial"/>
                <a:cs typeface="Arial"/>
              </a:rPr>
              <a:t>Zone Internal Gains</a:t>
            </a:r>
          </a:p>
          <a:p>
            <a:pPr algn="l">
              <a:defRPr sz="1313" b="0">
                <a:solidFill>
                  <a:srgbClr val="536069"/>
                </a:solidFill>
                <a:latin typeface="Arial"/>
                <a:ea typeface="Arial"/>
                <a:cs typeface="Arial"/>
              </a:defRPr>
            </a:pPr>
            <a:r>
              <a:rPr sz="1313" b="0">
                <a:solidFill>
                  <a:srgbClr val="536069"/>
                </a:solidFill>
                <a:latin typeface="Arial"/>
                <a:ea typeface="Arial"/>
                <a:cs typeface="Arial"/>
              </a:rPr>
              <a:t>People, lights, equipment and loads</a:t>
            </a:r>
          </a:p>
        </p:txBody>
      </p:sp>
      <p:sp>
        <p:nvSpPr>
          <p:cNvPr id="17" name="ref7-link">
            <a:extLst>
              <a:ext uri="{FF2B5EF4-FFF2-40B4-BE49-F238E27FC236}">
                <a16:creationId xmlns:a16="http://schemas.microsoft.com/office/drawing/2014/main" id="{18B9E9C1-1026-4FB1-BC49-A87EFEC5501E}"/>
              </a:ext>
            </a:extLst>
          </p:cNvPr>
          <p:cNvSpPr>
            <a:spLocks noGrp="1"/>
          </p:cNvSpPr>
          <p:nvPr/>
        </p:nvSpPr>
        <p:spPr>
          <a:xfrm>
            <a:off x="4457700" y="3343275"/>
            <a:ext cx="3276600" cy="247650"/>
          </a:xfrm>
          <a:prstGeom prst="rect">
            <a:avLst/>
          </a:prstGeom>
          <a:noFill/>
          <a:ln w="0">
            <a:noFill/>
          </a:ln>
        </p:spPr>
        <p:txBody>
          <a:bodyPr wrap="square" lIns="0" tIns="0" rIns="0" bIns="0" anchor="t">
            <a:noAutofit/>
          </a:bodyPr>
          <a:lstStyle>
            <a:defPPr algn="l">
              <a:defRPr sz="1275" b="0">
                <a:solidFill>
                  <a:srgbClr val="277F89"/>
                </a:solidFill>
                <a:latin typeface="Arial"/>
                <a:ea typeface="Arial"/>
                <a:cs typeface="Arial"/>
              </a:defRPr>
            </a:defPPr>
          </a:lstStyle>
          <a:p>
            <a:pPr algn="l">
              <a:defRPr sz="1275" b="0">
                <a:solidFill>
                  <a:srgbClr val="277F89"/>
                </a:solidFill>
                <a:latin typeface="Arial"/>
                <a:ea typeface="Arial"/>
                <a:cs typeface="Arial"/>
              </a:defRPr>
            </a:pPr>
            <a:r>
              <a:rPr sz="1275" b="0">
                <a:solidFill>
                  <a:srgbClr val="277F89"/>
                </a:solidFill>
                <a:latin typeface="Arial"/>
                <a:ea typeface="Arial"/>
                <a:cs typeface="Arial"/>
                <a:hlinkClick r:id="rId6"/>
              </a:rPr>
              <a:t>EnergyPlus official documentation</a:t>
            </a:r>
          </a:p>
        </p:txBody>
      </p:sp>
      <p:sp>
        <p:nvSpPr>
          <p:cNvPr id="18" name="ref8-title">
            <a:extLst>
              <a:ext uri="{FF2B5EF4-FFF2-40B4-BE49-F238E27FC236}">
                <a16:creationId xmlns:a16="http://schemas.microsoft.com/office/drawing/2014/main" id="{AFE48A99-C007-42D1-A231-21B2198B6901}"/>
              </a:ext>
            </a:extLst>
          </p:cNvPr>
          <p:cNvSpPr>
            <a:spLocks noGrp="1"/>
          </p:cNvSpPr>
          <p:nvPr/>
        </p:nvSpPr>
        <p:spPr>
          <a:xfrm>
            <a:off x="4457700" y="379095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[8] EnergyPlus Quick Start</a:t>
            </a:r>
          </a:p>
        </p:txBody>
      </p:sp>
      <p:sp>
        <p:nvSpPr>
          <p:cNvPr id="19" name="ref8-body">
            <a:extLst>
              <a:ext uri="{FF2B5EF4-FFF2-40B4-BE49-F238E27FC236}">
                <a16:creationId xmlns:a16="http://schemas.microsoft.com/office/drawing/2014/main" id="{108A38F6-60B6-4F75-9395-484A02495802}"/>
              </a:ext>
            </a:extLst>
          </p:cNvPr>
          <p:cNvSpPr>
            <a:spLocks noGrp="1"/>
          </p:cNvSpPr>
          <p:nvPr/>
        </p:nvSpPr>
        <p:spPr>
          <a:xfrm>
            <a:off x="4457700" y="415290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Online documentation (26.2)</a:t>
            </a:r>
          </a:p>
          <a:p>
            <a:pPr algn="l">
              <a:defRPr sz="1313" b="0">
                <a:solidFill>
                  <a:srgbClr val="536069"/>
                </a:solidFill>
                <a:latin typeface="Arial"/>
                <a:ea typeface="Arial"/>
                <a:cs typeface="Arial"/>
              </a:defRPr>
            </a:pPr>
            <a:r>
              <a:rPr sz="1313" b="0">
                <a:solidFill>
                  <a:srgbClr val="536069"/>
                </a:solidFill>
                <a:latin typeface="Arial"/>
                <a:ea typeface="Arial"/>
                <a:cs typeface="Arial"/>
              </a:rPr>
              <a:t>Building + weather model inputs</a:t>
            </a:r>
          </a:p>
          <a:p>
            <a:pPr algn="l">
              <a:defRPr sz="1313" b="0">
                <a:solidFill>
                  <a:srgbClr val="536069"/>
                </a:solidFill>
                <a:latin typeface="Arial"/>
                <a:ea typeface="Arial"/>
                <a:cs typeface="Arial"/>
              </a:defRPr>
            </a:pPr>
            <a:r>
              <a:rPr sz="1313" b="0">
                <a:solidFill>
                  <a:srgbClr val="536069"/>
                </a:solidFill>
                <a:latin typeface="Arial"/>
                <a:ea typeface="Arial"/>
                <a:cs typeface="Arial"/>
              </a:rPr>
              <a:t>Output variables and meters</a:t>
            </a:r>
          </a:p>
        </p:txBody>
      </p:sp>
      <p:sp>
        <p:nvSpPr>
          <p:cNvPr id="20" name="ref8-link">
            <a:extLst>
              <a:ext uri="{FF2B5EF4-FFF2-40B4-BE49-F238E27FC236}">
                <a16:creationId xmlns:a16="http://schemas.microsoft.com/office/drawing/2014/main" id="{4040C654-6806-4316-9CF6-85DC187D907F}"/>
              </a:ext>
            </a:extLst>
          </p:cNvPr>
          <p:cNvSpPr>
            <a:spLocks noGrp="1"/>
          </p:cNvSpPr>
          <p:nvPr/>
        </p:nvSpPr>
        <p:spPr>
          <a:xfrm>
            <a:off x="4457700" y="4867275"/>
            <a:ext cx="3276600" cy="247650"/>
          </a:xfrm>
          <a:prstGeom prst="rect">
            <a:avLst/>
          </a:prstGeom>
          <a:noFill/>
          <a:ln w="0">
            <a:noFill/>
          </a:ln>
        </p:spPr>
        <p:txBody>
          <a:bodyPr wrap="square" lIns="0" tIns="0" rIns="0" bIns="0" anchor="t">
            <a:noAutofit/>
          </a:bodyPr>
          <a:lstStyle>
            <a:defPPr algn="l">
              <a:defRPr sz="1275" b="0">
                <a:solidFill>
                  <a:srgbClr val="277F89"/>
                </a:solidFill>
                <a:latin typeface="Arial"/>
                <a:ea typeface="Arial"/>
                <a:cs typeface="Arial"/>
              </a:defRPr>
            </a:defPPr>
          </a:lstStyle>
          <a:p>
            <a:pPr algn="l">
              <a:defRPr sz="1275" b="0">
                <a:solidFill>
                  <a:srgbClr val="277F89"/>
                </a:solidFill>
                <a:latin typeface="Arial"/>
                <a:ea typeface="Arial"/>
                <a:cs typeface="Arial"/>
              </a:defRPr>
            </a:pPr>
            <a:r>
              <a:rPr sz="1275" b="0">
                <a:solidFill>
                  <a:srgbClr val="277F89"/>
                </a:solidFill>
                <a:latin typeface="Arial"/>
                <a:ea typeface="Arial"/>
                <a:cs typeface="Arial"/>
                <a:hlinkClick r:id="rId7"/>
              </a:rPr>
              <a:t>EnergyPlus official guide</a:t>
            </a:r>
          </a:p>
        </p:txBody>
      </p:sp>
      <p:sp>
        <p:nvSpPr>
          <p:cNvPr id="21" name="ref9-title">
            <a:extLst>
              <a:ext uri="{FF2B5EF4-FFF2-40B4-BE49-F238E27FC236}">
                <a16:creationId xmlns:a16="http://schemas.microsoft.com/office/drawing/2014/main" id="{A37B4D2F-CD6F-4EA8-B608-0B2BFB6B2655}"/>
              </a:ext>
            </a:extLst>
          </p:cNvPr>
          <p:cNvSpPr>
            <a:spLocks noGrp="1"/>
          </p:cNvSpPr>
          <p:nvPr/>
        </p:nvSpPr>
        <p:spPr>
          <a:xfrm>
            <a:off x="4457700" y="521970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[9] OpenCFD (v2306 docs)</a:t>
            </a:r>
          </a:p>
        </p:txBody>
      </p:sp>
      <p:sp>
        <p:nvSpPr>
          <p:cNvPr id="22" name="ref9-body">
            <a:extLst>
              <a:ext uri="{FF2B5EF4-FFF2-40B4-BE49-F238E27FC236}">
                <a16:creationId xmlns:a16="http://schemas.microsoft.com/office/drawing/2014/main" id="{ABB6FDA1-8682-4DED-87C6-EB9C7E6DBB0F}"/>
              </a:ext>
            </a:extLst>
          </p:cNvPr>
          <p:cNvSpPr>
            <a:spLocks noGrp="1"/>
          </p:cNvSpPr>
          <p:nvPr/>
        </p:nvSpPr>
        <p:spPr>
          <a:xfrm>
            <a:off x="4457700" y="558165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OpenFOAM: buoyantSimpleFoam</a:t>
            </a:r>
          </a:p>
          <a:p>
            <a:pPr algn="l">
              <a:defRPr sz="1313" b="0">
                <a:solidFill>
                  <a:srgbClr val="536069"/>
                </a:solidFill>
                <a:latin typeface="Arial"/>
                <a:ea typeface="Arial"/>
                <a:cs typeface="Arial"/>
              </a:defRPr>
            </a:pPr>
            <a:r>
              <a:rPr sz="1313" b="0">
                <a:solidFill>
                  <a:srgbClr val="536069"/>
                </a:solidFill>
                <a:latin typeface="Arial"/>
                <a:ea typeface="Arial"/>
                <a:cs typeface="Arial"/>
              </a:rPr>
              <a:t>Steady heat transfer</a:t>
            </a:r>
          </a:p>
          <a:p>
            <a:pPr algn="l">
              <a:defRPr sz="1313" b="0">
                <a:solidFill>
                  <a:srgbClr val="536069"/>
                </a:solidFill>
                <a:latin typeface="Arial"/>
                <a:ea typeface="Arial"/>
                <a:cs typeface="Arial"/>
              </a:defRPr>
            </a:pPr>
            <a:r>
              <a:rPr sz="1313" b="0">
                <a:solidFill>
                  <a:srgbClr val="536069"/>
                </a:solidFill>
                <a:latin typeface="Arial"/>
                <a:ea typeface="Arial"/>
                <a:cs typeface="Arial"/>
              </a:rPr>
              <a:t>Temperature and velocity fields</a:t>
            </a:r>
          </a:p>
        </p:txBody>
      </p:sp>
      <p:sp>
        <p:nvSpPr>
          <p:cNvPr id="23" name="ref9-link">
            <a:extLst>
              <a:ext uri="{FF2B5EF4-FFF2-40B4-BE49-F238E27FC236}">
                <a16:creationId xmlns:a16="http://schemas.microsoft.com/office/drawing/2014/main" id="{F8417CC6-862C-4A80-8AFD-1CFD54203774}"/>
              </a:ext>
            </a:extLst>
          </p:cNvPr>
          <p:cNvSpPr>
            <a:spLocks noGrp="1"/>
          </p:cNvSpPr>
          <p:nvPr/>
        </p:nvSpPr>
        <p:spPr>
          <a:xfrm>
            <a:off x="4457700" y="6305550"/>
            <a:ext cx="3276600" cy="247650"/>
          </a:xfrm>
          <a:prstGeom prst="rect">
            <a:avLst/>
          </a:prstGeom>
          <a:noFill/>
          <a:ln w="0">
            <a:noFill/>
          </a:ln>
        </p:spPr>
        <p:txBody>
          <a:bodyPr wrap="square" lIns="0" tIns="0" rIns="0" bIns="0" anchor="t">
            <a:noAutofit/>
          </a:bodyPr>
          <a:lstStyle>
            <a:defPPr algn="l">
              <a:defRPr sz="1275" b="0">
                <a:solidFill>
                  <a:srgbClr val="277F89"/>
                </a:solidFill>
                <a:latin typeface="Arial"/>
                <a:ea typeface="Arial"/>
                <a:cs typeface="Arial"/>
              </a:defRPr>
            </a:defPPr>
          </a:lstStyle>
          <a:p>
            <a:pPr algn="l">
              <a:defRPr sz="1275" b="0">
                <a:solidFill>
                  <a:srgbClr val="277F89"/>
                </a:solidFill>
                <a:latin typeface="Arial"/>
                <a:ea typeface="Arial"/>
                <a:cs typeface="Arial"/>
              </a:defRPr>
            </a:pPr>
            <a:r>
              <a:rPr sz="1275" b="0">
                <a:solidFill>
                  <a:srgbClr val="277F89"/>
                </a:solidFill>
                <a:latin typeface="Arial"/>
                <a:ea typeface="Arial"/>
                <a:cs typeface="Arial"/>
                <a:hlinkClick r:id="rId8"/>
              </a:rPr>
              <a:t>OpenFOAM official documentation</a:t>
            </a:r>
          </a:p>
        </p:txBody>
      </p:sp>
      <p:sp>
        <p:nvSpPr>
          <p:cNvPr id="24" name="internal-reference-heading">
            <a:extLst>
              <a:ext uri="{FF2B5EF4-FFF2-40B4-BE49-F238E27FC236}">
                <a16:creationId xmlns:a16="http://schemas.microsoft.com/office/drawing/2014/main" id="{01E4C1B0-B2DC-40F1-9098-8811AF35CDA8}"/>
              </a:ext>
            </a:extLst>
          </p:cNvPr>
          <p:cNvSpPr>
            <a:spLocks noGrp="1"/>
          </p:cNvSpPr>
          <p:nvPr/>
        </p:nvSpPr>
        <p:spPr>
          <a:xfrm>
            <a:off x="8229600" y="2266950"/>
            <a:ext cx="3276600" cy="285750"/>
          </a:xfrm>
          <a:prstGeom prst="rect">
            <a:avLst/>
          </a:prstGeom>
          <a:noFill/>
          <a:ln w="0">
            <a:noFill/>
          </a:ln>
        </p:spPr>
        <p:txBody>
          <a:bodyPr wrap="square" lIns="0" tIns="0" rIns="0" bIns="0" anchor="t">
            <a:noAutofit/>
          </a:bodyPr>
          <a:lstStyle>
            <a:defPPr algn="l">
              <a:defRPr sz="1538" b="1">
                <a:solidFill>
                  <a:srgbClr val="277F89"/>
                </a:solidFill>
                <a:latin typeface="Arial"/>
                <a:ea typeface="Arial"/>
                <a:cs typeface="Arial"/>
              </a:defRPr>
            </a:defPPr>
          </a:lstStyle>
          <a:p>
            <a:pPr algn="l">
              <a:defRPr sz="1538" b="1">
                <a:solidFill>
                  <a:srgbClr val="277F89"/>
                </a:solidFill>
                <a:latin typeface="Arial"/>
                <a:ea typeface="Arial"/>
                <a:cs typeface="Arial"/>
              </a:defRPr>
            </a:pPr>
            <a:r>
              <a:rPr sz="1538" b="1">
                <a:solidFill>
                  <a:srgbClr val="277F89"/>
                </a:solidFill>
                <a:latin typeface="Arial"/>
                <a:ea typeface="Arial"/>
                <a:cs typeface="Arial"/>
              </a:rPr>
              <a:t>[3–5] INTERNAL SOURCES</a:t>
            </a:r>
          </a:p>
        </p:txBody>
      </p:sp>
      <p:sp>
        <p:nvSpPr>
          <p:cNvPr id="25" name="ref3-title">
            <a:extLst>
              <a:ext uri="{FF2B5EF4-FFF2-40B4-BE49-F238E27FC236}">
                <a16:creationId xmlns:a16="http://schemas.microsoft.com/office/drawing/2014/main" id="{36A029A9-EE8B-4ACA-830A-8D9107FB711B}"/>
              </a:ext>
            </a:extLst>
          </p:cNvPr>
          <p:cNvSpPr>
            <a:spLocks noGrp="1"/>
          </p:cNvSpPr>
          <p:nvPr/>
        </p:nvSpPr>
        <p:spPr>
          <a:xfrm>
            <a:off x="8229600" y="266700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[3] Product and experience</a:t>
            </a:r>
          </a:p>
        </p:txBody>
      </p:sp>
      <p:sp>
        <p:nvSpPr>
          <p:cNvPr id="26" name="ref3-body">
            <a:extLst>
              <a:ext uri="{FF2B5EF4-FFF2-40B4-BE49-F238E27FC236}">
                <a16:creationId xmlns:a16="http://schemas.microsoft.com/office/drawing/2014/main" id="{91AC1E1A-1FF8-4B22-B149-EB40E0DB6AC3}"/>
              </a:ext>
            </a:extLst>
          </p:cNvPr>
          <p:cNvSpPr>
            <a:spLocks noGrp="1"/>
          </p:cNvSpPr>
          <p:nvPr/>
        </p:nvSpPr>
        <p:spPr>
          <a:xfrm>
            <a:off x="8229600" y="302895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Product scope and experience design</a:t>
            </a:r>
          </a:p>
          <a:p>
            <a:pPr algn="l">
              <a:defRPr sz="1313" b="0">
                <a:solidFill>
                  <a:srgbClr val="536069"/>
                </a:solidFill>
                <a:latin typeface="Arial"/>
                <a:ea typeface="Arial"/>
                <a:cs typeface="Arial"/>
              </a:defRPr>
            </a:pPr>
            <a:r>
              <a:rPr sz="1313" b="0">
                <a:solidFill>
                  <a:srgbClr val="536069"/>
                </a:solidFill>
                <a:latin typeface="Arial"/>
                <a:ea typeface="Arial"/>
                <a:cs typeface="Arial"/>
              </a:rPr>
              <a:t>Plans/References/01 and 03</a:t>
            </a:r>
          </a:p>
        </p:txBody>
      </p:sp>
      <p:sp>
        <p:nvSpPr>
          <p:cNvPr id="27" name="ref4-title">
            <a:extLst>
              <a:ext uri="{FF2B5EF4-FFF2-40B4-BE49-F238E27FC236}">
                <a16:creationId xmlns:a16="http://schemas.microsoft.com/office/drawing/2014/main" id="{A17F2839-FE89-46E0-8285-EEA2179EB8BB}"/>
              </a:ext>
            </a:extLst>
          </p:cNvPr>
          <p:cNvSpPr>
            <a:spLocks noGrp="1"/>
          </p:cNvSpPr>
          <p:nvPr/>
        </p:nvSpPr>
        <p:spPr>
          <a:xfrm>
            <a:off x="8229600" y="379095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[4] Architecture and physics</a:t>
            </a:r>
          </a:p>
        </p:txBody>
      </p:sp>
      <p:sp>
        <p:nvSpPr>
          <p:cNvPr id="28" name="ref4-body">
            <a:extLst>
              <a:ext uri="{FF2B5EF4-FFF2-40B4-BE49-F238E27FC236}">
                <a16:creationId xmlns:a16="http://schemas.microsoft.com/office/drawing/2014/main" id="{AC4F86B9-D36C-409B-83B5-315B2C16705F}"/>
              </a:ext>
            </a:extLst>
          </p:cNvPr>
          <p:cNvSpPr>
            <a:spLocks noGrp="1"/>
          </p:cNvSpPr>
          <p:nvPr/>
        </p:nvSpPr>
        <p:spPr>
          <a:xfrm>
            <a:off x="8229600" y="415290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Architecture, contracts and physics</a:t>
            </a:r>
          </a:p>
          <a:p>
            <a:pPr algn="l">
              <a:defRPr sz="1313" b="0">
                <a:solidFill>
                  <a:srgbClr val="536069"/>
                </a:solidFill>
                <a:latin typeface="Arial"/>
                <a:ea typeface="Arial"/>
                <a:cs typeface="Arial"/>
              </a:defRPr>
            </a:pPr>
            <a:r>
              <a:rPr sz="1313" b="0">
                <a:solidFill>
                  <a:srgbClr val="536069"/>
                </a:solidFill>
                <a:latin typeface="Arial"/>
                <a:ea typeface="Arial"/>
                <a:cs typeface="Arial"/>
              </a:rPr>
              <a:t>Plans/References/02, 04 and 05</a:t>
            </a:r>
          </a:p>
          <a:p>
            <a:pPr algn="l">
              <a:defRPr sz="1313" b="0">
                <a:solidFill>
                  <a:srgbClr val="536069"/>
                </a:solidFill>
                <a:latin typeface="Arial"/>
                <a:ea typeface="Arial"/>
                <a:cs typeface="Arial"/>
              </a:defRPr>
            </a:pPr>
            <a:r>
              <a:rPr sz="1313" b="0">
                <a:solidFill>
                  <a:srgbClr val="536069"/>
                </a:solidFill>
                <a:latin typeface="Arial"/>
                <a:ea typeface="Arial"/>
                <a:cs typeface="Arial"/>
              </a:rPr>
              <a:t>AGENTS.md approved vision snapshot</a:t>
            </a:r>
          </a:p>
        </p:txBody>
      </p:sp>
      <p:sp>
        <p:nvSpPr>
          <p:cNvPr id="29" name="ref5-title">
            <a:extLst>
              <a:ext uri="{FF2B5EF4-FFF2-40B4-BE49-F238E27FC236}">
                <a16:creationId xmlns:a16="http://schemas.microsoft.com/office/drawing/2014/main" id="{7B97D26C-D106-47FF-8F79-62912C418C6D}"/>
              </a:ext>
            </a:extLst>
          </p:cNvPr>
          <p:cNvSpPr>
            <a:spLocks noGrp="1"/>
          </p:cNvSpPr>
          <p:nvPr/>
        </p:nvSpPr>
        <p:spPr>
          <a:xfrm>
            <a:off x="8229600" y="5219700"/>
            <a:ext cx="3276600" cy="285750"/>
          </a:xfrm>
          <a:prstGeom prst="rect">
            <a:avLst/>
          </a:prstGeom>
          <a:noFill/>
          <a:ln w="0">
            <a:noFill/>
          </a:ln>
        </p:spPr>
        <p:txBody>
          <a:bodyPr wrap="square" lIns="0" tIns="0" rIns="0" bIns="0" anchor="t">
            <a:noAutofit/>
          </a:bodyPr>
          <a:lstStyle>
            <a:defPPr algn="l">
              <a:defRPr sz="1650" b="1">
                <a:solidFill>
                  <a:srgbClr val="20282C"/>
                </a:solidFill>
                <a:latin typeface="Arial"/>
                <a:ea typeface="Arial"/>
                <a:cs typeface="Arial"/>
              </a:defRPr>
            </a:defPPr>
          </a:lstStyle>
          <a:p>
            <a:pPr algn="l">
              <a:defRPr sz="1650" b="1">
                <a:solidFill>
                  <a:srgbClr val="20282C"/>
                </a:solidFill>
                <a:latin typeface="Arial"/>
                <a:ea typeface="Arial"/>
                <a:cs typeface="Arial"/>
              </a:defRPr>
            </a:pPr>
            <a:r>
              <a:rPr sz="1650" b="1">
                <a:solidFill>
                  <a:srgbClr val="20282C"/>
                </a:solidFill>
                <a:latin typeface="Arial"/>
                <a:ea typeface="Arial"/>
                <a:cs typeface="Arial"/>
              </a:rPr>
              <a:t>[5] Delivery and roadmap</a:t>
            </a:r>
          </a:p>
        </p:txBody>
      </p:sp>
      <p:sp>
        <p:nvSpPr>
          <p:cNvPr id="30" name="ref5-body">
            <a:extLst>
              <a:ext uri="{FF2B5EF4-FFF2-40B4-BE49-F238E27FC236}">
                <a16:creationId xmlns:a16="http://schemas.microsoft.com/office/drawing/2014/main" id="{3ABB2BA8-6373-4685-B4AF-904DBCE1C4FC}"/>
              </a:ext>
            </a:extLst>
          </p:cNvPr>
          <p:cNvSpPr>
            <a:spLocks noGrp="1"/>
          </p:cNvSpPr>
          <p:nvPr/>
        </p:nvSpPr>
        <p:spPr>
          <a:xfrm>
            <a:off x="8229600" y="5581650"/>
            <a:ext cx="3276600" cy="685800"/>
          </a:xfrm>
          <a:prstGeom prst="rect">
            <a:avLst/>
          </a:prstGeom>
          <a:noFill/>
          <a:ln w="0">
            <a:noFill/>
          </a:ln>
        </p:spPr>
        <p:txBody>
          <a:bodyPr wrap="square" lIns="0" tIns="0" rIns="0" bIns="0" anchor="t">
            <a:noAutofit/>
          </a:bodyPr>
          <a:lstStyle>
            <a:defPPr algn="l">
              <a:defRPr sz="1313" b="0">
                <a:solidFill>
                  <a:srgbClr val="536069"/>
                </a:solidFill>
                <a:latin typeface="Arial"/>
                <a:ea typeface="Arial"/>
                <a:cs typeface="Arial"/>
              </a:defRPr>
            </a:defPPr>
          </a:lstStyle>
          <a:p>
            <a:pPr algn="l">
              <a:defRPr sz="1313" b="0">
                <a:solidFill>
                  <a:srgbClr val="536069"/>
                </a:solidFill>
                <a:latin typeface="Arial"/>
                <a:ea typeface="Arial"/>
                <a:cs typeface="Arial"/>
              </a:defRPr>
            </a:pPr>
            <a:r>
              <a:rPr sz="1313" b="0">
                <a:solidFill>
                  <a:srgbClr val="536069"/>
                </a:solidFill>
                <a:latin typeface="Arial"/>
                <a:ea typeface="Arial"/>
                <a:cs typeface="Arial"/>
              </a:rPr>
              <a:t>README and delivery evidence</a:t>
            </a:r>
          </a:p>
          <a:p>
            <a:pPr algn="l">
              <a:defRPr sz="1313" b="0">
                <a:solidFill>
                  <a:srgbClr val="536069"/>
                </a:solidFill>
                <a:latin typeface="Arial"/>
                <a:ea typeface="Arial"/>
                <a:cs typeface="Arial"/>
              </a:defRPr>
            </a:pPr>
            <a:r>
              <a:rPr sz="1313" b="0">
                <a:solidFill>
                  <a:srgbClr val="536069"/>
                </a:solidFill>
                <a:latin typeface="Arial"/>
                <a:ea typeface="Arial"/>
                <a:cs typeface="Arial"/>
              </a:rPr>
              <a:t>Plans/Delivery: status, verification</a:t>
            </a:r>
          </a:p>
          <a:p>
            <a:pPr algn="l">
              <a:defRPr sz="1313" b="0">
                <a:solidFill>
                  <a:srgbClr val="536069"/>
                </a:solidFill>
                <a:latin typeface="Arial"/>
                <a:ea typeface="Arial"/>
                <a:cs typeface="Arial"/>
              </a:defRPr>
            </a:pPr>
            <a:r>
              <a:rPr sz="1313" b="0">
                <a:solidFill>
                  <a:srgbClr val="536069"/>
                </a:solidFill>
                <a:latin typeface="Arial"/>
                <a:ea typeface="Arial"/>
                <a:cs typeface="Arial"/>
              </a:rPr>
              <a:t>Roadmap and phase work packages</a:t>
            </a:r>
          </a:p>
        </p:txBody>
      </p:sp>
      <p:sp>
        <p:nvSpPr>
          <p:cNvPr id="31" name="reference-disclosure">
            <a:extLst>
              <a:ext uri="{FF2B5EF4-FFF2-40B4-BE49-F238E27FC236}">
                <a16:creationId xmlns:a16="http://schemas.microsoft.com/office/drawing/2014/main" id="{3807C0A9-0B42-44F9-B3B7-95A68B922774}"/>
              </a:ext>
            </a:extLst>
          </p:cNvPr>
          <p:cNvSpPr>
            <a:spLocks noGrp="1"/>
          </p:cNvSpPr>
          <p:nvPr/>
        </p:nvSpPr>
        <p:spPr>
          <a:xfrm>
            <a:off x="685800" y="6619875"/>
            <a:ext cx="10668000" cy="190500"/>
          </a:xfrm>
          <a:prstGeom prst="rect">
            <a:avLst/>
          </a:prstGeom>
          <a:noFill/>
          <a:ln w="0">
            <a:noFill/>
          </a:ln>
        </p:spPr>
        <p:txBody>
          <a:bodyPr wrap="square" lIns="0" tIns="0" rIns="0" bIns="0" anchor="t">
            <a:noAutofit/>
          </a:bodyPr>
          <a:lstStyle>
            <a:defPPr algn="l">
              <a:defRPr sz="938" b="0">
                <a:solidFill>
                  <a:srgbClr val="64727A"/>
                </a:solidFill>
                <a:latin typeface="Arial"/>
                <a:ea typeface="Arial"/>
                <a:cs typeface="Arial"/>
              </a:defRPr>
            </a:defPPr>
          </a:lstStyle>
          <a:p>
            <a:pPr algn="l">
              <a:defRPr sz="938" b="0">
                <a:solidFill>
                  <a:srgbClr val="64727A"/>
                </a:solidFill>
                <a:latin typeface="Arial"/>
                <a:ea typeface="Arial"/>
                <a:cs typeface="Arial"/>
              </a:defRPr>
            </a:pPr>
            <a:r>
              <a:rPr sz="938" b="0">
                <a:solidFill>
                  <a:srgbClr val="64727A"/>
                </a:solidFill>
                <a:latin typeface="Arial"/>
                <a:ea typeface="Arial"/>
                <a:cs typeface="Arial"/>
              </a:rPr>
              <a:t>Accessed 3 Oct 2026. Full citations in notes. Concept illustrations: built-in imagegen. Assets and prompts in PitchAssets/.</a:t>
            </a:r>
          </a:p>
        </p:txBody>
      </p:sp>
    </p:spTree>
    <p:extLst>
      <p:ext uri="{BB962C8B-B14F-4D97-AF65-F5344CB8AC3E}">
        <p14:creationId xmlns:p14="http://schemas.microsoft.com/office/powerpoint/2010/main" val="1455965121"/>
      </p:ext>
    </p:extLst>
  </p:cSld>
  <p:clrMapOvr>
    <a:masterClrMapping/>
  </p:clrMapOvr>
</p:sld>
</file>

<file path=ppt/theme/theme1.xml><?xml version="1.0" encoding="utf-8"?>
<a:theme xmlns:a="http://schemas.openxmlformats.org/drawingml/2006/main" name="ChatGPT">
  <a:themeElements>
    <a:clrScheme name="SimuNow Architectural Light">
      <a:dk1>
        <a:srgbClr val="20282C"/>
      </a:dk1>
      <a:lt1>
        <a:srgbClr val="FFFFFF"/>
      </a:lt1>
      <a:dk2>
        <a:srgbClr val="536069"/>
      </a:dk2>
      <a:lt2>
        <a:srgbClr val="F1F4F5"/>
      </a:lt2>
      <a:accent1>
        <a:srgbClr val="277F89"/>
      </a:accent1>
      <a:accent2>
        <a:srgbClr val="57BCC7"/>
      </a:accent2>
      <a:accent3>
        <a:srgbClr val="788D98"/>
      </a:accent3>
      <a:accent4>
        <a:srgbClr val="BDC9CE"/>
      </a:accent4>
      <a:accent5>
        <a:srgbClr val="D6E6E8"/>
      </a:accent5>
      <a:accent6>
        <a:srgbClr val="6B7880"/>
      </a:accent6>
      <a:hlink>
        <a:srgbClr val="277F89"/>
      </a:hlink>
      <a:folHlink>
        <a:srgbClr val="536069"/>
      </a:folHlink>
    </a:clrScheme>
    <a:fontScheme name="">
      <a:majorFont>
        <a:latin typeface="Aptos"/>
        <a:ea typeface=""/>
        <a:cs typeface=""/>
      </a:majorFont>
      <a:minorFont>
        <a:latin typeface="Aptos"/>
        <a:ea typeface=""/>
        <a:cs typeface=""/>
      </a:minorFont>
    </a:fontScheme>
    <a:fmtScheme name="SimuNow Architectural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SimuNow Architectural Light">
      <a:dk1>
        <a:srgbClr val="20282C"/>
      </a:dk1>
      <a:lt1>
        <a:srgbClr val="FFFFFF"/>
      </a:lt1>
      <a:dk2>
        <a:srgbClr val="536069"/>
      </a:dk2>
      <a:lt2>
        <a:srgbClr val="F1F4F5"/>
      </a:lt2>
      <a:accent1>
        <a:srgbClr val="277F89"/>
      </a:accent1>
      <a:accent2>
        <a:srgbClr val="57BCC7"/>
      </a:accent2>
      <a:accent3>
        <a:srgbClr val="788D98"/>
      </a:accent3>
      <a:accent4>
        <a:srgbClr val="BDC9CE"/>
      </a:accent4>
      <a:accent5>
        <a:srgbClr val="D6E6E8"/>
      </a:accent5>
      <a:accent6>
        <a:srgbClr val="6B7880"/>
      </a:accent6>
      <a:hlink>
        <a:srgbClr val="277F89"/>
      </a:hlink>
      <a:folHlink>
        <a:srgbClr val="536069"/>
      </a:folHlink>
    </a:clrScheme>
    <a:fontScheme name="">
      <a:majorFont>
        <a:latin typeface="Aptos"/>
        <a:ea typeface=""/>
        <a:cs typeface=""/>
      </a:majorFont>
      <a:minorFont>
        <a:latin typeface="Aptos"/>
        <a:ea typeface=""/>
        <a:cs typeface=""/>
      </a:minorFont>
    </a:fontScheme>
    <a:fmtScheme name="SimuNow Architectural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ChatGPT">
  <a:themeElements>
    <a:clrScheme name="SimuNow Architectural Light">
      <a:dk1>
        <a:srgbClr val="20282C"/>
      </a:dk1>
      <a:lt1>
        <a:srgbClr val="FFFFFF"/>
      </a:lt1>
      <a:dk2>
        <a:srgbClr val="536069"/>
      </a:dk2>
      <a:lt2>
        <a:srgbClr val="F1F4F5"/>
      </a:lt2>
      <a:accent1>
        <a:srgbClr val="277F89"/>
      </a:accent1>
      <a:accent2>
        <a:srgbClr val="57BCC7"/>
      </a:accent2>
      <a:accent3>
        <a:srgbClr val="788D98"/>
      </a:accent3>
      <a:accent4>
        <a:srgbClr val="BDC9CE"/>
      </a:accent4>
      <a:accent5>
        <a:srgbClr val="D6E6E8"/>
      </a:accent5>
      <a:accent6>
        <a:srgbClr val="6B7880"/>
      </a:accent6>
      <a:hlink>
        <a:srgbClr val="277F89"/>
      </a:hlink>
      <a:folHlink>
        <a:srgbClr val="536069"/>
      </a:folHlink>
    </a:clrScheme>
    <a:fontScheme name="">
      <a:majorFont>
        <a:latin typeface="Aptos"/>
        <a:ea typeface=""/>
        <a:cs typeface=""/>
      </a:majorFont>
      <a:minorFont>
        <a:latin typeface="Aptos"/>
        <a:ea typeface=""/>
        <a:cs typeface=""/>
      </a:minorFont>
    </a:fontScheme>
    <a:fmtScheme name="SimuNow Architectural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ChatGPT">
  <a:themeElements>
    <a:clrScheme name="SimuNow Architectural Light">
      <a:dk1>
        <a:srgbClr val="20282C"/>
      </a:dk1>
      <a:lt1>
        <a:srgbClr val="FFFFFF"/>
      </a:lt1>
      <a:dk2>
        <a:srgbClr val="536069"/>
      </a:dk2>
      <a:lt2>
        <a:srgbClr val="F1F4F5"/>
      </a:lt2>
      <a:accent1>
        <a:srgbClr val="277F89"/>
      </a:accent1>
      <a:accent2>
        <a:srgbClr val="57BCC7"/>
      </a:accent2>
      <a:accent3>
        <a:srgbClr val="788D98"/>
      </a:accent3>
      <a:accent4>
        <a:srgbClr val="BDC9CE"/>
      </a:accent4>
      <a:accent5>
        <a:srgbClr val="D6E6E8"/>
      </a:accent5>
      <a:accent6>
        <a:srgbClr val="6B7880"/>
      </a:accent6>
      <a:hlink>
        <a:srgbClr val="277F89"/>
      </a:hlink>
      <a:folHlink>
        <a:srgbClr val="536069"/>
      </a:folHlink>
    </a:clrScheme>
    <a:fontScheme name="">
      <a:majorFont>
        <a:latin typeface="Aptos"/>
        <a:ea typeface=""/>
        <a:cs typeface=""/>
      </a:majorFont>
      <a:minorFont>
        <a:latin typeface="Aptos"/>
        <a:ea typeface=""/>
        <a:cs typeface=""/>
      </a:minorFont>
    </a:fontScheme>
    <a:fmtScheme name="SimuNow Architectural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ChatGPT">
  <a:themeElements>
    <a:clrScheme name="SimuNow Architectural Light">
      <a:dk1>
        <a:srgbClr val="20282C"/>
      </a:dk1>
      <a:lt1>
        <a:srgbClr val="FFFFFF"/>
      </a:lt1>
      <a:dk2>
        <a:srgbClr val="536069"/>
      </a:dk2>
      <a:lt2>
        <a:srgbClr val="F1F4F5"/>
      </a:lt2>
      <a:accent1>
        <a:srgbClr val="277F89"/>
      </a:accent1>
      <a:accent2>
        <a:srgbClr val="57BCC7"/>
      </a:accent2>
      <a:accent3>
        <a:srgbClr val="788D98"/>
      </a:accent3>
      <a:accent4>
        <a:srgbClr val="BDC9CE"/>
      </a:accent4>
      <a:accent5>
        <a:srgbClr val="D6E6E8"/>
      </a:accent5>
      <a:accent6>
        <a:srgbClr val="6B7880"/>
      </a:accent6>
      <a:hlink>
        <a:srgbClr val="277F89"/>
      </a:hlink>
      <a:folHlink>
        <a:srgbClr val="536069"/>
      </a:folHlink>
    </a:clrScheme>
    <a:fontScheme name="">
      <a:majorFont>
        <a:latin typeface="Aptos"/>
        <a:ea typeface=""/>
        <a:cs typeface=""/>
      </a:majorFont>
      <a:minorFont>
        <a:latin typeface="Aptos"/>
        <a:ea typeface=""/>
        <a:cs typeface=""/>
      </a:minorFont>
    </a:fontScheme>
    <a:fmtScheme name="SimuNow Architectural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ChatGPT">
  <a:themeElements>
    <a:clrScheme name="SimuNow Architectural Light">
      <a:dk1>
        <a:srgbClr val="20282C"/>
      </a:dk1>
      <a:lt1>
        <a:srgbClr val="FFFFFF"/>
      </a:lt1>
      <a:dk2>
        <a:srgbClr val="536069"/>
      </a:dk2>
      <a:lt2>
        <a:srgbClr val="F1F4F5"/>
      </a:lt2>
      <a:accent1>
        <a:srgbClr val="277F89"/>
      </a:accent1>
      <a:accent2>
        <a:srgbClr val="57BCC7"/>
      </a:accent2>
      <a:accent3>
        <a:srgbClr val="788D98"/>
      </a:accent3>
      <a:accent4>
        <a:srgbClr val="BDC9CE"/>
      </a:accent4>
      <a:accent5>
        <a:srgbClr val="D6E6E8"/>
      </a:accent5>
      <a:accent6>
        <a:srgbClr val="6B7880"/>
      </a:accent6>
      <a:hlink>
        <a:srgbClr val="277F89"/>
      </a:hlink>
      <a:folHlink>
        <a:srgbClr val="536069"/>
      </a:folHlink>
    </a:clrScheme>
    <a:fontScheme name="">
      <a:majorFont>
        <a:latin typeface="Aptos"/>
        <a:ea typeface=""/>
        <a:cs typeface=""/>
      </a:majorFont>
      <a:minorFont>
        <a:latin typeface="Aptos"/>
        <a:ea typeface=""/>
        <a:cs typeface=""/>
      </a:minorFont>
    </a:fontScheme>
    <a:fmtScheme name="SimuNow Architectural Ligh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5801</Words>
  <Application>Microsoft Macintosh PowerPoint</Application>
  <DocSecurity>0</DocSecurity>
  <PresentationFormat>Widescreen</PresentationFormat>
  <Paragraphs>348</Paragraphs>
  <Slides>9</Slides>
  <Notes>9</Notes>
  <HiddenSlides>0</HiddenSlides>
  <MMClips>0</MMClips>
  <ScaleCrop>false</ScaleCrop>
  <HeadingPairs>
    <vt:vector size="6" baseType="variant">
      <vt:variant>
        <vt:lpstr>Fonts Used</vt:lpstr>
      </vt:variant>
      <vt:variant>
        <vt:i4>2</vt:i4>
      </vt:variant>
      <vt:variant>
        <vt:lpstr>Theme</vt:lpstr>
      </vt:variant>
      <vt:variant>
        <vt:i4>5</vt:i4>
      </vt:variant>
      <vt:variant>
        <vt:lpstr>Slide Titles</vt:lpstr>
      </vt:variant>
      <vt:variant>
        <vt:i4>9</vt:i4>
      </vt:variant>
    </vt:vector>
  </HeadingPairs>
  <TitlesOfParts>
    <vt:vector size="16" baseType="lpstr">
      <vt:lpstr>Aptos</vt:lpstr>
      <vt:lpstr>Arial</vt:lpstr>
      <vt:lpstr>ChatGPT</vt:lpstr>
      <vt:lpstr>ChatGPT</vt:lpstr>
      <vt:lpstr>ChatGPT</vt:lpstr>
      <vt:lpstr>ChatGPT</vt:lpstr>
      <vt:lpstr>ChatGPT</vt:lpstr>
      <vt:lpstr>Simulate first. Design better.</vt:lpstr>
      <vt:lpstr>PowerPoint Presentation</vt:lpstr>
      <vt:lpstr>PowerPoint Presentation</vt:lpstr>
      <vt:lpstr>PowerPoint Presentation</vt:lpstr>
      <vt:lpstr>PowerPoint Presentation</vt:lpstr>
      <vt:lpstr>PowerPoint Presentation</vt:lpstr>
      <vt:lpstr>PowerPoint Presentation</vt:lpstr>
      <vt:lpstr>Let's validate one real room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Bian XU</cp:lastModifiedBy>
  <cp:revision>2</cp:revision>
  <dcterms:created xsi:type="dcterms:W3CDTF">2026-10-02T16:27:31Z</dcterms:created>
  <dcterms:modified xsi:type="dcterms:W3CDTF">2026-10-03T11:12:31Z</dcterms:modified>
</cp:coreProperties>
</file>